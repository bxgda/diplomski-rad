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1"/>
  </p:notes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6" r:id="rId17"/>
    <p:sldId id="277" r:id="rId18"/>
    <p:sldId id="278" r:id="rId19"/>
    <p:sldId id="279" r:id="rId20"/>
    <p:sldId id="281" r:id="rId21"/>
    <p:sldId id="283" r:id="rId22"/>
    <p:sldId id="284" r:id="rId23"/>
    <p:sldId id="286" r:id="rId24"/>
    <p:sldId id="287" r:id="rId25"/>
    <p:sldId id="290" r:id="rId26"/>
    <p:sldId id="291" r:id="rId27"/>
    <p:sldId id="293" r:id="rId28"/>
    <p:sldId id="294" r:id="rId29"/>
    <p:sldId id="295" r:id="rId30"/>
    <p:sldId id="297" r:id="rId31"/>
    <p:sldId id="296" r:id="rId32"/>
    <p:sldId id="299" r:id="rId33"/>
    <p:sldId id="301" r:id="rId34"/>
    <p:sldId id="302" r:id="rId35"/>
    <p:sldId id="304" r:id="rId36"/>
    <p:sldId id="306" r:id="rId37"/>
    <p:sldId id="308" r:id="rId38"/>
    <p:sldId id="310" r:id="rId39"/>
    <p:sldId id="31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80276" autoAdjust="0"/>
  </p:normalViewPr>
  <p:slideViewPr>
    <p:cSldViewPr snapToGrid="0">
      <p:cViewPr varScale="1">
        <p:scale>
          <a:sx n="91" d="100"/>
          <a:sy n="91" d="100"/>
        </p:scale>
        <p:origin x="13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F16B8-5A20-4EA5-952C-4F8D73950EEF}" type="datetimeFigureOut">
              <a:rPr lang="en-US" smtClean="0"/>
              <a:t>30. 07. 2026.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3ADDB-6817-475F-AC27-9281D9F32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Govorićemo o samom sistemu, objasnićemo njegove glavne komponente i kako se one modeluju.</a:t>
            </a:r>
          </a:p>
          <a:p>
            <a:endParaRPr lang="sr-Latn-RS" dirty="0"/>
          </a:p>
          <a:p>
            <a:r>
              <a:rPr lang="sr-Cyrl-RS" dirty="0"/>
              <a:t>ГЛАВНЕ КОМПОНЕНТЕ СИСТЕМА</a:t>
            </a:r>
            <a:endParaRPr lang="sr-Latn-RS" dirty="0"/>
          </a:p>
          <a:p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Cyrl-RS" sz="1200" dirty="0"/>
              <a:t>ГЕНЕРАТИВНА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Cyrl-RS" sz="1200" dirty="0"/>
              <a:t>Унапред припремљена структура података из које се псеудо-случајним генератором генеришу подаци</a:t>
            </a:r>
            <a:r>
              <a:rPr lang="sr-Latn-RS" sz="1200" dirty="0"/>
              <a:t>.</a:t>
            </a:r>
            <a:endParaRPr lang="en-US" sz="1200" dirty="0"/>
          </a:p>
          <a:p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Cyrl-RS" sz="1200" dirty="0"/>
              <a:t>ЕВАЛУАЦИОНА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Cyrl-RS" sz="1200" dirty="0"/>
              <a:t>Анализатор матрица који израчунава одређени нумерички резултат на основу дефинисаних правила</a:t>
            </a:r>
            <a:r>
              <a:rPr lang="sr-Latn-RS" sz="120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1200" dirty="0"/>
              <a:t>OBJASNIĆU VAM KAKO SE KONSTRUIŠE GENERATIVNA KOMPONENTA I KAKO JE NAJBOLJE PROJEKTOVATI EVALUACIONI KOMPONENTU</a:t>
            </a:r>
            <a:endParaRPr lang="en-US" sz="1200" dirty="0"/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32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Svi tokeni koji se mogu generisati</a:t>
            </a:r>
          </a:p>
          <a:p>
            <a:endParaRPr lang="sr-Latn-RS" dirty="0"/>
          </a:p>
          <a:p>
            <a:r>
              <a:rPr lang="sr-Latn-RS" dirty="0"/>
              <a:t>Bitno je da su tokeni različiti</a:t>
            </a:r>
          </a:p>
          <a:p>
            <a:r>
              <a:rPr lang="sr-Latn-RS" dirty="0"/>
              <a:t>Mogu da budu u bilo kom obliku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22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Kružna struktura uređenog redosleda.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46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Skup od nekoliko ciklične token sekvence.</a:t>
            </a:r>
          </a:p>
          <a:p>
            <a:endParaRPr lang="sr-Latn-RS" dirty="0"/>
          </a:p>
          <a:p>
            <a:r>
              <a:rPr lang="sr-Latn-RS" dirty="0"/>
              <a:t>NAKON OVOGA IDE ITERACIJA SISTEMA – IZ TE MATRICE TREBA DA SE GENERIŠE NEŠTO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03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У рачунарству не постоји прави „</a:t>
            </a:r>
            <a:r>
              <a:rPr lang="sr-Latn-RS" sz="1200" dirty="0"/>
              <a:t>random“.</a:t>
            </a: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endParaRPr lang="sr-Latn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Подразумевамо у ради савршени псеудо-случајни алгоритам. </a:t>
            </a:r>
            <a:endParaRPr lang="en-US" sz="1200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U iteraciji se koriste glavne komponente, generisanje i evaluacija.</a:t>
            </a:r>
          </a:p>
          <a:p>
            <a:endParaRPr lang="sr-Latn-RS" dirty="0"/>
          </a:p>
          <a:p>
            <a:r>
              <a:rPr lang="sr-Latn-RS" dirty="0"/>
              <a:t>U generisanju se PSG zaustavlja na random poziciji i čina narednih m tokena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23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Dobijamo vidljivi prozor koji se koristi dalje za evaluaciju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12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Primer u realnom svetu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81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Vidljivom prozoru se pomoću evaluacionih funkcija izračunava izlazna vrednost iteracije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67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Evaluacija se radi po sekvencama a evaluaciona putanja definiše koje pozicije ulaze u koju sekvencu.</a:t>
            </a:r>
          </a:p>
          <a:p>
            <a:r>
              <a:rPr lang="sr-Latn-RS" dirty="0"/>
              <a:t>IZ MATRICE IZVLAČIMO EVALUACIONE SEKVENCE PO UNAPRED DEFINISANIM PUTANJAMA</a:t>
            </a:r>
          </a:p>
          <a:p>
            <a:endParaRPr lang="sr-Latn-RS" dirty="0"/>
          </a:p>
          <a:p>
            <a:r>
              <a:rPr lang="sr-Latn-RS" dirty="0"/>
              <a:t>EVALUACI SE NAJČEŠĆE VRŠI TAKO ŠTO SE POSMATRA PREFIKS EVALUACIONE SEKVENCE I TRAŽI SE NAJVEĆE POKLAPANJE PRVOG TOKENA S LEVA NA DESNO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41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Glumi bilo koji token tako da za korisnika bude najpovoljnije.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76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Ne gleda se po putanjama.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4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Вредност </a:t>
            </a:r>
            <a:r>
              <a:rPr lang="sr-Cyrl-RS" sz="1200" dirty="0" err="1"/>
              <a:t>евалуационе</a:t>
            </a:r>
            <a:r>
              <a:rPr lang="sr-Cyrl-RS" sz="1200" dirty="0"/>
              <a:t> функције се множи са улазном вредношћу и тако се добија излазна вредност система.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У раду подразумевамо улазну вредност да је 1.</a:t>
            </a:r>
            <a:endParaRPr lang="en-US" sz="1200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U realnim sistemima važi da što više pojavljivanja jednog tokena označava veću izlaznu vrednost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34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Ako je V izlazna vrednost jedne iteracije a C ulazna vrednost</a:t>
            </a:r>
          </a:p>
          <a:p>
            <a:endParaRPr lang="sr-Latn-RS" dirty="0"/>
          </a:p>
          <a:p>
            <a:r>
              <a:rPr lang="sr-Latn-RS" dirty="0"/>
              <a:t>Formula označava da kada bi posmatrali beskonačno mnogo iteracija, onda bi ulazno izlazni odnos bio taj</a:t>
            </a:r>
          </a:p>
          <a:p>
            <a:endParaRPr lang="sr-Latn-RS" dirty="0"/>
          </a:p>
          <a:p>
            <a:r>
              <a:rPr lang="sr-Latn-RS" dirty="0"/>
              <a:t>Ovaj odnos je u potpunosti određen generativnom matricom i brojem simbola na svakoj cikličnoj token sekvenci.</a:t>
            </a:r>
          </a:p>
          <a:p>
            <a:endParaRPr lang="sr-Latn-RS" dirty="0"/>
          </a:p>
          <a:p>
            <a:r>
              <a:rPr lang="sr-Latn-RS" dirty="0"/>
              <a:t>U REALNIM SISTEMIMA ULAZNO IZLAZNI ODNOS NIKAD NIJE U KORIST KORISNIKU</a:t>
            </a:r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02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70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Primer za kockicu da je verovatnoća da se jedna strana padne je 1/6</a:t>
            </a:r>
          </a:p>
          <a:p>
            <a:r>
              <a:rPr lang="sr-Latn-RS" dirty="0"/>
              <a:t>U svih n kolona mora da se pomnoži svaka kolona i verovatnoća, kao verovatnoća da se n puta padne jedna strana kockice u više bacanja.</a:t>
            </a:r>
          </a:p>
          <a:p>
            <a:r>
              <a:rPr lang="sr-Latn-RS" dirty="0"/>
              <a:t>A verovatnoća da se padne u tačno l je da se padne u l a u l+1 da se ne padne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70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Izlazna vrednost se računa tako što se verovatnoće za svaki token pomnože sa izlaznim vrednostima i to je doprinos tog tokena</a:t>
            </a:r>
          </a:p>
          <a:p>
            <a:r>
              <a:rPr lang="sr-Latn-RS" dirty="0"/>
              <a:t>Doprinos se sabira za sve tokene</a:t>
            </a:r>
          </a:p>
          <a:p>
            <a:endParaRPr lang="sr-Latn-RS" dirty="0"/>
          </a:p>
          <a:p>
            <a:r>
              <a:rPr lang="sr-Latn-RS" dirty="0"/>
              <a:t>Spoljna suma je svaki token</a:t>
            </a:r>
          </a:p>
          <a:p>
            <a:r>
              <a:rPr lang="sr-Latn-RS" dirty="0"/>
              <a:t>Unutrasnja je svaka duzina prefiksa za taj token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2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Bitno nam je da imamo tačne brojeve koliko koj token treba u kojoj koloni da se pojavljuje.</a:t>
            </a:r>
          </a:p>
          <a:p>
            <a:endParaRPr lang="sr-Latn-RS" dirty="0"/>
          </a:p>
          <a:p>
            <a:r>
              <a:rPr lang="sr-Latn-RS" dirty="0"/>
              <a:t>ULAZ U SISTEM JE TRAŽENI ULAZNO IZLAZNI ODNOS, IZLAZNE VREDNOSTI ZA SVE PREFIKSE SVIH TOKENA I BROJ POJAVLJIVANJA SPECIJALNIH TOKENA</a:t>
            </a:r>
            <a:endParaRPr lang="sr-Cyrl-RS" dirty="0"/>
          </a:p>
          <a:p>
            <a:endParaRPr lang="sr-Cyrl-RS" dirty="0"/>
          </a:p>
          <a:p>
            <a:r>
              <a:rPr lang="sr-Cyrl-RS" dirty="0"/>
              <a:t>КРЕНЕШ ПРИЧУ ЗА ОПТИМИЗАЦИЈУ ДА ЈЕ ТО АЛГОРИТАМ КОЈИ ПРОНАЛАЗИ ВРЕДНОСТИ ТАКО ШТО ПОЧНЕ ОД НЕКИХ РАДНОМ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08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dirty="0"/>
              <a:t>Бира насумичне вредности за појављивање сваког </a:t>
            </a:r>
            <a:r>
              <a:rPr lang="sr-Cyrl-RS" dirty="0" err="1"/>
              <a:t>токена</a:t>
            </a:r>
            <a:r>
              <a:rPr lang="sr-Cyrl-RS" dirty="0"/>
              <a:t> и покушава да одступање од жељеног улазно-излазног односа буде што мање тако што их мења и испитује.</a:t>
            </a: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endParaRPr lang="sr-Cyrl-RS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dirty="0"/>
              <a:t>То се ради помоћу </a:t>
            </a:r>
            <a:r>
              <a:rPr lang="sr-Latn-RS" dirty="0"/>
              <a:t>SLSQP (</a:t>
            </a:r>
            <a:r>
              <a:rPr lang="en-US" dirty="0"/>
              <a:t>Sequential Least Squares Programming</a:t>
            </a:r>
            <a:r>
              <a:rPr lang="sr-Latn-RS" dirty="0"/>
              <a:t>).</a:t>
            </a:r>
          </a:p>
          <a:p>
            <a:endParaRPr lang="sr-Cyrl-RS" dirty="0"/>
          </a:p>
          <a:p>
            <a:endParaRPr lang="sr-Cyrl-RS" dirty="0"/>
          </a:p>
          <a:p>
            <a:r>
              <a:rPr lang="sr-Latn-RS" dirty="0"/>
              <a:t>Problem lokalnog minimuma</a:t>
            </a:r>
          </a:p>
          <a:p>
            <a:endParaRPr lang="sr-Latn-RS" dirty="0"/>
          </a:p>
          <a:p>
            <a:r>
              <a:rPr lang="sr-Latn-RS" dirty="0"/>
              <a:t>Rešava se tako što se uzimaju više početnih tačaka pa se uporedjuju rezultati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13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37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Taj proces uzimanja najboljih od najgorih se zove metoda najvećeg apsolutnog ostatka</a:t>
            </a:r>
          </a:p>
          <a:p>
            <a:endParaRPr lang="sr-Latn-RS" dirty="0"/>
          </a:p>
          <a:p>
            <a:r>
              <a:rPr lang="sr-Latn-RS" dirty="0"/>
              <a:t>NAKON OVOGA KADA IMAMO TAČNO ZA SVAKI STANDARDNI TOKEN POJAVLJIVANJE ZA ODREĐENO L, TO L ZADRŽAVAMO I DODAJEMO SPECIJALNE TOKENE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573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r-Cyrl-RS" dirty="0"/>
              <a:t>ГЕНЕРИСАЊЕ ЦИКЛИЧНЕ-ТОКЕН СЕКВЕНЦЕ</a:t>
            </a:r>
            <a:endParaRPr lang="sr-Latn-RS" sz="1200" dirty="0"/>
          </a:p>
          <a:p>
            <a:pPr>
              <a:buFont typeface="Arial" panose="020B0604020202020204" pitchFamily="34" charset="0"/>
              <a:buChar char="•"/>
            </a:pPr>
            <a:endParaRPr lang="sr-Latn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Када имамо све бројеве појављивања сваког </a:t>
            </a:r>
            <a:r>
              <a:rPr lang="sr-Cyrl-RS" sz="1200" dirty="0" err="1"/>
              <a:t>токена</a:t>
            </a:r>
            <a:r>
              <a:rPr lang="sr-Cyrl-RS" sz="1200" dirty="0"/>
              <a:t> за одређено </a:t>
            </a:r>
            <a:r>
              <a:rPr lang="sr-Latn-RS" sz="1200" i="1" dirty="0"/>
              <a:t>L</a:t>
            </a:r>
            <a:r>
              <a:rPr lang="sr-Latn-RS" sz="1200" dirty="0"/>
              <a:t> </a:t>
            </a:r>
            <a:r>
              <a:rPr lang="sr-Cyrl-RS" sz="1200" dirty="0"/>
              <a:t>можемо да матрицу попунимо са </a:t>
            </a:r>
            <a:r>
              <a:rPr lang="sr-Cyrl-RS" sz="1200" dirty="0" err="1"/>
              <a:t>токенима</a:t>
            </a:r>
            <a:r>
              <a:rPr lang="sr-Cyrl-RS" sz="1200" dirty="0"/>
              <a:t> скроз </a:t>
            </a:r>
            <a:r>
              <a:rPr lang="sr-Latn-RS" sz="1200" dirty="0"/>
              <a:t>„random“</a:t>
            </a:r>
            <a:r>
              <a:rPr lang="sr-Cyrl-R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Позиције </a:t>
            </a:r>
            <a:r>
              <a:rPr lang="sr-Cyrl-RS" sz="1200" dirty="0" err="1"/>
              <a:t>токена</a:t>
            </a:r>
            <a:r>
              <a:rPr lang="sr-Cyrl-RS" sz="1200" dirty="0"/>
              <a:t> у цикличним токен секвенцама не утичу на њихову вероватноћу појављивања па тако ни на улазно-излазни однос.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88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REKONSTRUKCIJA CELE MATRICE SE SVODI NA NEZAVISNE REKONSTRUKCIJE KOLONA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29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PRAVIMO GRAD TAKO STO SVAKU PODEKVENCU UZIMAMO I DELIMO NA 2 DELA, UKOLIKO CVOR VEC POSTOJI NE DUPLIRAMO GA, SVOROVI SU UVEK JEDINSVENI</a:t>
            </a:r>
          </a:p>
          <a:p>
            <a:endParaRPr lang="sr-Latn-RS" dirty="0"/>
          </a:p>
          <a:p>
            <a:r>
              <a:rPr lang="sr-Latn-RS" dirty="0"/>
              <a:t>REŠENJE SE DOBIJA NALAŽENJEM OJLEROVOG PUTA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47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KRENI OBJASNJENJJE SA KOCKICOM DA VEROVATNOCA DA SE PADNE JEDAN BROJ JE 1/6 A AKO BACAMO MNOGO PUTA TI BROJEVI CE BITI BLISKI U KLASTERIMA</a:t>
            </a:r>
          </a:p>
          <a:p>
            <a:endParaRPr lang="sr-Latn-RS" dirty="0"/>
          </a:p>
          <a:p>
            <a:r>
              <a:rPr lang="sr-Latn-RS" dirty="0"/>
              <a:t>NAKON TOGA TREBA DA SE PRICA AKO SE NESTO POJAVI 2 X Fbase DA TOGA IMA DUPLO VISE, PRIMER SA KOCKICOM AKO BI IMALA 2 BROJA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03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sr-Latn-RS" sz="1200" dirty="0"/>
              <a:t>Ograničenja i napomene</a:t>
            </a:r>
            <a:br>
              <a:rPr lang="sr-Latn-RS" sz="1200" dirty="0"/>
            </a:br>
            <a:br>
              <a:rPr lang="sr-Latn-RS" sz="1200" dirty="0"/>
            </a:br>
            <a:r>
              <a:rPr lang="sr-Cyrl-RS" sz="1200" dirty="0"/>
              <a:t>Не постоји једно решење реконструкције.</a:t>
            </a:r>
            <a:endParaRPr lang="sr-Latn-RS" sz="1200" dirty="0"/>
          </a:p>
          <a:p>
            <a:pPr>
              <a:buFont typeface="Arial" panose="020B0604020202020204" pitchFamily="34" charset="0"/>
              <a:buNone/>
            </a:pPr>
            <a:endParaRPr lang="sr-Latn-RS" sz="1200" dirty="0"/>
          </a:p>
          <a:p>
            <a:pPr>
              <a:buFont typeface="Arial" panose="020B0604020202020204" pitchFamily="34" charset="0"/>
              <a:buNone/>
            </a:pPr>
            <a:r>
              <a:rPr lang="sr-Latn-RS" sz="1200" dirty="0"/>
              <a:t>MOZEMO DA IDEMO NA 2 RALZICITE PUTANJE OVDE ALI TO JE DOVOLJNO DOBRO RESENJE</a:t>
            </a: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Потребан је велики број посматрања.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646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r-Latn-RS" sz="1200" dirty="0"/>
              <a:t>SADA KADA IMAMO GENERATIVNU KOMPONENTU POTREBNO JE DA VIDIMO NA KOJI NAČIN JE NAJBOLJE ISPROJEKTOVATI EVALUACIONU KOMPONENTU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sz="1200" dirty="0"/>
              <a:t>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sz="1200" dirty="0"/>
              <a:t>TREBA NAM DA SISTEM RADI ŠTO EFIKASNIJE ZA MNOGO KORISNIKA</a:t>
            </a:r>
          </a:p>
          <a:p>
            <a:pPr>
              <a:buFont typeface="Arial" panose="020B0604020202020204" pitchFamily="34" charset="0"/>
              <a:buChar char="•"/>
            </a:pPr>
            <a:endParaRPr lang="sr-Latn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Секвенцијална евалуација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Евалуација помоћу </a:t>
            </a:r>
            <a:r>
              <a:rPr lang="sr-Cyrl-RS" sz="1200" dirty="0" err="1"/>
              <a:t>хеш</a:t>
            </a:r>
            <a:r>
              <a:rPr lang="sr-Cyrl-RS" sz="1200" dirty="0"/>
              <a:t> табеле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1200" dirty="0"/>
              <a:t>Евалуација помоћу индексног стабла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66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IDEJA JE DA PAMTIMO NIZOVE KOJI OZNACAVAJU POZICIJU VRSTE U SVAKOJ KOLONI VIDLJIVOG PROZORA I ZA SVAKU PUTANJU PROVERAVAMO PREFIKS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998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OBJASNI PSEUDO KOD I SLOŽENOST, NAPOMENI DA OVDE IMA I MEMORIJSKA SLOŽENOST I VREME DA SE SPAKUJE TABELA ALI DA SE TOP RADI SAMO PRIPOKRETANJU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ADDB-6817-475F-AC27-9281D9F320C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6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30. 07. 2026.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30. 07. 2026.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30. 07. 2026.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30. 07. 2026.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EA74-CBFF-4BAD-8267-A2585698F3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sr-Cyrl-RS" sz="3600" b="1" dirty="0"/>
              <a:t>МАТЕМАТИЧКО МОДЕЛОВАЊЕ СИСТЕМА ЗА ПСЕУДО-СЛУЧА</a:t>
            </a:r>
            <a:r>
              <a:rPr lang="sr-Latn-RS" sz="3600" b="1"/>
              <a:t>J</a:t>
            </a:r>
            <a:r>
              <a:rPr lang="sr-Cyrl-RS" sz="3600" b="1"/>
              <a:t>НО </a:t>
            </a:r>
            <a:r>
              <a:rPr lang="sr-Cyrl-RS" sz="3600" b="1" dirty="0"/>
              <a:t>ГЕНЕРИСАЊЕ ТОКЕНА И ЕВАЛУАЦИЈУ КОМБИНАЦИЈА НАД ДИСКРЕТНИМ МАТРИЦАМА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7EA58-613B-4ED7-934D-4906E4EC2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sr-Cyrl-RS" dirty="0"/>
          </a:p>
          <a:p>
            <a:pPr algn="ctr"/>
            <a:r>
              <a:rPr lang="sr-Cyrl-RS" dirty="0"/>
              <a:t>ЗАВРШНИ РАД</a:t>
            </a:r>
            <a:endParaRPr lang="en-US" dirty="0"/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id="{697E0F81-53DB-4106-B2F2-A0E4961181C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475" y="628442"/>
            <a:ext cx="1308100" cy="125750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AE95CA3-DAA1-4D36-962E-FC3530F42E5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888" y="653843"/>
            <a:ext cx="1352646" cy="13559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53C506-BBAA-4793-BC70-F11015613EEC}"/>
              </a:ext>
            </a:extLst>
          </p:cNvPr>
          <p:cNvSpPr txBox="1"/>
          <p:nvPr/>
        </p:nvSpPr>
        <p:spPr>
          <a:xfrm>
            <a:off x="4693712" y="737077"/>
            <a:ext cx="2636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Cyrl-RS" dirty="0"/>
              <a:t>УНИВЕРЗИТЕТ У НИШУ</a:t>
            </a:r>
          </a:p>
          <a:p>
            <a:pPr algn="ctr"/>
            <a:r>
              <a:rPr lang="sr-Cyrl-RS" dirty="0"/>
              <a:t>ЕЛЕКТРОНСКИ ФАКУЛТЕТ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27984-F061-421F-B65A-B4D9DE058EB5}"/>
              </a:ext>
            </a:extLst>
          </p:cNvPr>
          <p:cNvSpPr txBox="1"/>
          <p:nvPr/>
        </p:nvSpPr>
        <p:spPr>
          <a:xfrm>
            <a:off x="891581" y="4804252"/>
            <a:ext cx="1935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Cyrl-RS" dirty="0"/>
              <a:t>СТУДЕНТ:</a:t>
            </a:r>
          </a:p>
          <a:p>
            <a:pPr algn="ctr"/>
            <a:r>
              <a:rPr lang="sr-Cyrl-RS" dirty="0"/>
              <a:t>Јован Богдановић</a:t>
            </a:r>
          </a:p>
          <a:p>
            <a:pPr algn="ctr"/>
            <a:r>
              <a:rPr lang="sr-Cyrl-RS" dirty="0"/>
              <a:t>бр. </a:t>
            </a:r>
            <a:r>
              <a:rPr lang="sr-Cyrl-RS" dirty="0" err="1"/>
              <a:t>инд</a:t>
            </a:r>
            <a:r>
              <a:rPr lang="sr-Cyrl-RS" dirty="0"/>
              <a:t>. 19059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9C61E-853D-4A48-AB74-AA2F6BC83F46}"/>
              </a:ext>
            </a:extLst>
          </p:cNvPr>
          <p:cNvSpPr txBox="1"/>
          <p:nvPr/>
        </p:nvSpPr>
        <p:spPr>
          <a:xfrm>
            <a:off x="8876887" y="4804252"/>
            <a:ext cx="249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Cyrl-RS" dirty="0"/>
              <a:t>МЕНТОР:</a:t>
            </a:r>
          </a:p>
          <a:p>
            <a:pPr algn="ctr"/>
            <a:r>
              <a:rPr lang="sr-Cyrl-RS" dirty="0" err="1"/>
              <a:t>Доц</a:t>
            </a:r>
            <a:r>
              <a:rPr lang="sr-Cyrl-RS" dirty="0"/>
              <a:t>. др Петар Рајковић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3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384A-4C85-4E55-BF7F-25A8D5D0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АЗБУКА ТОКЕНА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DD1CFB-3365-41FF-8EAD-287337F9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sr-Cyrl-RS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Токен је основна недељива јединица система</a:t>
            </a:r>
            <a:r>
              <a:rPr lang="sr-Latn-RS" sz="2400" dirty="0"/>
              <a:t>.</a:t>
            </a: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Азбука токена је коначни скуп различитих елемената из којих се граде секвенце у систему</a:t>
            </a:r>
            <a:r>
              <a:rPr lang="sr-Latn-RS" sz="2400" dirty="0"/>
              <a:t>.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02082-635D-4C69-9D7B-C77942EA72BA}"/>
              </a:ext>
            </a:extLst>
          </p:cNvPr>
          <p:cNvSpPr txBox="1"/>
          <p:nvPr/>
        </p:nvSpPr>
        <p:spPr>
          <a:xfrm>
            <a:off x="1227022" y="3902749"/>
            <a:ext cx="15435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6600" dirty="0"/>
              <a:t>A</a:t>
            </a:r>
            <a:endParaRPr lang="en-US" sz="6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0E448-1B0F-4BCA-8B2F-E0E23F2EB9E9}"/>
              </a:ext>
            </a:extLst>
          </p:cNvPr>
          <p:cNvSpPr txBox="1"/>
          <p:nvPr/>
        </p:nvSpPr>
        <p:spPr>
          <a:xfrm>
            <a:off x="2827090" y="5004453"/>
            <a:ext cx="45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6600" dirty="0"/>
              <a:t>W</a:t>
            </a:r>
            <a:endParaRPr lang="en-US" sz="6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848DD-9C77-4AEE-8512-A1ECBECBE087}"/>
              </a:ext>
            </a:extLst>
          </p:cNvPr>
          <p:cNvSpPr txBox="1"/>
          <p:nvPr/>
        </p:nvSpPr>
        <p:spPr>
          <a:xfrm>
            <a:off x="5819344" y="3739488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5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17588D-14B5-48B0-B3B0-28315D74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90" y="3739488"/>
            <a:ext cx="1434517" cy="14345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4E507E-45EF-45D0-9840-75ABB4F87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73" y="4882774"/>
            <a:ext cx="1198078" cy="1107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ECDD05-9B24-420B-9E21-B7537E3FE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086" y="3739488"/>
            <a:ext cx="1044839" cy="11798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F81A9F-D9E5-470B-BC32-8529199525D9}"/>
              </a:ext>
            </a:extLst>
          </p:cNvPr>
          <p:cNvSpPr txBox="1"/>
          <p:nvPr/>
        </p:nvSpPr>
        <p:spPr>
          <a:xfrm>
            <a:off x="10016455" y="4882775"/>
            <a:ext cx="64472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B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382223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C789-7178-451D-8BA0-A09070BA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ЦИКЛИЧНА ТОКЕН СЕКВЕНЦА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71583-DA61-489F-B971-D1AF544BD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Низ токена фиксне дужине који се понашају као кружна структура.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230D9-70C0-46B3-A4CD-6E7EA590B9EF}"/>
              </a:ext>
            </a:extLst>
          </p:cNvPr>
          <p:cNvSpPr txBox="1"/>
          <p:nvPr/>
        </p:nvSpPr>
        <p:spPr>
          <a:xfrm>
            <a:off x="2028458" y="3472693"/>
            <a:ext cx="88185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4400" dirty="0"/>
              <a:t>... A A B G      H E E R R           Z T J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B8CC3-4A95-4866-B6FD-C5835D19E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578" y="3472693"/>
            <a:ext cx="772095" cy="772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56942F-6C63-47D6-B73A-D19F7B6A5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286" y="3572188"/>
            <a:ext cx="593853" cy="670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5025FF-EAAD-438E-A26D-AFF7463C6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898" y="3572852"/>
            <a:ext cx="593852" cy="67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7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5E02-A7BA-4E15-BC18-836B96E5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ГЕНЕРАТИВНА МАТРИЦА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DB9A-1597-441C-BC28-489B8F585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Састоји се од </a:t>
            </a:r>
            <a:r>
              <a:rPr lang="sr-Latn-RS" sz="2400" i="1" dirty="0"/>
              <a:t>n</a:t>
            </a:r>
            <a:r>
              <a:rPr lang="sr-Cyrl-RS" sz="2400" i="1" dirty="0"/>
              <a:t> </a:t>
            </a:r>
            <a:r>
              <a:rPr lang="sr-Cyrl-RS" sz="2400" dirty="0"/>
              <a:t>цикличних токен секвенци.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Пример за </a:t>
            </a:r>
            <a:r>
              <a:rPr lang="sr-Latn-RS" sz="2400" i="1" dirty="0"/>
              <a:t>n</a:t>
            </a:r>
            <a:r>
              <a:rPr lang="sr-Latn-RS" sz="2400" dirty="0"/>
              <a:t> = 3:</a:t>
            </a: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65C1E-A0D8-4248-8C35-D3CA795FB820}"/>
              </a:ext>
            </a:extLst>
          </p:cNvPr>
          <p:cNvSpPr txBox="1"/>
          <p:nvPr/>
        </p:nvSpPr>
        <p:spPr>
          <a:xfrm>
            <a:off x="2156390" y="3230824"/>
            <a:ext cx="89992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sz="4000" dirty="0"/>
              <a:t>... A A B G      H E E R R           Z T J ...</a:t>
            </a:r>
          </a:p>
          <a:p>
            <a:r>
              <a:rPr lang="sr-Latn-RS" sz="4000" dirty="0"/>
              <a:t>... B B H H H H U J K       O O P W ...</a:t>
            </a:r>
          </a:p>
          <a:p>
            <a:r>
              <a:rPr lang="sr-Latn-RS" sz="4000" dirty="0"/>
              <a:t>...                    J K K K W W P A        ...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9D44D-A0ED-4861-AEF1-313798E06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170" y="3230824"/>
            <a:ext cx="772095" cy="772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31F564-FE65-4805-B804-C268E8233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199" y="3268055"/>
            <a:ext cx="593852" cy="670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E0CF31-92FD-4876-B16F-2BBC0253D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051" y="3281566"/>
            <a:ext cx="593852" cy="670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2199D9-5F67-46F3-84CC-EEA30F1D6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094" y="3938653"/>
            <a:ext cx="565882" cy="523334"/>
          </a:xfrm>
          <a:prstGeom prst="rect">
            <a:avLst/>
          </a:prstGeom>
        </p:spPr>
      </p:pic>
      <p:pic>
        <p:nvPicPr>
          <p:cNvPr id="1028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35C217B4-776C-46DC-8F52-BF2536768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325" y="4497182"/>
            <a:ext cx="686144" cy="6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emon - download free icon Classic Slot Machine Icons on Artage.io">
            <a:extLst>
              <a:ext uri="{FF2B5EF4-FFF2-40B4-BE49-F238E27FC236}">
                <a16:creationId xmlns:a16="http://schemas.microsoft.com/office/drawing/2014/main" id="{3A2569B6-A85F-4E66-BAD9-3F69F9A43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733" y="4497182"/>
            <a:ext cx="686145" cy="68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mon - download free icon Classic Slot Machine Icons on Artage.io">
            <a:extLst>
              <a:ext uri="{FF2B5EF4-FFF2-40B4-BE49-F238E27FC236}">
                <a16:creationId xmlns:a16="http://schemas.microsoft.com/office/drawing/2014/main" id="{B8DEB674-9FE0-4F59-B2E7-BCBC77BD6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98" y="4470809"/>
            <a:ext cx="705762" cy="70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11F53F-DD9E-4BF4-AB10-439582920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402" y="4461987"/>
            <a:ext cx="593853" cy="65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1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BEEA-4EFB-44AE-A96C-99CE0F3B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ИТЕРАЦИЈА СИСТЕМА - Генерисање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E017-D711-4ABB-BCB1-FC797E6B9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35002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dirty="0"/>
              <a:t>За сваку цикличну токен-секвенцу из генеративне матрице се генерише почетни индекс и читају се </a:t>
            </a:r>
            <a:r>
              <a:rPr lang="sr-Latn-RS" i="1" dirty="0"/>
              <a:t>m</a:t>
            </a:r>
            <a:r>
              <a:rPr lang="sr-Latn-RS" dirty="0"/>
              <a:t> </a:t>
            </a:r>
            <a:r>
              <a:rPr lang="sr-Cyrl-RS" dirty="0"/>
              <a:t>узастопних токена.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dirty="0"/>
              <a:t>Пример за </a:t>
            </a:r>
            <a:r>
              <a:rPr lang="sr-Latn-RS" i="1" dirty="0"/>
              <a:t>m </a:t>
            </a:r>
            <a:r>
              <a:rPr lang="sr-Latn-RS" dirty="0"/>
              <a:t>= 3 </a:t>
            </a:r>
            <a:r>
              <a:rPr lang="sr-Cyrl-RS" dirty="0"/>
              <a:t>и дужину сваке цикличне токен-секвенце </a:t>
            </a:r>
            <a:r>
              <a:rPr lang="sr-Latn-RS" i="1" dirty="0"/>
              <a:t>L</a:t>
            </a:r>
            <a:r>
              <a:rPr lang="sr-Latn-RS" dirty="0"/>
              <a:t> = 7</a:t>
            </a:r>
            <a:r>
              <a:rPr lang="sr-Cyrl-RS" dirty="0"/>
              <a:t> и да је ПСГ генерисао почетне индексе 2, 4, 5</a:t>
            </a:r>
            <a:r>
              <a:rPr lang="sr-Latn-RS" dirty="0"/>
              <a:t>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4CF2D-6241-4525-9765-182F5051AD08}"/>
              </a:ext>
            </a:extLst>
          </p:cNvPr>
          <p:cNvSpPr txBox="1"/>
          <p:nvPr/>
        </p:nvSpPr>
        <p:spPr>
          <a:xfrm>
            <a:off x="3370441" y="3065135"/>
            <a:ext cx="41069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dirty="0"/>
              <a:t>A</a:t>
            </a:r>
          </a:p>
          <a:p>
            <a:r>
              <a:rPr lang="sr-Latn-RS" sz="2800" dirty="0"/>
              <a:t>A</a:t>
            </a:r>
          </a:p>
          <a:p>
            <a:r>
              <a:rPr lang="sr-Latn-RS" sz="2800" dirty="0"/>
              <a:t>B</a:t>
            </a:r>
            <a:br>
              <a:rPr lang="sr-Latn-RS" sz="2800" dirty="0"/>
            </a:br>
            <a:r>
              <a:rPr lang="sr-Latn-RS" sz="2800" dirty="0"/>
              <a:t>G</a:t>
            </a:r>
          </a:p>
          <a:p>
            <a:endParaRPr lang="sr-Latn-RS" sz="2800" dirty="0"/>
          </a:p>
          <a:p>
            <a:r>
              <a:rPr lang="sr-Latn-RS" sz="2800" dirty="0"/>
              <a:t>H</a:t>
            </a:r>
          </a:p>
          <a:p>
            <a:r>
              <a:rPr lang="sr-Latn-RS" sz="2800" dirty="0"/>
              <a:t>E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C0754-9948-4215-BDAB-117073B3D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092" y="4773047"/>
            <a:ext cx="513388" cy="513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7F0487-ECA2-4C60-93B2-EACEC829C03F}"/>
              </a:ext>
            </a:extLst>
          </p:cNvPr>
          <p:cNvSpPr txBox="1"/>
          <p:nvPr/>
        </p:nvSpPr>
        <p:spPr>
          <a:xfrm>
            <a:off x="5368954" y="3059471"/>
            <a:ext cx="41549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dirty="0"/>
              <a:t>B</a:t>
            </a:r>
          </a:p>
          <a:p>
            <a:r>
              <a:rPr lang="sr-Latn-RS" sz="2800" dirty="0"/>
              <a:t>B</a:t>
            </a:r>
          </a:p>
          <a:p>
            <a:r>
              <a:rPr lang="sr-Latn-RS" sz="2800" dirty="0"/>
              <a:t>H</a:t>
            </a:r>
            <a:br>
              <a:rPr lang="sr-Latn-RS" sz="2800" dirty="0"/>
            </a:br>
            <a:r>
              <a:rPr lang="sr-Latn-RS" sz="2800" dirty="0"/>
              <a:t>H</a:t>
            </a:r>
            <a:br>
              <a:rPr lang="sr-Latn-RS" sz="2800" dirty="0"/>
            </a:br>
            <a:r>
              <a:rPr lang="sr-Latn-RS" sz="2800" dirty="0"/>
              <a:t>H</a:t>
            </a:r>
            <a:br>
              <a:rPr lang="sr-Latn-RS" sz="2800" dirty="0"/>
            </a:br>
            <a:r>
              <a:rPr lang="sr-Latn-RS" sz="2800" dirty="0"/>
              <a:t>H</a:t>
            </a:r>
            <a:br>
              <a:rPr lang="sr-Latn-RS" sz="2800" dirty="0"/>
            </a:br>
            <a:r>
              <a:rPr lang="sr-Latn-RS" sz="2800" dirty="0"/>
              <a:t>U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15ABA-0CDD-4728-96E9-7C82E2593526}"/>
              </a:ext>
            </a:extLst>
          </p:cNvPr>
          <p:cNvSpPr txBox="1"/>
          <p:nvPr/>
        </p:nvSpPr>
        <p:spPr>
          <a:xfrm>
            <a:off x="7320926" y="4083001"/>
            <a:ext cx="397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dirty="0"/>
              <a:t>J</a:t>
            </a:r>
          </a:p>
          <a:p>
            <a:r>
              <a:rPr lang="sr-Latn-RS" sz="3200" dirty="0"/>
              <a:t>K</a:t>
            </a:r>
          </a:p>
          <a:p>
            <a:r>
              <a:rPr lang="sr-Latn-RS" sz="3200" dirty="0"/>
              <a:t>K</a:t>
            </a:r>
          </a:p>
          <a:p>
            <a:r>
              <a:rPr lang="sr-Latn-RS" sz="3200" dirty="0"/>
              <a:t>K</a:t>
            </a:r>
          </a:p>
        </p:txBody>
      </p:sp>
      <p:pic>
        <p:nvPicPr>
          <p:cNvPr id="8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41036CB7-9293-4051-B74C-D29A5E217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275" y="3137131"/>
            <a:ext cx="313056" cy="31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A046F437-25E0-4E42-BD28-6E8137542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275" y="3489065"/>
            <a:ext cx="313057" cy="3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583DA0DB-7EF3-4C97-A03F-01A95BF96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330" y="3845099"/>
            <a:ext cx="313058" cy="31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4136CC-BE9F-4541-871E-A283A8FC5995}"/>
              </a:ext>
            </a:extLst>
          </p:cNvPr>
          <p:cNvSpPr/>
          <p:nvPr/>
        </p:nvSpPr>
        <p:spPr>
          <a:xfrm>
            <a:off x="3370441" y="3993160"/>
            <a:ext cx="419635" cy="12932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0EBBC7-6CA2-4125-BDE7-7038D44BD9FB}"/>
              </a:ext>
            </a:extLst>
          </p:cNvPr>
          <p:cNvSpPr/>
          <p:nvPr/>
        </p:nvSpPr>
        <p:spPr>
          <a:xfrm>
            <a:off x="5368953" y="4792197"/>
            <a:ext cx="419028" cy="12932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8B1C5-A848-4231-A13D-7FA5E8F3D5C9}"/>
              </a:ext>
            </a:extLst>
          </p:cNvPr>
          <p:cNvSpPr txBox="1"/>
          <p:nvPr/>
        </p:nvSpPr>
        <p:spPr>
          <a:xfrm>
            <a:off x="3933065" y="317771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0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25F5B6-BE5E-43C3-A0BD-DF3B2A3AED95}"/>
              </a:ext>
            </a:extLst>
          </p:cNvPr>
          <p:cNvSpPr txBox="1"/>
          <p:nvPr/>
        </p:nvSpPr>
        <p:spPr>
          <a:xfrm>
            <a:off x="3933065" y="35568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1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B3E443-4DFB-4A1B-B282-9361DB728FA6}"/>
              </a:ext>
            </a:extLst>
          </p:cNvPr>
          <p:cNvSpPr txBox="1"/>
          <p:nvPr/>
        </p:nvSpPr>
        <p:spPr>
          <a:xfrm>
            <a:off x="3933065" y="399316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2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5FE8E-39D2-4610-BEE2-BC6326D7FB4D}"/>
              </a:ext>
            </a:extLst>
          </p:cNvPr>
          <p:cNvSpPr txBox="1"/>
          <p:nvPr/>
        </p:nvSpPr>
        <p:spPr>
          <a:xfrm>
            <a:off x="3933065" y="441418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3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630F2-6182-4097-9520-CDD8434D3096}"/>
              </a:ext>
            </a:extLst>
          </p:cNvPr>
          <p:cNvSpPr txBox="1"/>
          <p:nvPr/>
        </p:nvSpPr>
        <p:spPr>
          <a:xfrm>
            <a:off x="3936974" y="484731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4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53BA9B-D119-41A9-9BD0-DFEDFA029268}"/>
              </a:ext>
            </a:extLst>
          </p:cNvPr>
          <p:cNvSpPr txBox="1"/>
          <p:nvPr/>
        </p:nvSpPr>
        <p:spPr>
          <a:xfrm>
            <a:off x="3933065" y="531250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5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7DE003-5230-43C9-8350-9684FBC215E2}"/>
              </a:ext>
            </a:extLst>
          </p:cNvPr>
          <p:cNvSpPr txBox="1"/>
          <p:nvPr/>
        </p:nvSpPr>
        <p:spPr>
          <a:xfrm>
            <a:off x="3933065" y="57328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6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93CEC0-E7AD-475C-8DBF-AD8F00FFDC92}"/>
              </a:ext>
            </a:extLst>
          </p:cNvPr>
          <p:cNvSpPr txBox="1"/>
          <p:nvPr/>
        </p:nvSpPr>
        <p:spPr>
          <a:xfrm>
            <a:off x="5967622" y="358824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1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4B37D-5B2D-4C35-BBE3-147524DD77F7}"/>
              </a:ext>
            </a:extLst>
          </p:cNvPr>
          <p:cNvSpPr txBox="1"/>
          <p:nvPr/>
        </p:nvSpPr>
        <p:spPr>
          <a:xfrm>
            <a:off x="5967622" y="402309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2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F20636-700A-400E-93D6-64F32E34FDB3}"/>
              </a:ext>
            </a:extLst>
          </p:cNvPr>
          <p:cNvSpPr txBox="1"/>
          <p:nvPr/>
        </p:nvSpPr>
        <p:spPr>
          <a:xfrm>
            <a:off x="5967622" y="44441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3</a:t>
            </a: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C0340C-9A1C-45F1-883E-7B4889C929C5}"/>
              </a:ext>
            </a:extLst>
          </p:cNvPr>
          <p:cNvSpPr txBox="1"/>
          <p:nvPr/>
        </p:nvSpPr>
        <p:spPr>
          <a:xfrm>
            <a:off x="5971531" y="487725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4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9FECF-AF40-4A63-83B2-4D8F2E6E30B8}"/>
              </a:ext>
            </a:extLst>
          </p:cNvPr>
          <p:cNvSpPr txBox="1"/>
          <p:nvPr/>
        </p:nvSpPr>
        <p:spPr>
          <a:xfrm>
            <a:off x="5967622" y="534244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5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2A4713-5F60-4B8C-BAB4-906A4CDE030F}"/>
              </a:ext>
            </a:extLst>
          </p:cNvPr>
          <p:cNvSpPr txBox="1"/>
          <p:nvPr/>
        </p:nvSpPr>
        <p:spPr>
          <a:xfrm>
            <a:off x="5967622" y="576277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6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1FC8B4-6870-47B0-9C6A-07594819B1F9}"/>
              </a:ext>
            </a:extLst>
          </p:cNvPr>
          <p:cNvSpPr txBox="1"/>
          <p:nvPr/>
        </p:nvSpPr>
        <p:spPr>
          <a:xfrm>
            <a:off x="7923731" y="36095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1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4B7FBA-2CEA-4BAE-B0E5-D414D386697E}"/>
              </a:ext>
            </a:extLst>
          </p:cNvPr>
          <p:cNvSpPr txBox="1"/>
          <p:nvPr/>
        </p:nvSpPr>
        <p:spPr>
          <a:xfrm>
            <a:off x="7923731" y="404265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2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BF1F81-8DC2-4383-A356-8D89991366EB}"/>
              </a:ext>
            </a:extLst>
          </p:cNvPr>
          <p:cNvSpPr txBox="1"/>
          <p:nvPr/>
        </p:nvSpPr>
        <p:spPr>
          <a:xfrm>
            <a:off x="7923731" y="44636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3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CA4798-93F1-4423-84AF-9BB97A3AFDB3}"/>
              </a:ext>
            </a:extLst>
          </p:cNvPr>
          <p:cNvSpPr txBox="1"/>
          <p:nvPr/>
        </p:nvSpPr>
        <p:spPr>
          <a:xfrm>
            <a:off x="7927640" y="489681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4</a:t>
            </a:r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11BEEF-C33A-4826-9D85-F1F6B10FA500}"/>
              </a:ext>
            </a:extLst>
          </p:cNvPr>
          <p:cNvSpPr txBox="1"/>
          <p:nvPr/>
        </p:nvSpPr>
        <p:spPr>
          <a:xfrm>
            <a:off x="7923731" y="53172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5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0348B9-B087-4368-8B50-3807CE0674CD}"/>
              </a:ext>
            </a:extLst>
          </p:cNvPr>
          <p:cNvSpPr txBox="1"/>
          <p:nvPr/>
        </p:nvSpPr>
        <p:spPr>
          <a:xfrm>
            <a:off x="7923731" y="578233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6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B4E72E-6F63-4FC6-9DB6-2AAB919ACF77}"/>
              </a:ext>
            </a:extLst>
          </p:cNvPr>
          <p:cNvSpPr txBox="1"/>
          <p:nvPr/>
        </p:nvSpPr>
        <p:spPr>
          <a:xfrm>
            <a:off x="5967622" y="318673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0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AA75D1-B0AE-4598-B3F1-AD174B7BEFDB}"/>
              </a:ext>
            </a:extLst>
          </p:cNvPr>
          <p:cNvSpPr txBox="1"/>
          <p:nvPr/>
        </p:nvSpPr>
        <p:spPr>
          <a:xfrm>
            <a:off x="7924508" y="313713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400" dirty="0"/>
              <a:t>0</a:t>
            </a:r>
            <a:endParaRPr lang="en-US" sz="14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0B80BA-2EAD-4DE8-84F6-78D9DC57C6BE}"/>
              </a:ext>
            </a:extLst>
          </p:cNvPr>
          <p:cNvCxnSpPr>
            <a:cxnSpLocks/>
          </p:cNvCxnSpPr>
          <p:nvPr/>
        </p:nvCxnSpPr>
        <p:spPr>
          <a:xfrm>
            <a:off x="7320926" y="5147633"/>
            <a:ext cx="0" cy="93037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4268FE-EE1E-4CDE-A202-7F65EBF55959}"/>
              </a:ext>
            </a:extLst>
          </p:cNvPr>
          <p:cNvCxnSpPr>
            <a:cxnSpLocks/>
          </p:cNvCxnSpPr>
          <p:nvPr/>
        </p:nvCxnSpPr>
        <p:spPr>
          <a:xfrm>
            <a:off x="7320926" y="5155093"/>
            <a:ext cx="41963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255604-28C9-486C-B68D-E1D801BFCF4E}"/>
              </a:ext>
            </a:extLst>
          </p:cNvPr>
          <p:cNvCxnSpPr>
            <a:cxnSpLocks/>
          </p:cNvCxnSpPr>
          <p:nvPr/>
        </p:nvCxnSpPr>
        <p:spPr>
          <a:xfrm>
            <a:off x="7740561" y="5155093"/>
            <a:ext cx="7939" cy="9229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70BBBE9-6354-45BA-8033-7A9C5C40516A}"/>
              </a:ext>
            </a:extLst>
          </p:cNvPr>
          <p:cNvCxnSpPr>
            <a:cxnSpLocks/>
          </p:cNvCxnSpPr>
          <p:nvPr/>
        </p:nvCxnSpPr>
        <p:spPr>
          <a:xfrm>
            <a:off x="7320926" y="3043722"/>
            <a:ext cx="0" cy="4572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CEE349-7618-4344-BEED-88822AD38D98}"/>
              </a:ext>
            </a:extLst>
          </p:cNvPr>
          <p:cNvCxnSpPr>
            <a:cxnSpLocks/>
          </p:cNvCxnSpPr>
          <p:nvPr/>
        </p:nvCxnSpPr>
        <p:spPr>
          <a:xfrm>
            <a:off x="7320926" y="3493164"/>
            <a:ext cx="42360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40AE665-E8A4-42C1-8AA9-0447B8E3370A}"/>
              </a:ext>
            </a:extLst>
          </p:cNvPr>
          <p:cNvCxnSpPr>
            <a:cxnSpLocks/>
          </p:cNvCxnSpPr>
          <p:nvPr/>
        </p:nvCxnSpPr>
        <p:spPr>
          <a:xfrm>
            <a:off x="7748500" y="3043722"/>
            <a:ext cx="0" cy="4435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55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AC74-003F-45A3-835F-192D4F3D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ИТЕРАЦИЈА СИСТЕМА – Видљиви прозор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84EEB-A1CC-4183-99A4-7A65D90412D2}"/>
              </a:ext>
            </a:extLst>
          </p:cNvPr>
          <p:cNvSpPr txBox="1"/>
          <p:nvPr/>
        </p:nvSpPr>
        <p:spPr>
          <a:xfrm>
            <a:off x="4042457" y="2290194"/>
            <a:ext cx="718466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B</a:t>
            </a:r>
          </a:p>
          <a:p>
            <a:r>
              <a:rPr lang="sr-Latn-RS" sz="6600" dirty="0"/>
              <a:t>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4CE98-60A9-490F-A7A7-AC750202F48C}"/>
              </a:ext>
            </a:extLst>
          </p:cNvPr>
          <p:cNvSpPr txBox="1"/>
          <p:nvPr/>
        </p:nvSpPr>
        <p:spPr>
          <a:xfrm>
            <a:off x="5367916" y="2300101"/>
            <a:ext cx="7280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H</a:t>
            </a:r>
          </a:p>
          <a:p>
            <a:r>
              <a:rPr lang="sr-Latn-RS" sz="6600" dirty="0"/>
              <a:t>H</a:t>
            </a:r>
          </a:p>
          <a:p>
            <a:r>
              <a:rPr lang="sr-Latn-RS" sz="6600" dirty="0"/>
              <a:t>U</a:t>
            </a:r>
            <a:endParaRPr lang="en-US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3658B-DCCC-4E13-8275-806CF37681E8}"/>
              </a:ext>
            </a:extLst>
          </p:cNvPr>
          <p:cNvSpPr txBox="1"/>
          <p:nvPr/>
        </p:nvSpPr>
        <p:spPr>
          <a:xfrm>
            <a:off x="6702993" y="2300101"/>
            <a:ext cx="6238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K</a:t>
            </a:r>
          </a:p>
          <a:p>
            <a:r>
              <a:rPr lang="sr-Latn-RS" sz="6600" dirty="0"/>
              <a:t>K</a:t>
            </a:r>
            <a:endParaRPr lang="en-US"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BE78B-7A23-497A-BC5B-58BA058A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868" y="4281779"/>
            <a:ext cx="1157643" cy="1157643"/>
          </a:xfrm>
          <a:prstGeom prst="rect">
            <a:avLst/>
          </a:prstGeom>
        </p:spPr>
      </p:pic>
      <p:pic>
        <p:nvPicPr>
          <p:cNvPr id="8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4436CD71-96ED-4DE1-A0CF-4E9A08181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993" y="4511633"/>
            <a:ext cx="697934" cy="69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71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D75F-DC89-497D-B63A-9B8F174B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ИТЕРАЦИЈА СИСТЕМА – Видљиви прозор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F400-2B6D-4C37-89F9-75F300E5E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49673-C671-4CC7-B17D-199EB4844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57" y="1845734"/>
            <a:ext cx="7563906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8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5149-B56F-4E04-95BE-F208D4C9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ИТЕРАЦИЈА СИСТЕМА - Евалуација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3A8D4-8DBE-48EC-A2AE-ED10A572A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81" y="4089800"/>
            <a:ext cx="1157643" cy="1157643"/>
          </a:xfrm>
          <a:prstGeom prst="rect">
            <a:avLst/>
          </a:prstGeom>
        </p:spPr>
      </p:pic>
      <p:pic>
        <p:nvPicPr>
          <p:cNvPr id="5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7A7E183C-2294-4398-8107-78D0FF8E0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103" y="4319654"/>
            <a:ext cx="697934" cy="69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9B01B4-49C0-4992-A958-7CFD55DC8D34}"/>
              </a:ext>
            </a:extLst>
          </p:cNvPr>
          <p:cNvSpPr txBox="1"/>
          <p:nvPr/>
        </p:nvSpPr>
        <p:spPr>
          <a:xfrm>
            <a:off x="1349170" y="2126353"/>
            <a:ext cx="718466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B</a:t>
            </a:r>
          </a:p>
          <a:p>
            <a:r>
              <a:rPr lang="sr-Latn-RS" sz="6600" dirty="0"/>
              <a:t>G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385E5-7FF7-4B75-8475-4CF8EAF7315F}"/>
              </a:ext>
            </a:extLst>
          </p:cNvPr>
          <p:cNvSpPr txBox="1"/>
          <p:nvPr/>
        </p:nvSpPr>
        <p:spPr>
          <a:xfrm>
            <a:off x="2583850" y="2126353"/>
            <a:ext cx="7280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H</a:t>
            </a:r>
          </a:p>
          <a:p>
            <a:r>
              <a:rPr lang="sr-Latn-RS" sz="6600" dirty="0"/>
              <a:t>H</a:t>
            </a:r>
          </a:p>
          <a:p>
            <a:r>
              <a:rPr lang="sr-Latn-RS" sz="6600" dirty="0"/>
              <a:t>U</a:t>
            </a:r>
            <a:endParaRPr lang="en-US" sz="6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99FEF-36E3-4A8A-8D88-F72FD5009FC6}"/>
              </a:ext>
            </a:extLst>
          </p:cNvPr>
          <p:cNvSpPr txBox="1"/>
          <p:nvPr/>
        </p:nvSpPr>
        <p:spPr>
          <a:xfrm>
            <a:off x="3828148" y="2126353"/>
            <a:ext cx="6238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K</a:t>
            </a:r>
          </a:p>
          <a:p>
            <a:r>
              <a:rPr lang="sr-Latn-RS" sz="6600" dirty="0"/>
              <a:t>K</a:t>
            </a:r>
            <a:endParaRPr lang="en-US" sz="6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F8EAB-2990-4D9B-A460-5372F5F5AE04}"/>
              </a:ext>
            </a:extLst>
          </p:cNvPr>
          <p:cNvSpPr txBox="1"/>
          <p:nvPr/>
        </p:nvSpPr>
        <p:spPr>
          <a:xfrm>
            <a:off x="5986763" y="3095849"/>
            <a:ext cx="11464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5400" i="1" dirty="0"/>
              <a:t>f(e)</a:t>
            </a:r>
            <a:endParaRPr lang="en-US" sz="54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01C1F2-4F17-4181-8EF8-EB0C2FAD3F92}"/>
              </a:ext>
            </a:extLst>
          </p:cNvPr>
          <p:cNvSpPr txBox="1"/>
          <p:nvPr/>
        </p:nvSpPr>
        <p:spPr>
          <a:xfrm>
            <a:off x="8385425" y="2588018"/>
            <a:ext cx="24454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dirty="0"/>
              <a:t>излазна вредност итерације</a:t>
            </a:r>
            <a:endParaRPr lang="en-US" sz="4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B19B73-1E74-428F-8A7A-90DA99020103}"/>
              </a:ext>
            </a:extLst>
          </p:cNvPr>
          <p:cNvCxnSpPr>
            <a:cxnSpLocks/>
          </p:cNvCxnSpPr>
          <p:nvPr/>
        </p:nvCxnSpPr>
        <p:spPr>
          <a:xfrm>
            <a:off x="4754316" y="3557514"/>
            <a:ext cx="111797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2B0F94-6BCF-4AEE-AF81-3297F25E5E78}"/>
              </a:ext>
            </a:extLst>
          </p:cNvPr>
          <p:cNvCxnSpPr>
            <a:cxnSpLocks/>
          </p:cNvCxnSpPr>
          <p:nvPr/>
        </p:nvCxnSpPr>
        <p:spPr>
          <a:xfrm>
            <a:off x="7271673" y="3557514"/>
            <a:ext cx="111797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833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32FA-D4BF-4606-9EAD-A9B1548B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ЕВАЛУАЦИОНА ПУТАЊА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0476C-EFAB-4CF8-8DFC-92571FC0A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8722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Дефинише које позиције у видљивом прозору се посматрају заједно приликом провере валидног обрасца.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2800E-1FFF-4799-9926-F4E49E1AB209}"/>
              </a:ext>
            </a:extLst>
          </p:cNvPr>
          <p:cNvSpPr txBox="1"/>
          <p:nvPr/>
        </p:nvSpPr>
        <p:spPr>
          <a:xfrm>
            <a:off x="748478" y="3113393"/>
            <a:ext cx="390088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4400" dirty="0"/>
              <a:t>[x]	 [  ]	  [  ]</a:t>
            </a:r>
          </a:p>
          <a:p>
            <a:r>
              <a:rPr lang="sr-Latn-RS" sz="4400" dirty="0"/>
              <a:t>[  ]	 [x]	  [  ]</a:t>
            </a:r>
          </a:p>
          <a:p>
            <a:r>
              <a:rPr lang="sr-Latn-RS" sz="4400" dirty="0"/>
              <a:t>[  ]	 [  ]	  [x]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FD4A0-B7A2-4F92-A25A-816AA7222BD3}"/>
              </a:ext>
            </a:extLst>
          </p:cNvPr>
          <p:cNvSpPr txBox="1"/>
          <p:nvPr/>
        </p:nvSpPr>
        <p:spPr>
          <a:xfrm>
            <a:off x="4946762" y="2944536"/>
            <a:ext cx="718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5400" dirty="0"/>
              <a:t>B</a:t>
            </a:r>
          </a:p>
          <a:p>
            <a:r>
              <a:rPr lang="sr-Latn-RS" sz="5400" dirty="0"/>
              <a:t>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D3E0A-4CB7-41CE-ACBF-60D5498D1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324" y="4618761"/>
            <a:ext cx="858116" cy="858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8DAF1B-CFBF-427F-A712-43674FB89467}"/>
              </a:ext>
            </a:extLst>
          </p:cNvPr>
          <p:cNvSpPr txBox="1"/>
          <p:nvPr/>
        </p:nvSpPr>
        <p:spPr>
          <a:xfrm>
            <a:off x="5781651" y="2944536"/>
            <a:ext cx="62869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5400" dirty="0"/>
              <a:t>H</a:t>
            </a:r>
          </a:p>
          <a:p>
            <a:r>
              <a:rPr lang="sr-Latn-RS" sz="5400" dirty="0"/>
              <a:t>H</a:t>
            </a:r>
          </a:p>
          <a:p>
            <a:r>
              <a:rPr lang="sr-Latn-RS" sz="5400" dirty="0"/>
              <a:t>U</a:t>
            </a:r>
            <a:endParaRPr lang="en-US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59417-9599-49E7-B57B-C6F32ED94D53}"/>
              </a:ext>
            </a:extLst>
          </p:cNvPr>
          <p:cNvSpPr txBox="1"/>
          <p:nvPr/>
        </p:nvSpPr>
        <p:spPr>
          <a:xfrm>
            <a:off x="6626314" y="2944536"/>
            <a:ext cx="5437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5400" dirty="0"/>
              <a:t>K</a:t>
            </a:r>
          </a:p>
          <a:p>
            <a:r>
              <a:rPr lang="sr-Latn-RS" sz="5400" dirty="0"/>
              <a:t>K</a:t>
            </a:r>
            <a:endParaRPr lang="en-US" sz="5400" dirty="0"/>
          </a:p>
        </p:txBody>
      </p:sp>
      <p:pic>
        <p:nvPicPr>
          <p:cNvPr id="10" name="Picture 9" descr="lemon - download free icon Classic Slot Machine Icons on Artage.io">
            <a:extLst>
              <a:ext uri="{FF2B5EF4-FFF2-40B4-BE49-F238E27FC236}">
                <a16:creationId xmlns:a16="http://schemas.microsoft.com/office/drawing/2014/main" id="{44E2A907-4B6D-4D97-98DB-EEC35569F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314" y="4698862"/>
            <a:ext cx="620837" cy="62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C168D7-E53A-43E6-9243-1F3812AB470B}"/>
              </a:ext>
            </a:extLst>
          </p:cNvPr>
          <p:cNvSpPr/>
          <p:nvPr/>
        </p:nvSpPr>
        <p:spPr>
          <a:xfrm>
            <a:off x="4944674" y="3113393"/>
            <a:ext cx="621012" cy="651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1C23E5-0DC3-472D-9DBC-AC308A968E2E}"/>
              </a:ext>
            </a:extLst>
          </p:cNvPr>
          <p:cNvSpPr/>
          <p:nvPr/>
        </p:nvSpPr>
        <p:spPr>
          <a:xfrm>
            <a:off x="5785494" y="3911613"/>
            <a:ext cx="621012" cy="651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016AF-4C27-4A1D-9FAE-61A427DA468E}"/>
              </a:ext>
            </a:extLst>
          </p:cNvPr>
          <p:cNvSpPr/>
          <p:nvPr/>
        </p:nvSpPr>
        <p:spPr>
          <a:xfrm>
            <a:off x="6635353" y="4683696"/>
            <a:ext cx="621012" cy="6511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606BEA-2617-4CF8-94C6-659B4A080E8B}"/>
              </a:ext>
            </a:extLst>
          </p:cNvPr>
          <p:cNvCxnSpPr>
            <a:cxnSpLocks/>
          </p:cNvCxnSpPr>
          <p:nvPr/>
        </p:nvCxnSpPr>
        <p:spPr>
          <a:xfrm>
            <a:off x="3869503" y="4172726"/>
            <a:ext cx="86129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467193-7675-4084-883C-DA685EB4B715}"/>
              </a:ext>
            </a:extLst>
          </p:cNvPr>
          <p:cNvCxnSpPr>
            <a:cxnSpLocks/>
          </p:cNvCxnSpPr>
          <p:nvPr/>
        </p:nvCxnSpPr>
        <p:spPr>
          <a:xfrm>
            <a:off x="7581406" y="4184513"/>
            <a:ext cx="86630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73FCD2-0010-4998-B3EB-389EB367242A}"/>
              </a:ext>
            </a:extLst>
          </p:cNvPr>
          <p:cNvSpPr txBox="1"/>
          <p:nvPr/>
        </p:nvSpPr>
        <p:spPr>
          <a:xfrm>
            <a:off x="9102055" y="3695431"/>
            <a:ext cx="13067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5400" dirty="0"/>
              <a:t>B H </a:t>
            </a:r>
            <a:endParaRPr lang="en-US" sz="5400" dirty="0"/>
          </a:p>
        </p:txBody>
      </p:sp>
      <p:pic>
        <p:nvPicPr>
          <p:cNvPr id="20" name="Picture 19" descr="lemon - download free icon Classic Slot Machine Icons on Artage.io">
            <a:extLst>
              <a:ext uri="{FF2B5EF4-FFF2-40B4-BE49-F238E27FC236}">
                <a16:creationId xmlns:a16="http://schemas.microsoft.com/office/drawing/2014/main" id="{D253F9A0-F975-4C0A-94E8-21ADAAA3A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589" y="3871656"/>
            <a:ext cx="620837" cy="62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055770-0A84-499A-B67C-B6DD6688E0FB}"/>
              </a:ext>
            </a:extLst>
          </p:cNvPr>
          <p:cNvSpPr txBox="1"/>
          <p:nvPr/>
        </p:nvSpPr>
        <p:spPr>
          <a:xfrm>
            <a:off x="9297377" y="4724653"/>
            <a:ext cx="1508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/>
              <a:t>евалуациона секвенца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4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9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0FBB-5A4C-4BAE-B12A-5F7343E4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ЕВАЛУАЦИОНА ПУТАЊА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13D87-2B29-451C-BEE1-D391D2D3A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92B82-5F46-455A-A7B0-78D2EE6D1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1947168"/>
            <a:ext cx="8745170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9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CB5EE-E7D3-4CE0-8B47-573AF831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УНИВЕРЗАЛНИ ЗАМЕНСКИ ТОКЕН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7CE9-F238-4314-AC24-13983547B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8135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Специјални токен азбуке који при евалуацији може „глумити“ било који други токен.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59CA4-DD44-4932-B6D2-6E82DFA19A32}"/>
              </a:ext>
            </a:extLst>
          </p:cNvPr>
          <p:cNvSpPr txBox="1"/>
          <p:nvPr/>
        </p:nvSpPr>
        <p:spPr>
          <a:xfrm>
            <a:off x="1627465" y="3605169"/>
            <a:ext cx="3142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5400" dirty="0"/>
              <a:t>А </a:t>
            </a:r>
            <a:r>
              <a:rPr lang="sr-Latn-RS" sz="5400" i="1" dirty="0">
                <a:solidFill>
                  <a:srgbClr val="FF0000"/>
                </a:solidFill>
              </a:rPr>
              <a:t>W</a:t>
            </a:r>
            <a:r>
              <a:rPr lang="sr-Latn-RS" sz="5400" i="1" dirty="0"/>
              <a:t> </a:t>
            </a:r>
            <a:r>
              <a:rPr lang="sr-Latn-RS" sz="5400" dirty="0"/>
              <a:t>A B B</a:t>
            </a:r>
            <a:r>
              <a:rPr lang="sr-Latn-RS" sz="5400" i="1" dirty="0"/>
              <a:t> 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5CB5D-A82C-421E-A738-7AD852D044B1}"/>
              </a:ext>
            </a:extLst>
          </p:cNvPr>
          <p:cNvSpPr txBox="1"/>
          <p:nvPr/>
        </p:nvSpPr>
        <p:spPr>
          <a:xfrm>
            <a:off x="10702674" y="868217"/>
            <a:ext cx="906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5400" i="1" dirty="0">
                <a:solidFill>
                  <a:srgbClr val="FF0000"/>
                </a:solidFill>
              </a:rPr>
              <a:t>W</a:t>
            </a:r>
            <a:endParaRPr lang="en-US" sz="5400" i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D7334A-BB60-4A17-A877-0561C603F5B2}"/>
              </a:ext>
            </a:extLst>
          </p:cNvPr>
          <p:cNvCxnSpPr>
            <a:cxnSpLocks/>
          </p:cNvCxnSpPr>
          <p:nvPr/>
        </p:nvCxnSpPr>
        <p:spPr>
          <a:xfrm>
            <a:off x="5335399" y="4066834"/>
            <a:ext cx="156874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A74F80-E9BE-4B07-A67F-4784E2F5A6D9}"/>
              </a:ext>
            </a:extLst>
          </p:cNvPr>
          <p:cNvSpPr txBox="1"/>
          <p:nvPr/>
        </p:nvSpPr>
        <p:spPr>
          <a:xfrm>
            <a:off x="7469867" y="3605169"/>
            <a:ext cx="29258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5400" dirty="0"/>
              <a:t>А </a:t>
            </a:r>
            <a:r>
              <a:rPr lang="sr-Latn-RS" sz="5400" dirty="0">
                <a:solidFill>
                  <a:srgbClr val="FF0000"/>
                </a:solidFill>
              </a:rPr>
              <a:t>A</a:t>
            </a:r>
            <a:r>
              <a:rPr lang="sr-Latn-RS" sz="5400" i="1" dirty="0"/>
              <a:t> </a:t>
            </a:r>
            <a:r>
              <a:rPr lang="sr-Latn-RS" sz="5400" dirty="0"/>
              <a:t>A B B</a:t>
            </a:r>
            <a:r>
              <a:rPr lang="sr-Latn-RS" sz="5400" i="1" dirty="0"/>
              <a:t> </a:t>
            </a:r>
            <a:endParaRPr lang="en-US" sz="5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B65E2-4004-4E19-9F0E-8C81F56BB2F9}"/>
              </a:ext>
            </a:extLst>
          </p:cNvPr>
          <p:cNvSpPr txBox="1"/>
          <p:nvPr/>
        </p:nvSpPr>
        <p:spPr>
          <a:xfrm>
            <a:off x="7826928" y="4672668"/>
            <a:ext cx="199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dirty="0"/>
              <a:t>префикс дужине 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E50B4-0753-4B38-9C8C-BC827A9CB907}"/>
              </a:ext>
            </a:extLst>
          </p:cNvPr>
          <p:cNvSpPr txBox="1"/>
          <p:nvPr/>
        </p:nvSpPr>
        <p:spPr>
          <a:xfrm>
            <a:off x="2097248" y="4672668"/>
            <a:ext cx="199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dirty="0"/>
              <a:t>префикс дужине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04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8F1B-5282-416B-ADC5-89B724D5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ПОЗИЦИОНО ИНВАРИЈАНТНИ ТОКЕН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E2759-B224-4F25-ACE1-F37FEA19C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866" y="1807003"/>
            <a:ext cx="10058400" cy="81439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Уместо да се посматра дуж </a:t>
            </a:r>
            <a:r>
              <a:rPr lang="sr-Cyrl-RS" sz="2400" dirty="0" err="1"/>
              <a:t>евалуационих</a:t>
            </a:r>
            <a:r>
              <a:rPr lang="sr-Cyrl-RS" sz="2400" dirty="0"/>
              <a:t> путања, евалуација зависи од укупног броја појављивања у целом видљивом прозору.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17691-3B47-4C2B-ADCA-1389C74DD0B2}"/>
              </a:ext>
            </a:extLst>
          </p:cNvPr>
          <p:cNvSpPr txBox="1"/>
          <p:nvPr/>
        </p:nvSpPr>
        <p:spPr>
          <a:xfrm>
            <a:off x="11224470" y="814030"/>
            <a:ext cx="4972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5400" i="1" dirty="0">
                <a:solidFill>
                  <a:srgbClr val="FF0000"/>
                </a:solidFill>
              </a:rPr>
              <a:t>S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892ED-59D8-4D7F-89C9-8385BBEB4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810" y="4861000"/>
            <a:ext cx="1157643" cy="1157643"/>
          </a:xfrm>
          <a:prstGeom prst="rect">
            <a:avLst/>
          </a:prstGeom>
        </p:spPr>
      </p:pic>
      <p:pic>
        <p:nvPicPr>
          <p:cNvPr id="6" name="Picture 5" descr="lemon - download free icon Classic Slot Machine Icons on Artage.io">
            <a:extLst>
              <a:ext uri="{FF2B5EF4-FFF2-40B4-BE49-F238E27FC236}">
                <a16:creationId xmlns:a16="http://schemas.microsoft.com/office/drawing/2014/main" id="{37BD358D-B472-4B02-AF00-AA528BE0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332" y="5090854"/>
            <a:ext cx="697934" cy="69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54E36C-8FCA-4FEA-9954-22DC558F19F4}"/>
              </a:ext>
            </a:extLst>
          </p:cNvPr>
          <p:cNvSpPr txBox="1"/>
          <p:nvPr/>
        </p:nvSpPr>
        <p:spPr>
          <a:xfrm>
            <a:off x="1936399" y="2897553"/>
            <a:ext cx="718466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i="1" dirty="0">
                <a:solidFill>
                  <a:srgbClr val="FF0000"/>
                </a:solidFill>
              </a:rPr>
              <a:t>S</a:t>
            </a:r>
          </a:p>
          <a:p>
            <a:r>
              <a:rPr lang="sr-Latn-RS" sz="6600" dirty="0"/>
              <a:t>G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B9CD6-6E81-4B27-9804-2830BA1D3BAB}"/>
              </a:ext>
            </a:extLst>
          </p:cNvPr>
          <p:cNvSpPr txBox="1"/>
          <p:nvPr/>
        </p:nvSpPr>
        <p:spPr>
          <a:xfrm>
            <a:off x="3171079" y="2897553"/>
            <a:ext cx="71205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H</a:t>
            </a:r>
          </a:p>
          <a:p>
            <a:r>
              <a:rPr lang="sr-Latn-RS" sz="6600" dirty="0"/>
              <a:t>H</a:t>
            </a:r>
          </a:p>
          <a:p>
            <a:r>
              <a:rPr lang="sr-Latn-RS" sz="6600" i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1F31B-DDE5-4E19-92B5-7151B8F5BA25}"/>
              </a:ext>
            </a:extLst>
          </p:cNvPr>
          <p:cNvSpPr txBox="1"/>
          <p:nvPr/>
        </p:nvSpPr>
        <p:spPr>
          <a:xfrm>
            <a:off x="4415377" y="2897553"/>
            <a:ext cx="6238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K</a:t>
            </a:r>
          </a:p>
          <a:p>
            <a:r>
              <a:rPr lang="sr-Latn-RS" sz="6600" i="1" dirty="0">
                <a:solidFill>
                  <a:srgbClr val="FF0000"/>
                </a:solidFill>
              </a:rPr>
              <a:t>S</a:t>
            </a:r>
            <a:endParaRPr lang="en-US" sz="6600" i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3D1309-4521-475A-A480-C168D5A94AA4}"/>
              </a:ext>
            </a:extLst>
          </p:cNvPr>
          <p:cNvCxnSpPr>
            <a:cxnSpLocks/>
          </p:cNvCxnSpPr>
          <p:nvPr/>
        </p:nvCxnSpPr>
        <p:spPr>
          <a:xfrm>
            <a:off x="5738070" y="4310114"/>
            <a:ext cx="156874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868770-5B76-400B-A012-424914E74E95}"/>
              </a:ext>
            </a:extLst>
          </p:cNvPr>
          <p:cNvSpPr txBox="1"/>
          <p:nvPr/>
        </p:nvSpPr>
        <p:spPr>
          <a:xfrm>
            <a:off x="8128932" y="3682604"/>
            <a:ext cx="17459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3 x </a:t>
            </a:r>
            <a:r>
              <a:rPr lang="sr-Latn-RS" sz="6600" i="1" dirty="0">
                <a:solidFill>
                  <a:srgbClr val="FF0000"/>
                </a:solidFill>
              </a:rPr>
              <a:t>S</a:t>
            </a:r>
            <a:endParaRPr lang="en-US" sz="6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2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96F1-A9AE-4B8A-99A5-345E020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ЕВАЛУАЦИОНА ФУНКЦИЈА И ТАБЕЛА ИЗЛАЗНИХ ВРЕДНОСТИ ТОКЕНА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CD496-33AE-49E8-AC7A-F2AE84BD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Најчешћи модел евалуације функционише тако што се евалуациона секвенца чита са лева на десно и тражи се најдужи непрекидни низ истог токена на почетку секвенце.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3D3-5B5C-4575-B224-4697E1CA2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721353"/>
              </p:ext>
            </p:extLst>
          </p:nvPr>
        </p:nvGraphicFramePr>
        <p:xfrm>
          <a:off x="1960229" y="3162651"/>
          <a:ext cx="8271542" cy="2961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7414">
                  <a:extLst>
                    <a:ext uri="{9D8B030D-6E8A-4147-A177-3AD203B41FA5}">
                      <a16:colId xmlns:a16="http://schemas.microsoft.com/office/drawing/2014/main" val="598228385"/>
                    </a:ext>
                  </a:extLst>
                </a:gridCol>
                <a:gridCol w="2067414">
                  <a:extLst>
                    <a:ext uri="{9D8B030D-6E8A-4147-A177-3AD203B41FA5}">
                      <a16:colId xmlns:a16="http://schemas.microsoft.com/office/drawing/2014/main" val="2962483508"/>
                    </a:ext>
                  </a:extLst>
                </a:gridCol>
                <a:gridCol w="2068357">
                  <a:extLst>
                    <a:ext uri="{9D8B030D-6E8A-4147-A177-3AD203B41FA5}">
                      <a16:colId xmlns:a16="http://schemas.microsoft.com/office/drawing/2014/main" val="2528843128"/>
                    </a:ext>
                  </a:extLst>
                </a:gridCol>
                <a:gridCol w="2068357">
                  <a:extLst>
                    <a:ext uri="{9D8B030D-6E8A-4147-A177-3AD203B41FA5}">
                      <a16:colId xmlns:a16="http://schemas.microsoft.com/office/drawing/2014/main" val="597597588"/>
                    </a:ext>
                  </a:extLst>
                </a:gridCol>
              </a:tblGrid>
              <a:tr h="59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Токен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3 узастопна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4 узастопна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5 узастопна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7077574"/>
                  </a:ext>
                </a:extLst>
              </a:tr>
              <a:tr h="59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А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20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097591"/>
                  </a:ext>
                </a:extLst>
              </a:tr>
              <a:tr h="59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10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50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0684503"/>
                  </a:ext>
                </a:extLst>
              </a:tr>
              <a:tr h="59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20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5136321"/>
                  </a:ext>
                </a:extLst>
              </a:tr>
              <a:tr h="59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>
                          <a:effectLst/>
                        </a:rPr>
                        <a:t>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sr-Cyrl-RS" sz="2400" dirty="0">
                          <a:effectLst/>
                        </a:rPr>
                        <a:t>10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761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669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DE10-4087-41D0-AE2C-F5E2F28B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ЕВАЛУАЦИОНА ФУНКЦИЈА И ТАБЕЛА ИЗЛАЗНИХ ВРЕДНОСТИ ТОКЕНА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E553-15F7-4F11-B059-D803B5C3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EDE8A-2F5E-4F65-914C-D238E900B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30" y="1845734"/>
            <a:ext cx="75057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49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D8CC-2B75-4B8F-B16F-6232930B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УЛАЗНО-ИЗЛАЗНИ ОДНОС СИСТЕМА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8B6F1-9792-46BB-A650-D0FEE46DA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45075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Теоријска величина која изражава однос просечене очекиване излазне вредности великог броја итерација у односу на улазну вредност.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Ако је </a:t>
            </a:r>
            <a:r>
              <a:rPr lang="sr-Latn-RS" sz="2400" i="1" dirty="0"/>
              <a:t>Vi</a:t>
            </a:r>
            <a:r>
              <a:rPr lang="sr-Cyrl-RS" sz="2400" dirty="0"/>
              <a:t> једна итерација система, онда је улазно излазни однос: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1E6C1-D853-49D9-BC5B-136FB021F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308" y="3495902"/>
            <a:ext cx="6114433" cy="249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22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575D-F43E-4C04-A585-618B35452E54}"/>
              </a:ext>
            </a:extLst>
          </p:cNvPr>
          <p:cNvSpPr txBox="1">
            <a:spLocks/>
          </p:cNvSpPr>
          <p:nvPr/>
        </p:nvSpPr>
        <p:spPr>
          <a:xfrm>
            <a:off x="1066800" y="1645920"/>
            <a:ext cx="10058400" cy="3566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r-Cyrl-RS" sz="6600" dirty="0"/>
              <a:t>КОНСТРУКЦИЈА ГЕНЕРАТИВНЕ МАТРИЦЕ СА КОНТРОЛИСАНИМ УЛАЗНО-ИЗЛАЗНИМ ОДНОСОМ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226625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A358-00E6-41EF-9624-ACAF077B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ВЕРОВАТНОЋА ПОЈАВЉИВАЊА СТАНДАРДНИХ ТОКЕНА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6C405-14A4-4807-9877-43D564FFD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1845735"/>
            <a:ext cx="4937760" cy="1583266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Вероватноћа појављивања у једној колони: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Ако имамо дужину колоне </a:t>
            </a:r>
            <a:r>
              <a:rPr lang="sr-Latn-RS" sz="2400" i="1" dirty="0"/>
              <a:t>L</a:t>
            </a:r>
            <a:r>
              <a:rPr lang="sr-Latn-RS" sz="2400" dirty="0"/>
              <a:t> </a:t>
            </a:r>
            <a:r>
              <a:rPr lang="sr-Cyrl-RS" sz="2400" dirty="0"/>
              <a:t>и број појављивања једног </a:t>
            </a:r>
            <a:r>
              <a:rPr lang="sr-Cyrl-RS" sz="2400" dirty="0" err="1"/>
              <a:t>токена</a:t>
            </a:r>
            <a:r>
              <a:rPr lang="sr-Cyrl-RS" sz="2400" dirty="0"/>
              <a:t> </a:t>
            </a:r>
            <a:r>
              <a:rPr lang="sr-Latn-RS" sz="2400" i="1" dirty="0"/>
              <a:t>n</a:t>
            </a:r>
            <a:r>
              <a:rPr lang="sr-Cyrl-RS" sz="2400" dirty="0"/>
              <a:t>, онда је вероватноћа: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F4F6D-ADF4-46B8-A86E-5E127CCBB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3162493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200" dirty="0"/>
              <a:t>Вероватноћа појављивања у свих </a:t>
            </a:r>
            <a:r>
              <a:rPr lang="sr-Latn-RS" sz="2200" i="1" dirty="0"/>
              <a:t>n</a:t>
            </a:r>
            <a:r>
              <a:rPr lang="sr-Latn-RS" sz="2200" dirty="0"/>
              <a:t> </a:t>
            </a:r>
            <a:r>
              <a:rPr lang="sr-Cyrl-RS" sz="2200" dirty="0"/>
              <a:t>колона:</a:t>
            </a:r>
            <a:endParaRPr lang="sr-Latn-RS" sz="2200" dirty="0"/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200" dirty="0"/>
              <a:t>Вероватноћа појављивања у тачно </a:t>
            </a:r>
            <a:r>
              <a:rPr lang="sr-Latn-R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sr-Cyrl-RS" sz="2200" dirty="0">
                <a:cs typeface="Times New Roman" panose="02020603050405020304" pitchFamily="18" charset="0"/>
              </a:rPr>
              <a:t>колона: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7FF959-ACFE-44C8-954B-F60DB57F79DA}"/>
                  </a:ext>
                </a:extLst>
              </p:cNvPr>
              <p:cNvSpPr txBox="1"/>
              <p:nvPr/>
            </p:nvSpPr>
            <p:spPr>
              <a:xfrm>
                <a:off x="1224793" y="3531765"/>
                <a:ext cx="4530055" cy="11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r-Latn-R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sr-Latn-R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r-Latn-R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sr-Latn-RS" sz="4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7FF959-ACFE-44C8-954B-F60DB57F7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793" y="3531765"/>
                <a:ext cx="4530055" cy="1142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026541-E872-411D-B75E-70249517FCBC}"/>
                  </a:ext>
                </a:extLst>
              </p:cNvPr>
              <p:cNvSpPr txBox="1"/>
              <p:nvPr/>
            </p:nvSpPr>
            <p:spPr>
              <a:xfrm>
                <a:off x="7340368" y="2390862"/>
                <a:ext cx="1737975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r-Latn-R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sr-Latn-R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026541-E872-411D-B75E-70249517F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368" y="2390862"/>
                <a:ext cx="1737975" cy="1176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CCAEE7-51AB-4DD3-9B20-1589D87F71F4}"/>
                  </a:ext>
                </a:extLst>
              </p:cNvPr>
              <p:cNvSpPr txBox="1"/>
              <p:nvPr/>
            </p:nvSpPr>
            <p:spPr>
              <a:xfrm>
                <a:off x="6576600" y="4613264"/>
                <a:ext cx="4848763" cy="1220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r-Latn-R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sr-Latn-R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sr-Latn-R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/>
                            <m:t>⋅</m:t>
                          </m:r>
                          <m:r>
                            <m:rPr>
                              <m:nor/>
                            </m:rPr>
                            <a:rPr lang="sr-Latn-RS" sz="2800" b="0" i="0" smtClean="0"/>
                            <m:t> </m:t>
                          </m:r>
                          <m:d>
                            <m:dPr>
                              <m:ctrlPr>
                                <a:rPr lang="sr-Latn-R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sr-Latn-R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R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sr-Latn-R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sr-Latn-R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sr-Latn-R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sr-Latn-R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sr-Latn-R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sr-Latn-R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CCAEE7-51AB-4DD3-9B20-1589D87F7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600" y="4613264"/>
                <a:ext cx="4848763" cy="1220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747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3A81-6D12-4789-B0D9-33D89873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ОЧЕКИВАНА ИЗЛАЗНА ВРЕДНОСТ СИСТЕМА ЗА СТАНДАРДНЕ ТОКЕНЕ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0CE66-F831-45CD-B043-7FD73CDA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52787"/>
            <a:ext cx="10058400" cy="4725663"/>
          </a:xfrm>
        </p:spPr>
        <p:txBody>
          <a:bodyPr>
            <a:normAutofit fontScale="85000" lnSpcReduction="20000"/>
          </a:bodyPr>
          <a:lstStyle/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/>
              <a:t>Пример, нека за токен А важе вероватноће појављивања:</a:t>
            </a:r>
          </a:p>
          <a:p>
            <a:pPr marL="292608"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(p₁(A), p₂(A), p₃(A), p₄(A), p₅(A)) = (0.15, 0.12, 0.10, 0.14, 0.11)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и нека су излазне вредности токена</a:t>
            </a:r>
            <a:r>
              <a:rPr lang="sr-Cyrl-RS" sz="2300" dirty="0">
                <a:ea typeface="Times New Roman" panose="02020603050405020304" pitchFamily="18" charset="0"/>
                <a:cs typeface="Times New Roman" panose="02020603050405020304" pitchFamily="18" charset="0"/>
              </a:rPr>
              <a:t> А: </a:t>
            </a:r>
            <a:endParaRPr lang="sr-Cyrl-RS" sz="23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608"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f(A, 3) = </a:t>
            </a:r>
            <a:r>
              <a:rPr lang="sr-Cyrl-RS" sz="23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f(A, 4) = </a:t>
            </a:r>
            <a:r>
              <a:rPr lang="sr-Cyrl-RS" sz="23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и f(A, 5) = </a:t>
            </a:r>
            <a:r>
              <a:rPr lang="sr-Cyrl-RS" sz="23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a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ада је:</a:t>
            </a:r>
            <a:endParaRPr lang="en-US" sz="2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2608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sr-Cyrl-RS" sz="23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sr-Cyrl-RS" sz="2300" baseline="-25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 3) = 0.15 × 0.12 × 0.10 × (1 − 0.14) = 0.001548</a:t>
            </a:r>
            <a:endParaRPr lang="en-US" sz="2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2608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sr-Cyrl-RS" sz="23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sr-Cyrl-RS" sz="2300" baseline="-25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 4) = 0.15 × 0.12 × 0.10 × 0.14 × (1 − 0.11) ≈ 0.000224</a:t>
            </a:r>
            <a:endParaRPr lang="en-US" sz="2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2608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sr-Cyrl-RS" sz="23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sr-Cyrl-RS" sz="2300" baseline="-25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 5) = 0.15 × 0.12 × 0.10 × 0.14 × 0.11 ≈ 0.0000277</a:t>
            </a:r>
            <a:endParaRPr lang="en-US" sz="2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r-Cyrl-RS" sz="23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Допринос токена А ≈ 5 × 0.001548 + 20 × 0.000224 + 100 × 0.0000277 ≈ 0.01499</a:t>
            </a:r>
            <a:endParaRPr lang="en-US" sz="2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80A8B7-E5E7-4F86-9E7C-C76FE7B95443}"/>
                  </a:ext>
                </a:extLst>
              </p:cNvPr>
              <p:cNvSpPr txBox="1"/>
              <p:nvPr/>
            </p:nvSpPr>
            <p:spPr>
              <a:xfrm>
                <a:off x="2887910" y="1737360"/>
                <a:ext cx="6094602" cy="1180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sr-Latn-R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r-Latn-R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r-Latn-R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𝑡𝑜𝑘𝑒𝑛</m:t>
                              </m:r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sr-Latn-R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sz="24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sr-Cyrl-R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80A8B7-E5E7-4F86-9E7C-C76FE7B95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10" y="1737360"/>
                <a:ext cx="6094602" cy="1180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819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5348-4B25-43BB-96E8-8020156C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ФАЗЕ КОНСТРУКЦИЈЕ ГЕНЕРАТИВНЕ МАТРИЦЕ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9404-F8E0-4B81-A4A5-D81377ED4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r-Latn-R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sr-Cyrl-RS" sz="2400" dirty="0">
                <a:solidFill>
                  <a:schemeClr val="accent1"/>
                </a:solidFill>
              </a:rPr>
              <a:t>1) </a:t>
            </a:r>
            <a:r>
              <a:rPr lang="sr-Cyrl-RS" sz="2400" dirty="0"/>
              <a:t>Проналажење оптималних густина стандардних токена – ОПТИМИЗАЦИЈА.</a:t>
            </a:r>
          </a:p>
          <a:p>
            <a:pPr marL="0" indent="0">
              <a:buNone/>
            </a:pPr>
            <a:endParaRPr lang="sr-Cyrl-RS" sz="2400" dirty="0"/>
          </a:p>
          <a:p>
            <a:pPr marL="0" indent="0">
              <a:buNone/>
            </a:pPr>
            <a:r>
              <a:rPr lang="sr-Cyrl-RS" sz="2400" dirty="0">
                <a:solidFill>
                  <a:schemeClr val="accent1"/>
                </a:solidFill>
              </a:rPr>
              <a:t>2) </a:t>
            </a:r>
            <a:r>
              <a:rPr lang="sr-Cyrl-RS" sz="2400" dirty="0"/>
              <a:t>Претварање пронађених густина у целе бројеве – ДИСКРЕТИЗАЦИЈА.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 marL="0" indent="0">
              <a:buNone/>
            </a:pPr>
            <a:r>
              <a:rPr lang="sr-Cyrl-RS" sz="2400" dirty="0">
                <a:solidFill>
                  <a:schemeClr val="accent1"/>
                </a:solidFill>
              </a:rPr>
              <a:t>3) </a:t>
            </a:r>
            <a:r>
              <a:rPr lang="sr-Cyrl-RS" sz="2400" dirty="0"/>
              <a:t>Додавање специјалних токена и прерачунавање.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 marL="0" indent="0">
              <a:buNone/>
            </a:pPr>
            <a:r>
              <a:rPr lang="sr-Cyrl-RS" sz="2400" dirty="0">
                <a:solidFill>
                  <a:schemeClr val="accent1"/>
                </a:solidFill>
              </a:rPr>
              <a:t>4)</a:t>
            </a:r>
            <a:r>
              <a:rPr lang="sr-Cyrl-RS" sz="2400" dirty="0"/>
              <a:t> Генерисање конкретне матрице са добијеним бројевима.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8585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A492-9BB6-4DC1-B1F2-BC1318C6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ОПТИМИЗАЦИЈА</a:t>
            </a:r>
            <a:r>
              <a:rPr lang="sr-Latn-RS" dirty="0"/>
              <a:t> - SLSQP</a:t>
            </a:r>
            <a:endParaRPr lang="en-US" dirty="0"/>
          </a:p>
        </p:txBody>
      </p:sp>
      <p:pic>
        <p:nvPicPr>
          <p:cNvPr id="1026" name="Picture 2" descr="differential equations - Generate a smooth random function (2D curve) with  endpoints specification? - Mathematica Stack Exchange">
            <a:extLst>
              <a:ext uri="{FF2B5EF4-FFF2-40B4-BE49-F238E27FC236}">
                <a16:creationId xmlns:a16="http://schemas.microsoft.com/office/drawing/2014/main" id="{A8E84505-89A5-4B45-93E2-46F97BE31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81" y="1823550"/>
            <a:ext cx="7027993" cy="441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CE7F13-7816-40F0-B7A1-B973849BA1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4011" y="1823550"/>
                <a:ext cx="4596608" cy="102501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 xmlns:m="http://schemas.openxmlformats.org/officeDocument/2006/math">
                    <m:r>
                      <a:rPr lang="sr-Latn-RS" sz="44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sr-Latn-RS" sz="440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sr-Latn-RS" sz="4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sr-Latn-R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4400"/>
                              <m:t>ρ</m:t>
                            </m:r>
                          </m:e>
                          <m:sub>
                            <m:r>
                              <a:rPr lang="sr-Latn-RS" sz="4400" i="1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b>
                        </m:sSub>
                        <m:r>
                          <a:rPr lang="sr-Latn-RS" sz="4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sr-Latn-RS" sz="4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sz="4400"/>
                              <m:t>ρ</m:t>
                            </m:r>
                          </m:e>
                          <m:sup>
                            <m:r>
                              <a:rPr lang="sr-Latn-RS" sz="4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sr-Latn-RS" sz="4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sr-Latn-RS" sz="4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7CE7F13-7816-40F0-B7A1-B973849BA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011" y="1823550"/>
                <a:ext cx="4596608" cy="1025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D559493-944F-4A8F-BBC9-417D8A3EABD9}"/>
              </a:ext>
            </a:extLst>
          </p:cNvPr>
          <p:cNvSpPr txBox="1"/>
          <p:nvPr/>
        </p:nvSpPr>
        <p:spPr>
          <a:xfrm>
            <a:off x="7396264" y="3265490"/>
            <a:ext cx="479573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sr-Cyrl-RS" sz="2000" dirty="0"/>
              <a:t>Увек позитивно одступање: </a:t>
            </a:r>
          </a:p>
          <a:p>
            <a:pPr marL="8001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sr-Cyrl-RS" sz="2000" dirty="0"/>
              <a:t>Без квадрата би било: </a:t>
            </a:r>
            <a:r>
              <a:rPr lang="sr-Cyrl-RS" sz="2000" b="1" dirty="0"/>
              <a:t>(94 - 96) = -2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sr-Cyrl-RS" sz="2000" b="1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sr-Cyrl-RS" sz="2000" dirty="0"/>
              <a:t>Кажњавање великих одступања: </a:t>
            </a:r>
          </a:p>
          <a:p>
            <a:pPr marL="8001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sr-Cyrl-RS" sz="2000" dirty="0"/>
              <a:t>Одступање: </a:t>
            </a:r>
            <a:r>
              <a:rPr lang="sr-Cyrl-RS" sz="2000" b="1" dirty="0"/>
              <a:t>5 -</a:t>
            </a:r>
            <a:r>
              <a:rPr lang="en-US" sz="2000" b="1" dirty="0"/>
              <a:t>&gt; 25</a:t>
            </a:r>
            <a:endParaRPr lang="sr-Cyrl-RS" sz="2000" b="1" dirty="0"/>
          </a:p>
          <a:p>
            <a:pPr marL="8001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sr-Cyrl-RS" sz="2000" b="1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sr-Cyrl-RS" sz="2000" dirty="0"/>
              <a:t>Награђивање малих одступања:</a:t>
            </a:r>
          </a:p>
          <a:p>
            <a:pPr marL="8001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sr-Cyrl-RS" sz="2000" dirty="0"/>
              <a:t>Одступање: </a:t>
            </a:r>
            <a:r>
              <a:rPr lang="sr-Cyrl-RS" sz="2000" b="1" dirty="0"/>
              <a:t>0.1 -</a:t>
            </a:r>
            <a:r>
              <a:rPr lang="en-US" sz="2000" b="1" dirty="0"/>
              <a:t>&gt; 0.01</a:t>
            </a:r>
            <a:endParaRPr lang="sr-Cyrl-RS" sz="2000" dirty="0"/>
          </a:p>
        </p:txBody>
      </p:sp>
    </p:spTree>
    <p:extLst>
      <p:ext uri="{BB962C8B-B14F-4D97-AF65-F5344CB8AC3E}">
        <p14:creationId xmlns:p14="http://schemas.microsoft.com/office/powerpoint/2010/main" val="366649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889D-D71D-459F-A30C-03589E21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ДИСКРЕТИЗАЦИЈА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C8AB3-E855-4320-B0BB-F005D262E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67561"/>
            <a:ext cx="10058400" cy="452151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600" dirty="0"/>
              <a:t>Дискретизација је потребна зато што алгоритмом оптимизације добијамо вероватноће појављивања токена у реалном бројном систему. Пример:</a:t>
            </a:r>
            <a:endParaRPr lang="sr-Latn-R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600" dirty="0"/>
              <a:t>Оптимална вероватноћа појављивања за токен </a:t>
            </a:r>
            <a:r>
              <a:rPr lang="sr-Cyrl-RS" sz="2600" b="1" dirty="0"/>
              <a:t>А = 0.33333</a:t>
            </a:r>
            <a:r>
              <a:rPr lang="sr-Cyrl-RS" sz="2600" dirty="0"/>
              <a:t>, не можемо у цикличној токен секвенци да имамо </a:t>
            </a:r>
            <a:r>
              <a:rPr lang="sr-Cyrl-RS" sz="2600" b="1" dirty="0"/>
              <a:t>33,333</a:t>
            </a:r>
            <a:r>
              <a:rPr lang="sr-Cyrl-RS" sz="2600" dirty="0"/>
              <a:t> токена 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sz="2600" dirty="0"/>
              <a:t>Треба да нађемо дужину токен секвенце која се најбоље уклапа за дату вероватноћу.</a:t>
            </a:r>
            <a:endParaRPr lang="sr-Latn-R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600" dirty="0"/>
              <a:t>Пошто овај проблем има бесконачно много решења ми тражимо најбоље решење за одређени распон дужина цикличних токен секвенци</a:t>
            </a:r>
            <a:r>
              <a:rPr lang="sr-Latn-RS" sz="2600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865F3-9F06-4E72-AC5F-B4234481DDC7}"/>
              </a:ext>
            </a:extLst>
          </p:cNvPr>
          <p:cNvSpPr txBox="1"/>
          <p:nvPr/>
        </p:nvSpPr>
        <p:spPr>
          <a:xfrm>
            <a:off x="4774734" y="5490439"/>
            <a:ext cx="2642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600" b="1" dirty="0"/>
              <a:t>[</a:t>
            </a:r>
            <a:r>
              <a:rPr lang="sr-Latn-RS" sz="3600" b="1" i="1" dirty="0"/>
              <a:t>Lmin, Lmax</a:t>
            </a:r>
            <a:r>
              <a:rPr lang="sr-Latn-RS" sz="3600" b="1" dirty="0"/>
              <a:t>]</a:t>
            </a:r>
            <a:endParaRPr lang="sr-Cyrl-RS" sz="3600" b="1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77649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B088-E0FA-49A9-A0DD-15F76A0C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ДИСКРЕТИЗАЦИЈА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8771C-915C-4741-975C-064431385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37360"/>
            <a:ext cx="10058400" cy="466412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Налазимо колико треба сваки токен да се појави за одређено </a:t>
            </a:r>
            <a:r>
              <a:rPr lang="sr-Latn-RS" sz="2400" i="1" dirty="0"/>
              <a:t>L</a:t>
            </a:r>
            <a:r>
              <a:rPr lang="sr-Cyrl-RS" sz="2400" i="1" dirty="0"/>
              <a:t> </a:t>
            </a:r>
            <a:r>
              <a:rPr lang="sr-Cyrl-RS" sz="2400" dirty="0"/>
              <a:t>по формули: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На пример </a:t>
            </a:r>
            <a:r>
              <a:rPr lang="ru-RU" sz="2400" dirty="0"/>
              <a:t>за L = 97 и p = 0.45 добијамо e = 43.65 и узимамо цео део тог броја односно </a:t>
            </a:r>
            <a:r>
              <a:rPr lang="ru-RU" sz="2400" b="1" dirty="0"/>
              <a:t>43</a:t>
            </a:r>
            <a:r>
              <a:rPr lang="ru-RU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Пошто смо за сваки токен узимали цео број остају нам празна места која се попуњавају токенима тако да одступање буде што веће</a:t>
            </a:r>
            <a:r>
              <a:rPr lang="sr-Latn-RS" sz="2400" dirty="0"/>
              <a:t> </a:t>
            </a:r>
            <a:r>
              <a:rPr lang="sr-Cyrl-RS" sz="2400" dirty="0"/>
              <a:t>и</a:t>
            </a:r>
            <a:r>
              <a:rPr lang="ru-RU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u="sng" dirty="0"/>
              <a:t>Зашто што ве</a:t>
            </a:r>
            <a:r>
              <a:rPr lang="sr-Cyrl-RS" sz="2400" u="sng" dirty="0"/>
              <a:t>ће одступање за једно </a:t>
            </a:r>
            <a:r>
              <a:rPr lang="sr-Latn-RS" sz="2400" i="1" u="sng" dirty="0"/>
              <a:t>L</a:t>
            </a:r>
            <a:r>
              <a:rPr lang="sr-Latn-RS" sz="2400" u="sng" dirty="0"/>
              <a:t>?</a:t>
            </a:r>
            <a:endParaRPr lang="sr-Cyrl-RS" sz="2400" u="sng" dirty="0"/>
          </a:p>
          <a:p>
            <a:pPr>
              <a:buFont typeface="Arial" panose="020B0604020202020204" pitchFamily="34" charset="0"/>
              <a:buChar char="•"/>
            </a:pPr>
            <a:endParaRPr lang="sr-Cyrl-RS" sz="24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Овај процес се понавља за свако </a:t>
            </a:r>
            <a:r>
              <a:rPr lang="sr-Latn-RS" sz="2400" i="1" dirty="0"/>
              <a:t>L </a:t>
            </a:r>
            <a:r>
              <a:rPr lang="sr-Cyrl-RS" sz="2400" dirty="0"/>
              <a:t>из скупа и тражи се најбоље решење.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03C79-6038-4CB9-AB24-34DC7D52D4E7}"/>
              </a:ext>
            </a:extLst>
          </p:cNvPr>
          <p:cNvSpPr txBox="1"/>
          <p:nvPr/>
        </p:nvSpPr>
        <p:spPr>
          <a:xfrm>
            <a:off x="5217953" y="2357306"/>
            <a:ext cx="144462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eᵢ = L · pᵢ</a:t>
            </a:r>
            <a:endParaRPr lang="en-US" sz="2800" b="1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800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8FDF-55A9-4122-8D8B-13BA6C9A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УНИВЕРЗАЛНИ ЗАМЕНСКИ ТОКЕН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2868-DDC4-43CA-9451-1A469148C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79337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Додајемо тражени број </a:t>
            </a:r>
            <a:r>
              <a:rPr lang="sr-Cyrl-RS" sz="2400" dirty="0" err="1"/>
              <a:t>заменских</a:t>
            </a:r>
            <a:r>
              <a:rPr lang="sr-Cyrl-RS" sz="2400" dirty="0"/>
              <a:t> токена у пронађени скуп појављивања сваког стандардног </a:t>
            </a:r>
            <a:r>
              <a:rPr lang="sr-Cyrl-RS" sz="2400" dirty="0" err="1"/>
              <a:t>токека</a:t>
            </a:r>
            <a:r>
              <a:rPr lang="sr-Cyrl-R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sz="2400" dirty="0"/>
              <a:t>„Brute-force“</a:t>
            </a:r>
            <a:r>
              <a:rPr lang="sr-Cyrl-RS" sz="2400" dirty="0"/>
              <a:t> приступом испитујемо сваку могућу комбинацију стандардних и </a:t>
            </a:r>
            <a:r>
              <a:rPr lang="sr-Cyrl-RS" sz="2400" dirty="0" err="1"/>
              <a:t>заменских</a:t>
            </a:r>
            <a:r>
              <a:rPr lang="sr-Cyrl-RS" sz="2400" dirty="0"/>
              <a:t> токена и рачунамо вероватноћу појављивања комбинације и њену излазну вредност.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Тако укупну сабрану излазну вредност коју смо добили је нова излазна вредност матрице.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EFCB2-060A-49DA-83A0-A51F919426B3}"/>
              </a:ext>
            </a:extLst>
          </p:cNvPr>
          <p:cNvSpPr txBox="1"/>
          <p:nvPr/>
        </p:nvSpPr>
        <p:spPr>
          <a:xfrm>
            <a:off x="2625754" y="4639112"/>
            <a:ext cx="247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/>
              <a:t>А </a:t>
            </a:r>
            <a:r>
              <a:rPr lang="sr-Latn-RS" sz="3600" i="1" dirty="0">
                <a:solidFill>
                  <a:srgbClr val="FF0000"/>
                </a:solidFill>
              </a:rPr>
              <a:t>W</a:t>
            </a:r>
            <a:r>
              <a:rPr lang="sr-Latn-RS" sz="3600" dirty="0"/>
              <a:t> A B C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6C31E-483C-4D42-87C5-6D7605D13F7D}"/>
              </a:ext>
            </a:extLst>
          </p:cNvPr>
          <p:cNvSpPr txBox="1"/>
          <p:nvPr/>
        </p:nvSpPr>
        <p:spPr>
          <a:xfrm>
            <a:off x="6234418" y="4639111"/>
            <a:ext cx="247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/>
              <a:t>А</a:t>
            </a:r>
            <a:r>
              <a:rPr lang="sr-Latn-RS" sz="3600" dirty="0"/>
              <a:t> A </a:t>
            </a:r>
            <a:r>
              <a:rPr lang="sr-Latn-RS" sz="3600" i="1" dirty="0">
                <a:solidFill>
                  <a:srgbClr val="FF0000"/>
                </a:solidFill>
              </a:rPr>
              <a:t>W</a:t>
            </a:r>
            <a:r>
              <a:rPr lang="sr-Latn-RS" sz="3600" dirty="0"/>
              <a:t> B C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5D21E-50B7-4B59-B66F-CC49A3C00988}"/>
              </a:ext>
            </a:extLst>
          </p:cNvPr>
          <p:cNvSpPr txBox="1"/>
          <p:nvPr/>
        </p:nvSpPr>
        <p:spPr>
          <a:xfrm>
            <a:off x="4457350" y="5378740"/>
            <a:ext cx="247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/>
              <a:t>А</a:t>
            </a:r>
            <a:r>
              <a:rPr lang="sr-Latn-RS" sz="3600" dirty="0"/>
              <a:t> A A B C</a:t>
            </a:r>
            <a:endParaRPr lang="en-US" sz="3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7E736D-A719-49F3-8C57-E7A3DA722C3F}"/>
              </a:ext>
            </a:extLst>
          </p:cNvPr>
          <p:cNvCxnSpPr>
            <a:cxnSpLocks/>
          </p:cNvCxnSpPr>
          <p:nvPr/>
        </p:nvCxnSpPr>
        <p:spPr>
          <a:xfrm>
            <a:off x="3414319" y="5285442"/>
            <a:ext cx="822121" cy="4022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C2CDB8-604E-43D2-B8B1-1E8238BDBA2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509858" y="5285442"/>
            <a:ext cx="961936" cy="5029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756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B2EC-3776-4C20-B299-C656466E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ПОЗИЦИОНО</a:t>
            </a:r>
            <a:r>
              <a:rPr lang="sr-Latn-RS" dirty="0"/>
              <a:t>-</a:t>
            </a:r>
            <a:r>
              <a:rPr lang="sr-Cyrl-RS" dirty="0"/>
              <a:t>ИНВАРИЈАНТНИ ТОКЕН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CC2C-5044-4EBC-B2BD-69EF21C1A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0822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dirty="0"/>
              <a:t>Додаје се број </a:t>
            </a:r>
            <a:r>
              <a:rPr lang="sr-Cyrl-RS" dirty="0" err="1"/>
              <a:t>позиционо</a:t>
            </a:r>
            <a:r>
              <a:rPr lang="sr-Latn-RS" dirty="0"/>
              <a:t>-</a:t>
            </a:r>
            <a:r>
              <a:rPr lang="sr-Cyrl-RS" dirty="0"/>
              <a:t>инваријантних токена под претпоставком да не може више од једног да се појави у једној колони видљивог прозора и рачуна се вероватноћа појављивања:</a:t>
            </a: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  <a:p>
            <a:pPr>
              <a:buFont typeface="Arial" panose="020B0604020202020204" pitchFamily="34" charset="0"/>
              <a:buChar char="•"/>
            </a:pPr>
            <a:endParaRPr lang="sr-Latn-R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4646A2-285A-441E-AF60-BD29DE98CE11}"/>
                  </a:ext>
                </a:extLst>
              </p:cNvPr>
              <p:cNvSpPr txBox="1"/>
              <p:nvPr/>
            </p:nvSpPr>
            <p:spPr>
              <a:xfrm>
                <a:off x="4624781" y="3354447"/>
                <a:ext cx="2037674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sr-Latn-R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r-Latn-R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sr-Latn-R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r-Latn-R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sr-Latn-RS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/>
                            <m:t>⋅</m:t>
                          </m:r>
                          <m:r>
                            <m:rPr>
                              <m:nor/>
                            </m:rPr>
                            <a:rPr lang="sr-Latn-RS" sz="3200" b="0" i="0" smtClean="0"/>
                            <m:t> </m:t>
                          </m:r>
                          <m:r>
                            <a:rPr lang="sr-Latn-R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nor/>
                            </m:rPr>
                            <a:rPr lang="sr-Latn-RS" sz="3200" b="0" i="0" smtClean="0"/>
                            <m:t> </m:t>
                          </m:r>
                        </m:num>
                        <m:den>
                          <m:r>
                            <a:rPr lang="sr-Latn-R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4646A2-285A-441E-AF60-BD29DE98C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781" y="3354447"/>
                <a:ext cx="2037674" cy="840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8CA3EF6-FE85-4F69-8802-0215B7F0DCD8}"/>
              </a:ext>
            </a:extLst>
          </p:cNvPr>
          <p:cNvSpPr txBox="1"/>
          <p:nvPr/>
        </p:nvSpPr>
        <p:spPr>
          <a:xfrm>
            <a:off x="7877203" y="3465754"/>
            <a:ext cx="4106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dirty="0"/>
              <a:t>B</a:t>
            </a:r>
          </a:p>
          <a:p>
            <a:r>
              <a:rPr lang="sr-Latn-RS" sz="2800" dirty="0"/>
              <a:t>A</a:t>
            </a:r>
          </a:p>
          <a:p>
            <a:r>
              <a:rPr lang="sr-Latn-RS" sz="2800" i="1" dirty="0">
                <a:solidFill>
                  <a:srgbClr val="FF0000"/>
                </a:solidFill>
              </a:rPr>
              <a:t>S</a:t>
            </a:r>
          </a:p>
          <a:p>
            <a:r>
              <a:rPr lang="sr-Latn-RS" sz="2800" dirty="0"/>
              <a:t>G</a:t>
            </a:r>
          </a:p>
          <a:p>
            <a:endParaRPr lang="sr-Latn-RS" sz="3200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CEE540-EB1C-45DA-8EE7-9CA0863CD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690" y="5167819"/>
            <a:ext cx="598551" cy="598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A5C71C-5D05-46F5-A39E-0E7448E1A2C0}"/>
              </a:ext>
            </a:extLst>
          </p:cNvPr>
          <p:cNvSpPr txBox="1"/>
          <p:nvPr/>
        </p:nvSpPr>
        <p:spPr>
          <a:xfrm rot="5400000">
            <a:off x="7895446" y="3092837"/>
            <a:ext cx="56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...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BC735F-F9EF-4CC5-9B02-78FE10CF3B35}"/>
              </a:ext>
            </a:extLst>
          </p:cNvPr>
          <p:cNvSpPr txBox="1"/>
          <p:nvPr/>
        </p:nvSpPr>
        <p:spPr>
          <a:xfrm rot="5400000">
            <a:off x="7915580" y="5789467"/>
            <a:ext cx="56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...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4C2876-022C-4178-8AB9-38974169F9DD}"/>
              </a:ext>
            </a:extLst>
          </p:cNvPr>
          <p:cNvSpPr txBox="1"/>
          <p:nvPr/>
        </p:nvSpPr>
        <p:spPr>
          <a:xfrm>
            <a:off x="9050497" y="3465754"/>
            <a:ext cx="4106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dirty="0"/>
              <a:t>B</a:t>
            </a:r>
          </a:p>
          <a:p>
            <a:r>
              <a:rPr lang="sr-Latn-RS" sz="2800" dirty="0"/>
              <a:t>A</a:t>
            </a:r>
          </a:p>
          <a:p>
            <a:r>
              <a:rPr lang="sr-Latn-RS" sz="2800" i="1" dirty="0">
                <a:solidFill>
                  <a:srgbClr val="FF0000"/>
                </a:solidFill>
              </a:rPr>
              <a:t>S</a:t>
            </a:r>
          </a:p>
          <a:p>
            <a:r>
              <a:rPr lang="sr-Latn-RS" sz="2800" dirty="0"/>
              <a:t>G</a:t>
            </a:r>
          </a:p>
          <a:p>
            <a:endParaRPr lang="sr-Latn-RS" sz="3200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EEBB51-EDDC-44CC-808E-74D9BA090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100" y="5172341"/>
            <a:ext cx="598551" cy="5985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531B65-5914-4445-8733-60C220189069}"/>
              </a:ext>
            </a:extLst>
          </p:cNvPr>
          <p:cNvSpPr txBox="1"/>
          <p:nvPr/>
        </p:nvSpPr>
        <p:spPr>
          <a:xfrm rot="5400000">
            <a:off x="9068740" y="3092837"/>
            <a:ext cx="56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...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A9DF46-B732-4AD3-B424-0B1D5CB04A13}"/>
              </a:ext>
            </a:extLst>
          </p:cNvPr>
          <p:cNvSpPr txBox="1"/>
          <p:nvPr/>
        </p:nvSpPr>
        <p:spPr>
          <a:xfrm rot="5400000">
            <a:off x="9088874" y="5789467"/>
            <a:ext cx="56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...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3AD6D-D11C-41E1-9ECB-E5F3E685169B}"/>
              </a:ext>
            </a:extLst>
          </p:cNvPr>
          <p:cNvSpPr txBox="1"/>
          <p:nvPr/>
        </p:nvSpPr>
        <p:spPr>
          <a:xfrm>
            <a:off x="10226380" y="3465754"/>
            <a:ext cx="4106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dirty="0"/>
              <a:t>B</a:t>
            </a:r>
          </a:p>
          <a:p>
            <a:r>
              <a:rPr lang="sr-Latn-RS" sz="2800" dirty="0"/>
              <a:t>A</a:t>
            </a:r>
          </a:p>
          <a:p>
            <a:r>
              <a:rPr lang="sr-Latn-RS" sz="2800" i="1" dirty="0">
                <a:solidFill>
                  <a:srgbClr val="FF0000"/>
                </a:solidFill>
              </a:rPr>
              <a:t>S</a:t>
            </a:r>
          </a:p>
          <a:p>
            <a:r>
              <a:rPr lang="sr-Latn-RS" sz="2800" dirty="0"/>
              <a:t>G</a:t>
            </a:r>
          </a:p>
          <a:p>
            <a:endParaRPr lang="sr-Latn-RS" sz="3200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179DA2-F35F-47CF-9A44-EB3020941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449" y="5194980"/>
            <a:ext cx="598551" cy="5985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1869B9-B1AC-4D48-8EDC-89F4B39D1B9E}"/>
              </a:ext>
            </a:extLst>
          </p:cNvPr>
          <p:cNvSpPr txBox="1"/>
          <p:nvPr/>
        </p:nvSpPr>
        <p:spPr>
          <a:xfrm rot="5400000">
            <a:off x="10244623" y="3092837"/>
            <a:ext cx="56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...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1141FD-759C-45E8-BF4A-8BE3947B90ED}"/>
              </a:ext>
            </a:extLst>
          </p:cNvPr>
          <p:cNvSpPr txBox="1"/>
          <p:nvPr/>
        </p:nvSpPr>
        <p:spPr>
          <a:xfrm rot="5400000">
            <a:off x="10264757" y="5789467"/>
            <a:ext cx="56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...</a:t>
            </a:r>
            <a:endParaRPr lang="en-US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9F8FD0-3416-4AA0-9CC0-D7E40A05E8A9}"/>
              </a:ext>
            </a:extLst>
          </p:cNvPr>
          <p:cNvSpPr/>
          <p:nvPr/>
        </p:nvSpPr>
        <p:spPr>
          <a:xfrm>
            <a:off x="7881973" y="3598496"/>
            <a:ext cx="371283" cy="12071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A3F446-9BA1-4190-AD27-CADD5A5D3A41}"/>
              </a:ext>
            </a:extLst>
          </p:cNvPr>
          <p:cNvSpPr/>
          <p:nvPr/>
        </p:nvSpPr>
        <p:spPr>
          <a:xfrm>
            <a:off x="9066488" y="4018874"/>
            <a:ext cx="371283" cy="12071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56A81F-22AC-41A2-8CD4-DDC5FE4764EC}"/>
              </a:ext>
            </a:extLst>
          </p:cNvPr>
          <p:cNvSpPr/>
          <p:nvPr/>
        </p:nvSpPr>
        <p:spPr>
          <a:xfrm>
            <a:off x="10242858" y="4381192"/>
            <a:ext cx="371283" cy="13528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3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575D-F43E-4C04-A585-618B35452E54}"/>
              </a:ext>
            </a:extLst>
          </p:cNvPr>
          <p:cNvSpPr txBox="1">
            <a:spLocks/>
          </p:cNvSpPr>
          <p:nvPr/>
        </p:nvSpPr>
        <p:spPr>
          <a:xfrm>
            <a:off x="1066800" y="1645920"/>
            <a:ext cx="10058400" cy="3566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r-Cyrl-RS" sz="6600" dirty="0"/>
              <a:t>РЕКОНСТРУКЦИЈА ЦИКЛИЧНЕ ТОКЕН-СЕКВЕНЦЕ ПОМОЋУ ДЕ БРУЈНОВИХ ГРАФОВА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358868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0CEF-1774-473A-9D5A-D5EA7B48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ДЕФИНИЦИЈА МОДЕЛА</a:t>
            </a:r>
            <a:r>
              <a:rPr lang="sr-Latn-RS" dirty="0"/>
              <a:t> </a:t>
            </a:r>
            <a:r>
              <a:rPr lang="sr-Cyrl-RS" dirty="0"/>
              <a:t>И КАКО СЕ ПРАВИ 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9420E-5025-472C-A2CB-126B3B7EB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86391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Подсеквенце дужине </a:t>
            </a:r>
            <a:r>
              <a:rPr lang="sr-Latn-RS" sz="2400" i="1" dirty="0"/>
              <a:t>k</a:t>
            </a:r>
            <a:r>
              <a:rPr lang="sr-Latn-RS" sz="2400" dirty="0"/>
              <a:t> </a:t>
            </a:r>
            <a:r>
              <a:rPr lang="sr-Cyrl-RS" sz="2400" dirty="0"/>
              <a:t>разлажемо на 2 чвора префикса и суфикса </a:t>
            </a:r>
            <a:r>
              <a:rPr lang="sr-Latn-RS" sz="2400" i="1" dirty="0"/>
              <a:t>k-1</a:t>
            </a:r>
            <a:r>
              <a:rPr lang="sr-Cyrl-RS" sz="2400" dirty="0"/>
              <a:t>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E5474-57B5-4991-B5AC-3CC32B0C899C}"/>
              </a:ext>
            </a:extLst>
          </p:cNvPr>
          <p:cNvSpPr txBox="1"/>
          <p:nvPr/>
        </p:nvSpPr>
        <p:spPr>
          <a:xfrm>
            <a:off x="4660223" y="2799110"/>
            <a:ext cx="1770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4000" dirty="0"/>
              <a:t>А</a:t>
            </a:r>
            <a:r>
              <a:rPr lang="sr-Latn-RS" sz="4000" dirty="0"/>
              <a:t> B C</a:t>
            </a:r>
            <a:endParaRPr lang="en-US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D3E897-FF66-4D37-911D-8FA882587E28}"/>
              </a:ext>
            </a:extLst>
          </p:cNvPr>
          <p:cNvCxnSpPr>
            <a:cxnSpLocks/>
          </p:cNvCxnSpPr>
          <p:nvPr/>
        </p:nvCxnSpPr>
        <p:spPr>
          <a:xfrm>
            <a:off x="4776411" y="3506996"/>
            <a:ext cx="5429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A511BE-103C-4340-B6FD-C45D8787C871}"/>
              </a:ext>
            </a:extLst>
          </p:cNvPr>
          <p:cNvCxnSpPr>
            <a:cxnSpLocks/>
          </p:cNvCxnSpPr>
          <p:nvPr/>
        </p:nvCxnSpPr>
        <p:spPr>
          <a:xfrm>
            <a:off x="5192785" y="3445778"/>
            <a:ext cx="59282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0E6F76D-4858-4E41-ABBA-6B77F123DF9D}"/>
              </a:ext>
            </a:extLst>
          </p:cNvPr>
          <p:cNvSpPr/>
          <p:nvPr/>
        </p:nvSpPr>
        <p:spPr>
          <a:xfrm>
            <a:off x="3145871" y="4148357"/>
            <a:ext cx="1199626" cy="1208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A B</a:t>
            </a:r>
            <a:endParaRPr lang="en-US" sz="3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BD5BF4-E5EE-43EB-A177-1E6C24EADB36}"/>
              </a:ext>
            </a:extLst>
          </p:cNvPr>
          <p:cNvSpPr/>
          <p:nvPr/>
        </p:nvSpPr>
        <p:spPr>
          <a:xfrm>
            <a:off x="6293141" y="4148357"/>
            <a:ext cx="1199626" cy="1208015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B C</a:t>
            </a:r>
            <a:endParaRPr lang="en-US" sz="3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88E488-F9D1-4366-BCFC-5DFCD9846A61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>
            <a:off x="4345497" y="4752365"/>
            <a:ext cx="19476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549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30FC-A0AB-43A5-A89D-A2ED86B2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РЕШАВАЊЕ У САВРШЕНОМ СЛУЧАЈУ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A1964-2B67-4C37-B0D8-7874867D8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88" y="2412228"/>
            <a:ext cx="5402512" cy="24381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218B22-6D37-4E7E-AED8-103685AF4069}"/>
              </a:ext>
            </a:extLst>
          </p:cNvPr>
          <p:cNvSpPr txBox="1"/>
          <p:nvPr/>
        </p:nvSpPr>
        <p:spPr>
          <a:xfrm>
            <a:off x="7383428" y="5210778"/>
            <a:ext cx="6585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>
                <a:solidFill>
                  <a:schemeClr val="accent1"/>
                </a:solidFill>
              </a:rPr>
              <a:t>А</a:t>
            </a:r>
            <a:r>
              <a:rPr lang="sr-Latn-RS" sz="3600" dirty="0">
                <a:solidFill>
                  <a:schemeClr val="accent1"/>
                </a:solidFill>
              </a:rPr>
              <a:t>	B	C	D	A	E	B</a:t>
            </a:r>
          </a:p>
          <a:p>
            <a:r>
              <a:rPr lang="sr-Latn-RS" sz="3600" dirty="0"/>
              <a:t> </a:t>
            </a:r>
            <a:endParaRPr lang="en-US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EFF38-F046-46D2-A7D0-010CB9E86CBE}"/>
              </a:ext>
            </a:extLst>
          </p:cNvPr>
          <p:cNvSpPr txBox="1"/>
          <p:nvPr/>
        </p:nvSpPr>
        <p:spPr>
          <a:xfrm>
            <a:off x="1008261" y="2228671"/>
            <a:ext cx="4008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/>
              <a:t>А</a:t>
            </a:r>
            <a:r>
              <a:rPr lang="sr-Latn-RS" sz="3600" dirty="0"/>
              <a:t>	B	C	D	A	E	B</a:t>
            </a:r>
          </a:p>
          <a:p>
            <a:r>
              <a:rPr lang="sr-Latn-RS" sz="3600" dirty="0"/>
              <a:t> </a:t>
            </a:r>
            <a:endParaRPr lang="en-US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0C27EA-DA7A-4C30-8415-BE9155C717EB}"/>
              </a:ext>
            </a:extLst>
          </p:cNvPr>
          <p:cNvSpPr txBox="1"/>
          <p:nvPr/>
        </p:nvSpPr>
        <p:spPr>
          <a:xfrm>
            <a:off x="1008261" y="2828835"/>
            <a:ext cx="5578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A 	 B	 C</a:t>
            </a:r>
          </a:p>
          <a:p>
            <a:r>
              <a:rPr lang="sr-Latn-RS" dirty="0"/>
              <a:t>	 B	 C	 D</a:t>
            </a:r>
          </a:p>
          <a:p>
            <a:r>
              <a:rPr lang="sr-Latn-RS" dirty="0"/>
              <a:t>		 C	 D 	 A</a:t>
            </a:r>
          </a:p>
          <a:p>
            <a:r>
              <a:rPr lang="sr-Latn-RS" dirty="0"/>
              <a:t>			 D	 A	 E</a:t>
            </a:r>
          </a:p>
          <a:p>
            <a:r>
              <a:rPr lang="sr-Latn-RS" dirty="0"/>
              <a:t>				 A	 E 	 B</a:t>
            </a:r>
          </a:p>
          <a:p>
            <a:r>
              <a:rPr lang="sr-Latn-RS" dirty="0"/>
              <a:t>					 E	 B	A</a:t>
            </a:r>
          </a:p>
          <a:p>
            <a:r>
              <a:rPr lang="sr-Latn-RS" dirty="0"/>
              <a:t> 						 B	A	B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ADBFD-065F-4A02-9CB4-98C5A208191E}"/>
              </a:ext>
            </a:extLst>
          </p:cNvPr>
          <p:cNvSpPr/>
          <p:nvPr/>
        </p:nvSpPr>
        <p:spPr>
          <a:xfrm>
            <a:off x="7219950" y="2724150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BF77E-0E1A-4E05-B622-73BCBD22F1A8}"/>
              </a:ext>
            </a:extLst>
          </p:cNvPr>
          <p:cNvSpPr/>
          <p:nvPr/>
        </p:nvSpPr>
        <p:spPr>
          <a:xfrm>
            <a:off x="8807450" y="2720975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6CD24-00E4-436F-9655-3B668557516A}"/>
              </a:ext>
            </a:extLst>
          </p:cNvPr>
          <p:cNvSpPr/>
          <p:nvPr/>
        </p:nvSpPr>
        <p:spPr>
          <a:xfrm>
            <a:off x="10380662" y="2720974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A3F56-7592-49FF-9194-B0045068E744}"/>
              </a:ext>
            </a:extLst>
          </p:cNvPr>
          <p:cNvSpPr/>
          <p:nvPr/>
        </p:nvSpPr>
        <p:spPr>
          <a:xfrm>
            <a:off x="11588750" y="3456982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D0E5C-80D7-464E-A2A0-AE17FE8AD239}"/>
              </a:ext>
            </a:extLst>
          </p:cNvPr>
          <p:cNvSpPr/>
          <p:nvPr/>
        </p:nvSpPr>
        <p:spPr>
          <a:xfrm>
            <a:off x="10393643" y="4222750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844BF-54BC-47F3-8BAF-0A25E8EC3278}"/>
              </a:ext>
            </a:extLst>
          </p:cNvPr>
          <p:cNvSpPr/>
          <p:nvPr/>
        </p:nvSpPr>
        <p:spPr>
          <a:xfrm>
            <a:off x="8805980" y="4222749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BA520-7FC3-4FDC-B092-8650B283688C}"/>
              </a:ext>
            </a:extLst>
          </p:cNvPr>
          <p:cNvSpPr/>
          <p:nvPr/>
        </p:nvSpPr>
        <p:spPr>
          <a:xfrm>
            <a:off x="7204147" y="4231681"/>
            <a:ext cx="238125" cy="295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6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D106-10B3-4D3F-BCD7-799F944B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ПРОБЛЕМ ДУПЛИКАТА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9C4F-CCA4-4AF7-BEA0-9CC6E21C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58925"/>
            <a:ext cx="10058400" cy="1308527"/>
          </a:xfrm>
        </p:spPr>
        <p:txBody>
          <a:bodyPr>
            <a:normAutofit/>
          </a:bodyPr>
          <a:lstStyle/>
          <a:p>
            <a:pPr algn="ctr"/>
            <a:r>
              <a:rPr lang="sr-Cyrl-RS" sz="3200" dirty="0"/>
              <a:t>Ако у посматраним подацима имамо 2 пута</a:t>
            </a:r>
          </a:p>
          <a:p>
            <a:pPr algn="ctr"/>
            <a:r>
              <a:rPr lang="sr-Latn-RS" sz="4000" dirty="0"/>
              <a:t>ABC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DD688-8951-4338-8AAC-10802BCB45F0}"/>
              </a:ext>
            </a:extLst>
          </p:cNvPr>
          <p:cNvSpPr txBox="1"/>
          <p:nvPr/>
        </p:nvSpPr>
        <p:spPr>
          <a:xfrm>
            <a:off x="1929467" y="4089017"/>
            <a:ext cx="36492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4000" dirty="0"/>
              <a:t>ABC</a:t>
            </a:r>
          </a:p>
          <a:p>
            <a:pPr algn="ctr"/>
            <a:r>
              <a:rPr lang="sr-Cyrl-RS" sz="2800" dirty="0"/>
              <a:t>се појављује </a:t>
            </a:r>
            <a:r>
              <a:rPr lang="sr-Cyrl-RS" sz="2800" b="1" dirty="0"/>
              <a:t>2</a:t>
            </a:r>
            <a:r>
              <a:rPr lang="sr-Cyrl-RS" sz="2800" dirty="0"/>
              <a:t> пута у правој секвенци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80E6C-2198-42DC-9F15-AE7C38984B2D}"/>
              </a:ext>
            </a:extLst>
          </p:cNvPr>
          <p:cNvSpPr txBox="1"/>
          <p:nvPr/>
        </p:nvSpPr>
        <p:spPr>
          <a:xfrm>
            <a:off x="6336205" y="4089017"/>
            <a:ext cx="4326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4000" dirty="0"/>
              <a:t>ABC</a:t>
            </a:r>
          </a:p>
          <a:p>
            <a:pPr algn="ctr"/>
            <a:r>
              <a:rPr lang="sr-Cyrl-RS" sz="2800" dirty="0"/>
              <a:t>смо </a:t>
            </a:r>
            <a:r>
              <a:rPr lang="sr-Cyrl-RS" sz="2800" b="1" dirty="0"/>
              <a:t>2</a:t>
            </a:r>
            <a:r>
              <a:rPr lang="sr-Cyrl-RS" sz="2800" dirty="0"/>
              <a:t> пута уочили приликом надгледања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5121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8029D-03ED-443A-9C65-1CC8D79A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СТАТИСТИЧКО СКАЛИРАЊЕ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5555F-8CFD-4F7F-AB18-FAB80A3C5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Ако секвенца има дужину N, а ми посматрамо M итерација, базна вероватноћа појављивања подсеквенце у скупу података</a:t>
            </a:r>
            <a:r>
              <a:rPr lang="sr-Cyrl-RS" sz="2400" dirty="0"/>
              <a:t> је</a:t>
            </a:r>
            <a:r>
              <a:rPr lang="ru-RU" sz="2400" dirty="0"/>
              <a:t>: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71D5C9-8EE7-43E2-8037-583FCC48C9BF}"/>
                  </a:ext>
                </a:extLst>
              </p:cNvPr>
              <p:cNvSpPr txBox="1"/>
              <p:nvPr/>
            </p:nvSpPr>
            <p:spPr>
              <a:xfrm>
                <a:off x="4605556" y="3857414"/>
                <a:ext cx="2128596" cy="1033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r-Latn-RS" sz="3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r-Latn-RS" sz="3600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  <m:r>
                        <a:rPr lang="sr-Latn-R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r-Latn-R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r-Latn-RS" sz="3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sr-Latn-R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71D5C9-8EE7-43E2-8037-583FCC48C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556" y="3857414"/>
                <a:ext cx="2128596" cy="1033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960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3671-E929-458F-BADF-F47E4F8F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НЕПОЗНАТА ДУЖИНА СЕКВЕНЦЕ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F5B3-F8DB-478A-BD4A-3E776CBDF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Пример за </a:t>
            </a:r>
            <a:r>
              <a:rPr lang="sr-Cyrl-RS" sz="2400" i="1" dirty="0"/>
              <a:t>М </a:t>
            </a:r>
            <a:r>
              <a:rPr lang="sr-Cyrl-RS" sz="2400" dirty="0"/>
              <a:t>= 1 000 000 итерација,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Најнижа стабилна група </a:t>
            </a:r>
            <a:r>
              <a:rPr lang="sr-Latn-RS" sz="2400" i="1" dirty="0"/>
              <a:t>Fmin = 20 000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sz="2400" i="1" dirty="0"/>
              <a:t>N </a:t>
            </a:r>
            <a:r>
              <a:rPr lang="en-US" sz="2400" dirty="0"/>
              <a:t>≈ </a:t>
            </a:r>
            <a:r>
              <a:rPr lang="sr-Latn-RS" sz="2400" dirty="0"/>
              <a:t>1 000 000 / 20 000 = 50</a:t>
            </a:r>
            <a:endParaRPr lang="sr-Cyrl-R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852B26-93F8-4410-949B-A872B4FDCAB9}"/>
                  </a:ext>
                </a:extLst>
              </p:cNvPr>
              <p:cNvSpPr txBox="1"/>
              <p:nvPr/>
            </p:nvSpPr>
            <p:spPr>
              <a:xfrm>
                <a:off x="5159024" y="2549592"/>
                <a:ext cx="1605504" cy="879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sr-Latn-R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sr-Latn-R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r-Latn-R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b>
                            <m:sSubPr>
                              <m:ctrlP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sr-Latn-RS" sz="28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852B26-93F8-4410-949B-A872B4FDC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024" y="2549592"/>
                <a:ext cx="1605504" cy="8794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368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03AD2-468E-4163-AE8D-AE85DDF4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МУЛТИГРАФ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9227-EDAF-4CF8-9F2E-F0656D2EB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69938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Услов за постојање </a:t>
            </a:r>
            <a:r>
              <a:rPr lang="sr-Cyrl-RS" sz="2400" dirty="0" err="1"/>
              <a:t>Ојлеровог</a:t>
            </a:r>
            <a:r>
              <a:rPr lang="sr-Cyrl-RS" sz="2400" dirty="0"/>
              <a:t> </a:t>
            </a:r>
            <a:r>
              <a:rPr lang="sr-Cyrl-RS" sz="2400" dirty="0" err="1"/>
              <a:t>сиклуса</a:t>
            </a:r>
            <a:r>
              <a:rPr lang="sr-Cyrl-RS" sz="2400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70B746-A74A-4744-8F35-1472138299CE}"/>
                  </a:ext>
                </a:extLst>
              </p:cNvPr>
              <p:cNvSpPr txBox="1"/>
              <p:nvPr/>
            </p:nvSpPr>
            <p:spPr>
              <a:xfrm>
                <a:off x="3540154" y="2428612"/>
                <a:ext cx="4511428" cy="3177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r-Latn-RS" sz="2000" b="0" i="1" smtClean="0">
                              <a:latin typeface="Cambria Math" panose="02040503050406030204" pitchFamily="18" charset="0"/>
                            </a:rPr>
                            <m:t>𝑑𝑒𝑔</m:t>
                          </m:r>
                        </m:e>
                        <m:sup>
                          <m:r>
                            <a:rPr lang="sr-Latn-R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d>
                        <m:dPr>
                          <m:ctrlPr>
                            <a:rPr lang="sr-Latn-R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sr-Latn-R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r-Latn-R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r-Latn-RS" sz="2000" b="0" i="1" smtClean="0">
                              <a:latin typeface="Cambria Math" panose="02040503050406030204" pitchFamily="18" charset="0"/>
                            </a:rPr>
                            <m:t>𝑑𝑒𝑔</m:t>
                          </m:r>
                        </m:e>
                        <m:sup>
                          <m:r>
                            <a:rPr lang="sr-Latn-R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d>
                        <m:dPr>
                          <m:ctrlPr>
                            <a:rPr lang="sr-Latn-R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sr-Latn-RS" sz="20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sr-Cyrl-RS" sz="2000" b="0" i="1" smtClean="0">
                          <a:latin typeface="Cambria Math" panose="02040503050406030204" pitchFamily="18" charset="0"/>
                        </a:rPr>
                        <m:t>за сваки чвор </m:t>
                      </m:r>
                      <m:r>
                        <a:rPr lang="sr-Latn-R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70B746-A74A-4744-8F35-147213829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154" y="2428612"/>
                <a:ext cx="4511428" cy="317779"/>
              </a:xfrm>
              <a:prstGeom prst="rect">
                <a:avLst/>
              </a:prstGeom>
              <a:blipFill>
                <a:blip r:embed="rId3"/>
                <a:stretch>
                  <a:fillRect l="-1622" r="-135" b="-3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FA83741-93BE-4B75-83F4-A051343C3282}"/>
              </a:ext>
            </a:extLst>
          </p:cNvPr>
          <p:cNvSpPr txBox="1"/>
          <p:nvPr/>
        </p:nvSpPr>
        <p:spPr>
          <a:xfrm>
            <a:off x="3724712" y="3136612"/>
            <a:ext cx="4499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dirty="0"/>
              <a:t>... F A B C D ... G A B C E ...</a:t>
            </a:r>
            <a:endParaRPr lang="en-US" sz="3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6196B9-10EF-4D92-BE58-9F27AB89CAE9}"/>
              </a:ext>
            </a:extLst>
          </p:cNvPr>
          <p:cNvCxnSpPr/>
          <p:nvPr/>
        </p:nvCxnSpPr>
        <p:spPr>
          <a:xfrm>
            <a:off x="4488109" y="3695428"/>
            <a:ext cx="85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72BB10-6AC6-4134-83A2-B6A3A9D9A3B3}"/>
              </a:ext>
            </a:extLst>
          </p:cNvPr>
          <p:cNvCxnSpPr/>
          <p:nvPr/>
        </p:nvCxnSpPr>
        <p:spPr>
          <a:xfrm>
            <a:off x="6494477" y="3695428"/>
            <a:ext cx="8808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498B337-2563-496F-AAB2-42909D10FCA4}"/>
              </a:ext>
            </a:extLst>
          </p:cNvPr>
          <p:cNvSpPr/>
          <p:nvPr/>
        </p:nvSpPr>
        <p:spPr>
          <a:xfrm>
            <a:off x="3628238" y="4482231"/>
            <a:ext cx="1199626" cy="1208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A B</a:t>
            </a:r>
            <a:endParaRPr lang="en-US" sz="3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B21E0E-5EB6-454F-9871-80035554E611}"/>
              </a:ext>
            </a:extLst>
          </p:cNvPr>
          <p:cNvSpPr/>
          <p:nvPr/>
        </p:nvSpPr>
        <p:spPr>
          <a:xfrm>
            <a:off x="6775508" y="4482231"/>
            <a:ext cx="1199626" cy="120801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B C</a:t>
            </a:r>
            <a:endParaRPr lang="en-US" sz="3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6073FF-9AA9-4B0C-9B4C-3154C4E8A754}"/>
              </a:ext>
            </a:extLst>
          </p:cNvPr>
          <p:cNvCxnSpPr>
            <a:cxnSpLocks/>
          </p:cNvCxnSpPr>
          <p:nvPr/>
        </p:nvCxnSpPr>
        <p:spPr>
          <a:xfrm>
            <a:off x="4827864" y="4968794"/>
            <a:ext cx="19476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DE1AEA-41BB-4BA0-AB69-1E362963607B}"/>
              </a:ext>
            </a:extLst>
          </p:cNvPr>
          <p:cNvCxnSpPr>
            <a:cxnSpLocks/>
          </p:cNvCxnSpPr>
          <p:nvPr/>
        </p:nvCxnSpPr>
        <p:spPr>
          <a:xfrm>
            <a:off x="4827864" y="5221861"/>
            <a:ext cx="19476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F4FA31-9948-4E64-9EC9-A0A4E9C4383A}"/>
              </a:ext>
            </a:extLst>
          </p:cNvPr>
          <p:cNvCxnSpPr>
            <a:cxnSpLocks/>
          </p:cNvCxnSpPr>
          <p:nvPr/>
        </p:nvCxnSpPr>
        <p:spPr>
          <a:xfrm flipV="1">
            <a:off x="7975134" y="3721387"/>
            <a:ext cx="1562383" cy="10855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020DFF-8B8B-49EC-8DD3-81A5B3EC3C46}"/>
              </a:ext>
            </a:extLst>
          </p:cNvPr>
          <p:cNvCxnSpPr>
            <a:cxnSpLocks/>
          </p:cNvCxnSpPr>
          <p:nvPr/>
        </p:nvCxnSpPr>
        <p:spPr>
          <a:xfrm>
            <a:off x="7975134" y="5293453"/>
            <a:ext cx="1705760" cy="3967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65FF48A-E32B-4F86-AD77-8647C16A7E88}"/>
              </a:ext>
            </a:extLst>
          </p:cNvPr>
          <p:cNvSpPr/>
          <p:nvPr/>
        </p:nvSpPr>
        <p:spPr>
          <a:xfrm>
            <a:off x="9548872" y="2899268"/>
            <a:ext cx="1199626" cy="120801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C E</a:t>
            </a:r>
            <a:endParaRPr lang="en-US" sz="3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C5E61C4-CE8C-4186-B8E2-FC87BE46A268}"/>
              </a:ext>
            </a:extLst>
          </p:cNvPr>
          <p:cNvSpPr/>
          <p:nvPr/>
        </p:nvSpPr>
        <p:spPr>
          <a:xfrm>
            <a:off x="9818474" y="5049489"/>
            <a:ext cx="1199626" cy="120801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C D</a:t>
            </a:r>
            <a:endParaRPr lang="en-US" sz="3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29B89F-6978-4C2E-884B-EE1D25370D34}"/>
              </a:ext>
            </a:extLst>
          </p:cNvPr>
          <p:cNvCxnSpPr>
            <a:cxnSpLocks/>
          </p:cNvCxnSpPr>
          <p:nvPr/>
        </p:nvCxnSpPr>
        <p:spPr>
          <a:xfrm>
            <a:off x="1870745" y="4482231"/>
            <a:ext cx="1669409" cy="3956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B8A128-41D2-4B07-A5A3-8CCFCFB08DF2}"/>
              </a:ext>
            </a:extLst>
          </p:cNvPr>
          <p:cNvCxnSpPr>
            <a:cxnSpLocks/>
          </p:cNvCxnSpPr>
          <p:nvPr/>
        </p:nvCxnSpPr>
        <p:spPr>
          <a:xfrm flipV="1">
            <a:off x="1648436" y="5349218"/>
            <a:ext cx="1947644" cy="3555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87D510-47A9-4726-8DAF-C8F3155669D9}"/>
              </a:ext>
            </a:extLst>
          </p:cNvPr>
          <p:cNvCxnSpPr>
            <a:cxnSpLocks/>
          </p:cNvCxnSpPr>
          <p:nvPr/>
        </p:nvCxnSpPr>
        <p:spPr>
          <a:xfrm flipV="1">
            <a:off x="10494456" y="2281806"/>
            <a:ext cx="864238" cy="617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A38EBA-736B-47B3-9CB9-DA760C9751C1}"/>
              </a:ext>
            </a:extLst>
          </p:cNvPr>
          <p:cNvCxnSpPr>
            <a:cxnSpLocks/>
          </p:cNvCxnSpPr>
          <p:nvPr/>
        </p:nvCxnSpPr>
        <p:spPr>
          <a:xfrm>
            <a:off x="11018100" y="5981195"/>
            <a:ext cx="936212" cy="1466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9344B19-7877-46CC-A1E5-B880C855D689}"/>
              </a:ext>
            </a:extLst>
          </p:cNvPr>
          <p:cNvSpPr/>
          <p:nvPr/>
        </p:nvSpPr>
        <p:spPr>
          <a:xfrm>
            <a:off x="612116" y="3520054"/>
            <a:ext cx="1199626" cy="1208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F A</a:t>
            </a:r>
            <a:endParaRPr lang="en-US" sz="36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EFC4ED4-A6D4-4BD4-BB60-D1AD8475B526}"/>
              </a:ext>
            </a:extLst>
          </p:cNvPr>
          <p:cNvSpPr/>
          <p:nvPr/>
        </p:nvSpPr>
        <p:spPr>
          <a:xfrm>
            <a:off x="702296" y="5100774"/>
            <a:ext cx="1199626" cy="1208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3600" dirty="0"/>
              <a:t>G A</a:t>
            </a:r>
            <a:endParaRPr lang="en-US" sz="36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C9FE09-D093-464D-A5C2-0EADC8997E6B}"/>
              </a:ext>
            </a:extLst>
          </p:cNvPr>
          <p:cNvCxnSpPr>
            <a:cxnSpLocks/>
          </p:cNvCxnSpPr>
          <p:nvPr/>
        </p:nvCxnSpPr>
        <p:spPr>
          <a:xfrm>
            <a:off x="233572" y="3020037"/>
            <a:ext cx="504659" cy="6123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EB335E-914B-4D18-B983-63A4F282E69F}"/>
              </a:ext>
            </a:extLst>
          </p:cNvPr>
          <p:cNvCxnSpPr>
            <a:cxnSpLocks/>
          </p:cNvCxnSpPr>
          <p:nvPr/>
        </p:nvCxnSpPr>
        <p:spPr>
          <a:xfrm flipV="1">
            <a:off x="58723" y="5878633"/>
            <a:ext cx="643573" cy="1759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664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575D-F43E-4C04-A585-618B35452E54}"/>
              </a:ext>
            </a:extLst>
          </p:cNvPr>
          <p:cNvSpPr txBox="1">
            <a:spLocks/>
          </p:cNvSpPr>
          <p:nvPr/>
        </p:nvSpPr>
        <p:spPr>
          <a:xfrm>
            <a:off x="880844" y="1989869"/>
            <a:ext cx="10679185" cy="3566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r-Cyrl-RS" sz="6600" dirty="0"/>
              <a:t>КОМПАРАТИВНА АНАЛИЗА АЛГОРИТМА ЗА ЕВАЛУАЦИЈУ КОМБИНАЦИЈА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190252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C71F-6D5D-4D24-9867-E3EB833F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СЕКВЕНЦИЈАЛНА ЕВАЛУАЦИЈА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B1C64-4026-4DB8-9183-8D139F3F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302" y="1978243"/>
            <a:ext cx="6335366" cy="306354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sr-Latn-RS" sz="2000" dirty="0"/>
              <a:t>	</a:t>
            </a:r>
            <a:r>
              <a:rPr lang="ru-RU" sz="2000" dirty="0"/>
              <a:t>Кол. 1 </a:t>
            </a:r>
            <a:r>
              <a:rPr lang="sr-Latn-RS" sz="2000" dirty="0"/>
              <a:t>	</a:t>
            </a:r>
            <a:r>
              <a:rPr lang="ru-RU" sz="2000" dirty="0"/>
              <a:t>Кол. 2 </a:t>
            </a:r>
            <a:r>
              <a:rPr lang="sr-Latn-RS" sz="2000" dirty="0"/>
              <a:t>	</a:t>
            </a:r>
            <a:r>
              <a:rPr lang="ru-RU" sz="2000" dirty="0"/>
              <a:t>Кол. 3 </a:t>
            </a:r>
            <a:r>
              <a:rPr lang="sr-Latn-RS" sz="2000" dirty="0"/>
              <a:t>	</a:t>
            </a:r>
            <a:r>
              <a:rPr lang="ru-RU" sz="2000" dirty="0"/>
              <a:t>Кол. 4 </a:t>
            </a:r>
            <a:r>
              <a:rPr lang="sr-Latn-RS" sz="2000" dirty="0"/>
              <a:t>	</a:t>
            </a:r>
            <a:r>
              <a:rPr lang="ru-RU" sz="2000" dirty="0"/>
              <a:t>Кол.5</a:t>
            </a:r>
            <a:endParaRPr lang="sr-Latn-RS" sz="2000" dirty="0"/>
          </a:p>
          <a:p>
            <a:pPr marL="201168" lvl="1" indent="0">
              <a:buNone/>
            </a:pPr>
            <a:endParaRPr lang="sr-Latn-RS" sz="2000" dirty="0"/>
          </a:p>
          <a:p>
            <a:pPr marL="201168" lvl="1" indent="0">
              <a:buNone/>
            </a:pPr>
            <a:r>
              <a:rPr lang="ru-RU" sz="2000" dirty="0"/>
              <a:t>Ред 0: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ru-RU" sz="2000" dirty="0">
                <a:solidFill>
                  <a:srgbClr val="FF0000"/>
                </a:solidFill>
              </a:rPr>
              <a:t>X</a:t>
            </a:r>
            <a:r>
              <a:rPr lang="ru-RU" sz="2000" dirty="0"/>
              <a:t> 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ru-RU" sz="2000" dirty="0">
                <a:solidFill>
                  <a:srgbClr val="FF0000"/>
                </a:solidFill>
              </a:rPr>
              <a:t>X</a:t>
            </a:r>
            <a:r>
              <a:rPr lang="ru-RU" sz="2000" dirty="0"/>
              <a:t> ]</a:t>
            </a:r>
          </a:p>
          <a:p>
            <a:pPr marL="201168" lvl="1" indent="0">
              <a:buNone/>
            </a:pPr>
            <a:r>
              <a:rPr lang="ru-RU" sz="2000" dirty="0"/>
              <a:t>Ред 1: </a:t>
            </a:r>
            <a:r>
              <a:rPr lang="sr-Latn-RS" sz="2000" dirty="0"/>
              <a:t>	</a:t>
            </a:r>
            <a:r>
              <a:rPr lang="ru-RU" sz="2000" dirty="0"/>
              <a:t>[</a:t>
            </a:r>
            <a:r>
              <a:rPr lang="sr-Latn-RS" sz="2000" dirty="0"/>
              <a:t>   </a:t>
            </a:r>
            <a:r>
              <a:rPr lang="ru-RU" sz="2000" dirty="0"/>
              <a:t> 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ru-RU" sz="2000" dirty="0">
                <a:solidFill>
                  <a:srgbClr val="FF0000"/>
                </a:solidFill>
              </a:rPr>
              <a:t>X</a:t>
            </a:r>
            <a:r>
              <a:rPr lang="ru-RU" sz="2000" dirty="0"/>
              <a:t> 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ru-RU" sz="2000" dirty="0">
                <a:solidFill>
                  <a:srgbClr val="FF0000"/>
                </a:solidFill>
              </a:rPr>
              <a:t>X</a:t>
            </a:r>
            <a:r>
              <a:rPr lang="ru-RU" sz="2000" dirty="0"/>
              <a:t> ] </a:t>
            </a:r>
            <a:r>
              <a:rPr lang="sr-Latn-RS" sz="2000" dirty="0"/>
              <a:t>	</a:t>
            </a:r>
            <a:r>
              <a:rPr lang="ru-RU" sz="2000" dirty="0"/>
              <a:t>[</a:t>
            </a:r>
            <a:r>
              <a:rPr lang="sr-Latn-RS" sz="2000" dirty="0"/>
              <a:t>   </a:t>
            </a:r>
            <a:r>
              <a:rPr lang="ru-RU" sz="2000" dirty="0"/>
              <a:t> ]</a:t>
            </a:r>
          </a:p>
          <a:p>
            <a:pPr marL="201168" lvl="1" indent="0">
              <a:buNone/>
            </a:pPr>
            <a:r>
              <a:rPr lang="ru-RU" sz="2000" dirty="0"/>
              <a:t>Ред 2: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 </a:t>
            </a:r>
            <a:r>
              <a:rPr lang="sr-Latn-RS" sz="2000" dirty="0"/>
              <a:t>	</a:t>
            </a:r>
            <a:r>
              <a:rPr lang="ru-RU" sz="2000" dirty="0"/>
              <a:t>[</a:t>
            </a:r>
            <a:r>
              <a:rPr lang="sr-Latn-RS" sz="2000" dirty="0"/>
              <a:t>   </a:t>
            </a:r>
            <a:r>
              <a:rPr lang="ru-RU" sz="2000" dirty="0"/>
              <a:t> 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ru-RU" sz="2000" dirty="0">
                <a:solidFill>
                  <a:srgbClr val="FF0000"/>
                </a:solidFill>
              </a:rPr>
              <a:t>X</a:t>
            </a:r>
            <a:r>
              <a:rPr lang="ru-RU" sz="2000" dirty="0"/>
              <a:t> 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 </a:t>
            </a:r>
            <a:r>
              <a:rPr lang="sr-Latn-RS" sz="2000" dirty="0"/>
              <a:t>	</a:t>
            </a:r>
            <a:r>
              <a:rPr lang="ru-RU" sz="2000" dirty="0"/>
              <a:t>[ </a:t>
            </a:r>
            <a:r>
              <a:rPr lang="sr-Latn-RS" sz="2000" dirty="0"/>
              <a:t>   </a:t>
            </a:r>
            <a:r>
              <a:rPr lang="ru-RU" sz="2000" dirty="0"/>
              <a:t>]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12E23-61E8-4536-896A-D50771D1A0D2}"/>
              </a:ext>
            </a:extLst>
          </p:cNvPr>
          <p:cNvSpPr txBox="1"/>
          <p:nvPr/>
        </p:nvSpPr>
        <p:spPr>
          <a:xfrm>
            <a:off x="3912625" y="4063687"/>
            <a:ext cx="4211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200" dirty="0"/>
              <a:t>0	 	1		2		3		4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EB79-2DE0-4519-89B4-BABA459722E4}"/>
              </a:ext>
            </a:extLst>
          </p:cNvPr>
          <p:cNvSpPr txBox="1"/>
          <p:nvPr/>
        </p:nvSpPr>
        <p:spPr>
          <a:xfrm>
            <a:off x="8296712" y="2709644"/>
            <a:ext cx="7969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200" dirty="0"/>
              <a:t>0</a:t>
            </a:r>
          </a:p>
          <a:p>
            <a:endParaRPr lang="sr-Latn-RS" sz="1200" dirty="0"/>
          </a:p>
          <a:p>
            <a:r>
              <a:rPr lang="sr-Latn-RS" sz="1200" dirty="0"/>
              <a:t>1</a:t>
            </a:r>
          </a:p>
          <a:p>
            <a:endParaRPr lang="sr-Latn-RS" sz="1200" dirty="0"/>
          </a:p>
          <a:p>
            <a:r>
              <a:rPr lang="sr-Latn-RS" sz="1200" dirty="0"/>
              <a:t>2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BFC9B-0D24-4DE7-9E18-EAFBDB8F9EF2}"/>
              </a:ext>
            </a:extLst>
          </p:cNvPr>
          <p:cNvSpPr txBox="1"/>
          <p:nvPr/>
        </p:nvSpPr>
        <p:spPr>
          <a:xfrm>
            <a:off x="4098861" y="4789769"/>
            <a:ext cx="3602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/>
              <a:t>путања:</a:t>
            </a:r>
            <a:endParaRPr lang="sr-Latn-RS" sz="3600" dirty="0"/>
          </a:p>
          <a:p>
            <a:pPr algn="ctr"/>
            <a:r>
              <a:rPr lang="sr-Latn-RS" sz="3600" dirty="0"/>
              <a:t>[0, 1, 2, 1, 0]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0FEBA-B271-4CDC-ADAE-F76F2AA4DC91}"/>
              </a:ext>
            </a:extLst>
          </p:cNvPr>
          <p:cNvSpPr txBox="1"/>
          <p:nvPr/>
        </p:nvSpPr>
        <p:spPr>
          <a:xfrm>
            <a:off x="9999677" y="2032361"/>
            <a:ext cx="255864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2000" dirty="0"/>
              <a:t>све путање:</a:t>
            </a:r>
          </a:p>
          <a:p>
            <a:endParaRPr lang="sr-Latn-RS" sz="2000" dirty="0"/>
          </a:p>
          <a:p>
            <a:r>
              <a:rPr lang="sr-Latn-RS" sz="2000" dirty="0"/>
              <a:t>[0, 0, 0, 0, 0]</a:t>
            </a:r>
          </a:p>
          <a:p>
            <a:r>
              <a:rPr lang="sr-Latn-RS" sz="2000" dirty="0"/>
              <a:t>[0, 0, 0, 0, 1]</a:t>
            </a:r>
          </a:p>
          <a:p>
            <a:r>
              <a:rPr lang="sr-Latn-RS" sz="2000" dirty="0"/>
              <a:t>[0, 0, 1, 2, 2]</a:t>
            </a:r>
          </a:p>
          <a:p>
            <a:r>
              <a:rPr lang="sr-Latn-RS" sz="2000" dirty="0"/>
              <a:t>	.</a:t>
            </a:r>
          </a:p>
          <a:p>
            <a:r>
              <a:rPr lang="sr-Latn-RS" sz="2000" dirty="0"/>
              <a:t>	.</a:t>
            </a:r>
          </a:p>
          <a:p>
            <a:r>
              <a:rPr lang="sr-Latn-RS" sz="2000" dirty="0"/>
              <a:t>	.</a:t>
            </a:r>
          </a:p>
          <a:p>
            <a:r>
              <a:rPr lang="sr-Latn-RS" sz="2000" dirty="0"/>
              <a:t>[1, 1, 0, 0, 0]</a:t>
            </a:r>
          </a:p>
          <a:p>
            <a:r>
              <a:rPr lang="sr-Latn-RS" sz="2000" dirty="0"/>
              <a:t>[2, 2, 2, 1, 0]</a:t>
            </a:r>
          </a:p>
          <a:p>
            <a:r>
              <a:rPr lang="sr-Latn-RS" sz="2000" dirty="0"/>
              <a:t>	.</a:t>
            </a:r>
          </a:p>
          <a:p>
            <a:r>
              <a:rPr lang="sr-Latn-RS" sz="2000" dirty="0"/>
              <a:t>	.</a:t>
            </a:r>
          </a:p>
          <a:p>
            <a:r>
              <a:rPr lang="sr-Latn-RS" sz="2000" dirty="0"/>
              <a:t>	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640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64AC-DE16-40DE-8120-D6363C41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СЕКВЕНЦИЈАЛНА ЕВАЛУАЦИЈА – ПСЕУДО КОД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4815E-9BA3-4DE0-923B-7526ED43E2EE}"/>
              </a:ext>
            </a:extLst>
          </p:cNvPr>
          <p:cNvSpPr txBox="1"/>
          <p:nvPr/>
        </p:nvSpPr>
        <p:spPr>
          <a:xfrm>
            <a:off x="445828" y="1737360"/>
            <a:ext cx="8011486" cy="4467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funkcija </a:t>
            </a:r>
            <a:r>
              <a:rPr lang="en-US" sz="2400" dirty="0" err="1"/>
              <a:t>Evaluiraj</a:t>
            </a:r>
            <a:r>
              <a:rPr lang="en-US" sz="2400" dirty="0"/>
              <a:t>(</a:t>
            </a:r>
            <a:r>
              <a:rPr lang="en-US" sz="2400" dirty="0" err="1"/>
              <a:t>prozor</a:t>
            </a:r>
            <a:r>
              <a:rPr lang="en-US" sz="2400" dirty="0"/>
              <a:t>, </a:t>
            </a:r>
            <a:r>
              <a:rPr lang="en-US" sz="2400" dirty="0" err="1"/>
              <a:t>putanje</a:t>
            </a:r>
            <a:r>
              <a:rPr lang="en-US" sz="2400" dirty="0"/>
              <a:t>, f):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</a:t>
            </a:r>
            <a:r>
              <a:rPr lang="en-US" sz="2400" dirty="0" err="1"/>
              <a:t>ukupnaVrednost</a:t>
            </a:r>
            <a:r>
              <a:rPr lang="en-US" sz="2400" dirty="0"/>
              <a:t> ← 0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</a:t>
            </a:r>
            <a:r>
              <a:rPr lang="en-US" sz="2400" dirty="0"/>
              <a:t>za </a:t>
            </a:r>
            <a:r>
              <a:rPr lang="en-US" sz="2400" dirty="0" err="1"/>
              <a:t>svaku</a:t>
            </a:r>
            <a:r>
              <a:rPr lang="en-US" sz="2400" dirty="0"/>
              <a:t> </a:t>
            </a:r>
            <a:r>
              <a:rPr lang="en-US" sz="2400" dirty="0" err="1"/>
              <a:t>putanju</a:t>
            </a:r>
            <a:r>
              <a:rPr lang="en-US" sz="2400" dirty="0"/>
              <a:t> p u P: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	</a:t>
            </a:r>
            <a:r>
              <a:rPr lang="en-US" sz="2400" dirty="0" err="1"/>
              <a:t>sekvenca</a:t>
            </a:r>
            <a:r>
              <a:rPr lang="en-US" sz="2400" dirty="0"/>
              <a:t> ← </a:t>
            </a:r>
            <a:r>
              <a:rPr lang="en-US" sz="2400" dirty="0" err="1"/>
              <a:t>PročitajTokeneSaPutanje</a:t>
            </a:r>
            <a:r>
              <a:rPr lang="en-US" sz="2400" dirty="0"/>
              <a:t>(</a:t>
            </a:r>
            <a:r>
              <a:rPr lang="en-US" sz="2400" dirty="0" err="1"/>
              <a:t>prozor</a:t>
            </a:r>
            <a:r>
              <a:rPr lang="en-US" sz="2400" dirty="0"/>
              <a:t>, </a:t>
            </a:r>
            <a:r>
              <a:rPr lang="en-US" sz="2400" dirty="0" err="1"/>
              <a:t>putanja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	</a:t>
            </a:r>
            <a:r>
              <a:rPr lang="en-US" sz="2400" dirty="0"/>
              <a:t>token ← </a:t>
            </a:r>
            <a:r>
              <a:rPr lang="en-US" sz="2400" dirty="0" err="1"/>
              <a:t>PrviNezamenski</a:t>
            </a:r>
            <a:r>
              <a:rPr lang="en-US" sz="2400" dirty="0"/>
              <a:t>(</a:t>
            </a:r>
            <a:r>
              <a:rPr lang="en-US" sz="2400" dirty="0" err="1"/>
              <a:t>sekvenca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	</a:t>
            </a:r>
            <a:r>
              <a:rPr lang="en-US" sz="2400" dirty="0" err="1"/>
              <a:t>dužina</a:t>
            </a:r>
            <a:r>
              <a:rPr lang="en-US" sz="2400" dirty="0"/>
              <a:t> ← </a:t>
            </a:r>
            <a:r>
              <a:rPr lang="en-US" sz="2400" dirty="0" err="1"/>
              <a:t>BrojUzastopnih</a:t>
            </a:r>
            <a:r>
              <a:rPr lang="en-US" sz="2400" dirty="0"/>
              <a:t>(</a:t>
            </a:r>
            <a:r>
              <a:rPr lang="en-US" sz="2400" dirty="0" err="1"/>
              <a:t>sekvenca</a:t>
            </a:r>
            <a:r>
              <a:rPr lang="en-US" sz="2400" dirty="0"/>
              <a:t>, token)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	</a:t>
            </a:r>
            <a:r>
              <a:rPr lang="en-US" sz="2400" dirty="0" err="1"/>
              <a:t>ukupnaVrednost</a:t>
            </a:r>
            <a:r>
              <a:rPr lang="en-US" sz="2400" dirty="0"/>
              <a:t> ← </a:t>
            </a:r>
            <a:r>
              <a:rPr lang="en-US" sz="2400" dirty="0" err="1"/>
              <a:t>ukupnaVrednost</a:t>
            </a:r>
            <a:r>
              <a:rPr lang="en-US" sz="2400" dirty="0"/>
              <a:t> + f(token, </a:t>
            </a:r>
            <a:r>
              <a:rPr lang="en-US" sz="2400" dirty="0" err="1"/>
              <a:t>dužina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r>
              <a:rPr lang="sr-Cyrl-RS" sz="2400" dirty="0"/>
              <a:t>	</a:t>
            </a:r>
            <a:r>
              <a:rPr lang="en-US" sz="2400" dirty="0" err="1"/>
              <a:t>vrati</a:t>
            </a:r>
            <a:r>
              <a:rPr lang="en-US" sz="2400" dirty="0"/>
              <a:t> </a:t>
            </a:r>
            <a:r>
              <a:rPr lang="en-US" sz="2400" dirty="0" err="1"/>
              <a:t>ukupnaVrednost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DFFDD4-264E-4C25-B2F2-48FAEE3B4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2723" y="3529217"/>
            <a:ext cx="3507997" cy="605903"/>
          </a:xfrm>
        </p:spPr>
        <p:txBody>
          <a:bodyPr>
            <a:normAutofit lnSpcReduction="10000"/>
          </a:bodyPr>
          <a:lstStyle/>
          <a:p>
            <a:r>
              <a:rPr lang="en-US" sz="4000" i="1" dirty="0" err="1"/>
              <a:t>Tseq</a:t>
            </a:r>
            <a:r>
              <a:rPr lang="en-US" sz="4000" dirty="0"/>
              <a:t> = O(</a:t>
            </a:r>
            <a:r>
              <a:rPr lang="en-US" sz="4000" i="1" dirty="0"/>
              <a:t>L</a:t>
            </a:r>
            <a:r>
              <a:rPr lang="en-US" sz="4000" dirty="0"/>
              <a:t> ⋅ </a:t>
            </a:r>
            <a:r>
              <a:rPr lang="en-US" sz="4000" i="1" dirty="0"/>
              <a:t>n</a:t>
            </a:r>
            <a:r>
              <a:rPr lang="en-US" sz="4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5013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65A3-2AE9-48D5-B7D6-C3470590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ЕВАЛУАЦИЈА ХЕШ ТАБЕЛОМ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D89871D-9073-425E-9656-C0CC458CD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717053"/>
              </p:ext>
            </p:extLst>
          </p:nvPr>
        </p:nvGraphicFramePr>
        <p:xfrm>
          <a:off x="2751589" y="2399936"/>
          <a:ext cx="6165908" cy="301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2954">
                  <a:extLst>
                    <a:ext uri="{9D8B030D-6E8A-4147-A177-3AD203B41FA5}">
                      <a16:colId xmlns:a16="http://schemas.microsoft.com/office/drawing/2014/main" val="106082075"/>
                    </a:ext>
                  </a:extLst>
                </a:gridCol>
                <a:gridCol w="3082954">
                  <a:extLst>
                    <a:ext uri="{9D8B030D-6E8A-4147-A177-3AD203B41FA5}">
                      <a16:colId xmlns:a16="http://schemas.microsoft.com/office/drawing/2014/main" val="1468382914"/>
                    </a:ext>
                  </a:extLst>
                </a:gridCol>
              </a:tblGrid>
              <a:tr h="602193">
                <a:tc>
                  <a:txBody>
                    <a:bodyPr/>
                    <a:lstStyle/>
                    <a:p>
                      <a:pPr algn="ctr"/>
                      <a:r>
                        <a:rPr lang="sr-Cyrl-RS" sz="2400" dirty="0"/>
                        <a:t>КЉУЧ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Cyrl-RS" sz="2400" dirty="0"/>
                        <a:t>ИЗЛАЗНА ВРЕДНОСТ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18948"/>
                  </a:ext>
                </a:extLst>
              </a:tr>
              <a:tr h="602193">
                <a:tc>
                  <a:txBody>
                    <a:bodyPr/>
                    <a:lstStyle/>
                    <a:p>
                      <a:pPr algn="ctr"/>
                      <a:r>
                        <a:rPr lang="sr-Cyrl-RS" sz="2400" dirty="0"/>
                        <a:t>А, А, А, </a:t>
                      </a:r>
                      <a:r>
                        <a:rPr lang="sr-Latn-RS" sz="2400" dirty="0"/>
                        <a:t>B, 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/>
                        <a:t>20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111522"/>
                  </a:ext>
                </a:extLst>
              </a:tr>
              <a:tr h="602193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/>
                        <a:t>7, 7, 7, 7, 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/>
                        <a:t>150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493375"/>
                  </a:ext>
                </a:extLst>
              </a:tr>
              <a:tr h="602193">
                <a:tc>
                  <a:txBody>
                    <a:bodyPr/>
                    <a:lstStyle/>
                    <a:p>
                      <a:pPr algn="ctr"/>
                      <a:r>
                        <a:rPr lang="sr-Cyrl-RS" sz="2400" dirty="0"/>
                        <a:t>…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Cyrl-RS" sz="2400" dirty="0"/>
                        <a:t>…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701811"/>
                  </a:ext>
                </a:extLst>
              </a:tr>
              <a:tr h="602193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/>
                        <a:t>C, C, C, F, 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/>
                        <a:t>80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636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015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CBB0-E3DB-4BFE-A667-346E6602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ЕВАЛУАЦИЈА ХЕШ ТАБЕЛОМ – ПСЕУДО КОД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2ECA3-334C-4944-91F1-FB9D96018B8D}"/>
              </a:ext>
            </a:extLst>
          </p:cNvPr>
          <p:cNvSpPr txBox="1"/>
          <p:nvPr/>
        </p:nvSpPr>
        <p:spPr>
          <a:xfrm>
            <a:off x="672317" y="2167436"/>
            <a:ext cx="6040074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funkcija </a:t>
            </a:r>
            <a:r>
              <a:rPr lang="en-US" sz="2000" dirty="0" err="1"/>
              <a:t>Evaluiraj</a:t>
            </a:r>
            <a:r>
              <a:rPr lang="en-US" sz="2000" dirty="0"/>
              <a:t>(W, P, </a:t>
            </a:r>
            <a:r>
              <a:rPr lang="en-US" sz="2000" dirty="0" err="1"/>
              <a:t>tabela</a:t>
            </a:r>
            <a:r>
              <a:rPr lang="en-US" sz="2000" dirty="0"/>
              <a:t>):</a:t>
            </a:r>
          </a:p>
          <a:p>
            <a:r>
              <a:rPr lang="sr-Cyrl-RS" sz="2000" dirty="0"/>
              <a:t>	</a:t>
            </a:r>
            <a:r>
              <a:rPr lang="en-US" sz="2000" dirty="0" err="1"/>
              <a:t>izlaz</a:t>
            </a:r>
            <a:r>
              <a:rPr lang="en-US" sz="2000" dirty="0"/>
              <a:t> ← 0</a:t>
            </a:r>
          </a:p>
          <a:p>
            <a:r>
              <a:rPr lang="sr-Cyrl-RS" sz="2000" dirty="0"/>
              <a:t>	</a:t>
            </a:r>
            <a:r>
              <a:rPr lang="en-US" sz="2000" dirty="0"/>
              <a:t>za </a:t>
            </a:r>
            <a:r>
              <a:rPr lang="en-US" sz="2000" dirty="0" err="1"/>
              <a:t>svaku</a:t>
            </a:r>
            <a:r>
              <a:rPr lang="en-US" sz="2000" dirty="0"/>
              <a:t> </a:t>
            </a:r>
            <a:r>
              <a:rPr lang="en-US" sz="2000" dirty="0" err="1"/>
              <a:t>putanju</a:t>
            </a:r>
            <a:r>
              <a:rPr lang="en-US" sz="2000" dirty="0"/>
              <a:t> p u P:</a:t>
            </a:r>
          </a:p>
          <a:p>
            <a:r>
              <a:rPr lang="sr-Cyrl-RS" sz="2000" dirty="0"/>
              <a:t>		</a:t>
            </a:r>
            <a:r>
              <a:rPr lang="en-US" sz="2000" dirty="0"/>
              <a:t>simbol_1 ← W[p[0]][0]</a:t>
            </a:r>
          </a:p>
          <a:p>
            <a:r>
              <a:rPr lang="sr-Cyrl-RS" sz="2000" dirty="0"/>
              <a:t>		</a:t>
            </a:r>
            <a:r>
              <a:rPr lang="en-US" sz="2000" dirty="0"/>
              <a:t>simbol_2 ← W[p[1]][1]</a:t>
            </a:r>
          </a:p>
          <a:p>
            <a:r>
              <a:rPr lang="sr-Cyrl-RS" sz="2000" dirty="0"/>
              <a:t>		</a:t>
            </a:r>
            <a:r>
              <a:rPr lang="en-US" sz="2000" dirty="0"/>
              <a:t>...</a:t>
            </a:r>
          </a:p>
          <a:p>
            <a:r>
              <a:rPr lang="sr-Cyrl-RS" sz="2000" dirty="0"/>
              <a:t>		</a:t>
            </a:r>
            <a:r>
              <a:rPr lang="en-US" sz="2000" dirty="0" err="1"/>
              <a:t>simbol_n</a:t>
            </a:r>
            <a:r>
              <a:rPr lang="en-US" sz="2000" dirty="0"/>
              <a:t> ← W[p[n-1]][n-1]</a:t>
            </a:r>
          </a:p>
          <a:p>
            <a:r>
              <a:rPr lang="sr-Cyrl-RS" sz="2000" dirty="0"/>
              <a:t>		</a:t>
            </a:r>
            <a:r>
              <a:rPr lang="en-US" sz="2000" dirty="0" err="1"/>
              <a:t>ključ</a:t>
            </a:r>
            <a:r>
              <a:rPr lang="en-US" sz="2000" dirty="0"/>
              <a:t> ← </a:t>
            </a:r>
            <a:r>
              <a:rPr lang="en-US" sz="2000" dirty="0" err="1"/>
              <a:t>PravljenjeKljuča</a:t>
            </a:r>
            <a:r>
              <a:rPr lang="en-US" sz="2000" dirty="0"/>
              <a:t>(simbol_1, ..., </a:t>
            </a:r>
            <a:r>
              <a:rPr lang="en-US" sz="2000" dirty="0" err="1"/>
              <a:t>simbol_n</a:t>
            </a:r>
            <a:r>
              <a:rPr lang="en-US" sz="2000" dirty="0"/>
              <a:t>)</a:t>
            </a:r>
          </a:p>
          <a:p>
            <a:r>
              <a:rPr lang="sr-Cyrl-RS" sz="2000" dirty="0"/>
              <a:t>		</a:t>
            </a:r>
            <a:r>
              <a:rPr lang="en-US" sz="2000" dirty="0"/>
              <a:t>ako </a:t>
            </a:r>
            <a:r>
              <a:rPr lang="en-US" sz="2000" dirty="0" err="1"/>
              <a:t>tabela</a:t>
            </a:r>
            <a:r>
              <a:rPr lang="en-US" sz="2000" dirty="0"/>
              <a:t> </a:t>
            </a:r>
            <a:r>
              <a:rPr lang="en-US" sz="2000" dirty="0" err="1"/>
              <a:t>sadrži</a:t>
            </a:r>
            <a:r>
              <a:rPr lang="en-US" sz="2000" dirty="0"/>
              <a:t> </a:t>
            </a:r>
            <a:r>
              <a:rPr lang="en-US" sz="2000" dirty="0" err="1"/>
              <a:t>ključ</a:t>
            </a:r>
            <a:r>
              <a:rPr lang="en-US" sz="2000" dirty="0"/>
              <a:t>:</a:t>
            </a:r>
          </a:p>
          <a:p>
            <a:r>
              <a:rPr lang="sr-Cyrl-RS" sz="2000" dirty="0"/>
              <a:t>			</a:t>
            </a:r>
            <a:r>
              <a:rPr lang="en-US" sz="2000" dirty="0" err="1"/>
              <a:t>izlaz</a:t>
            </a:r>
            <a:r>
              <a:rPr lang="en-US" sz="2000" dirty="0"/>
              <a:t> ← </a:t>
            </a:r>
            <a:r>
              <a:rPr lang="en-US" sz="2000" dirty="0" err="1"/>
              <a:t>izlaz</a:t>
            </a:r>
            <a:r>
              <a:rPr lang="en-US" sz="2000" dirty="0"/>
              <a:t> + tab</a:t>
            </a:r>
            <a:r>
              <a:rPr lang="sr-Cyrl-RS" sz="2000" dirty="0"/>
              <a:t>е</a:t>
            </a:r>
            <a:r>
              <a:rPr lang="sr-Latn-RS" sz="2000" dirty="0"/>
              <a:t>l</a:t>
            </a:r>
            <a:r>
              <a:rPr lang="en-US" sz="2000" dirty="0"/>
              <a:t>a[</a:t>
            </a:r>
            <a:r>
              <a:rPr lang="en-US" sz="2000" dirty="0" err="1"/>
              <a:t>ključ</a:t>
            </a:r>
            <a:r>
              <a:rPr lang="en-US" sz="2000" dirty="0"/>
              <a:t>].</a:t>
            </a:r>
            <a:r>
              <a:rPr lang="en-US" sz="2000" dirty="0" err="1"/>
              <a:t>vrednost</a:t>
            </a:r>
            <a:endParaRPr lang="en-US" sz="2000" dirty="0"/>
          </a:p>
          <a:p>
            <a:r>
              <a:rPr lang="sr-Cyrl-RS" sz="2000" dirty="0"/>
              <a:t>	</a:t>
            </a:r>
            <a:r>
              <a:rPr lang="en-US" sz="2000" dirty="0" err="1"/>
              <a:t>vrati</a:t>
            </a:r>
            <a:r>
              <a:rPr lang="en-US" sz="2000" dirty="0"/>
              <a:t> </a:t>
            </a:r>
            <a:r>
              <a:rPr lang="en-US" sz="2000" dirty="0" err="1"/>
              <a:t>izlaz</a:t>
            </a: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0EDE96-48F7-4863-BE1D-657A72A0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5234" y="1894693"/>
            <a:ext cx="4807131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Генерисање свих </a:t>
            </a:r>
            <a:r>
              <a:rPr lang="sr-Latn-RS" sz="2400" i="1" dirty="0"/>
              <a:t>k^n </a:t>
            </a:r>
            <a:r>
              <a:rPr lang="sr-Cyrl-RS" sz="2400" dirty="0"/>
              <a:t>комбинација и евалуација сваке је:</a:t>
            </a:r>
          </a:p>
          <a:p>
            <a:pPr marL="0" indent="0">
              <a:buNone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За једну путању читање </a:t>
            </a:r>
            <a:r>
              <a:rPr lang="sr-Cyrl-RS" sz="2400" dirty="0" err="1"/>
              <a:t>токена</a:t>
            </a:r>
            <a:r>
              <a:rPr lang="sr-Cyrl-RS" sz="2400" dirty="0"/>
              <a:t>:</a:t>
            </a:r>
          </a:p>
          <a:p>
            <a:pPr marL="0" indent="0">
              <a:buNone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Претрага табеле: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Укупно </a:t>
            </a:r>
            <a:r>
              <a:rPr lang="sr-Cyrl-RS" sz="2400" dirty="0" err="1"/>
              <a:t>асимптотски</a:t>
            </a:r>
            <a:r>
              <a:rPr lang="sr-Cyrl-RS" sz="2400" dirty="0"/>
              <a:t> за сваку путању: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711B5-3F86-494E-A1FC-9F2167230A06}"/>
              </a:ext>
            </a:extLst>
          </p:cNvPr>
          <p:cNvSpPr txBox="1"/>
          <p:nvPr/>
        </p:nvSpPr>
        <p:spPr>
          <a:xfrm>
            <a:off x="8207228" y="2559201"/>
            <a:ext cx="2483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2400" dirty="0"/>
              <a:t>О(</a:t>
            </a:r>
            <a:r>
              <a:rPr lang="sr-Latn-RS" sz="2400" i="1" dirty="0"/>
              <a:t>k^n</a:t>
            </a:r>
            <a:r>
              <a:rPr lang="sr-Cyrl-RS" sz="2400" i="1" dirty="0"/>
              <a:t> </a:t>
            </a:r>
            <a:r>
              <a:rPr lang="en-US" sz="2400" dirty="0"/>
              <a:t>⋅</a:t>
            </a:r>
            <a:r>
              <a:rPr lang="sr-Cyrl-RS" sz="2400" dirty="0"/>
              <a:t> </a:t>
            </a:r>
            <a:r>
              <a:rPr lang="sr-Latn-RS" sz="2400" i="1" dirty="0"/>
              <a:t>n</a:t>
            </a:r>
            <a:r>
              <a:rPr lang="sr-Latn-RS" sz="2400" dirty="0"/>
              <a:t>)</a:t>
            </a:r>
            <a:r>
              <a:rPr lang="sr-Cyrl-RS" sz="2400" i="1" dirty="0"/>
              <a:t> 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E3BCC-8F09-4581-9EB7-0638A0AD7DC6}"/>
              </a:ext>
            </a:extLst>
          </p:cNvPr>
          <p:cNvSpPr txBox="1"/>
          <p:nvPr/>
        </p:nvSpPr>
        <p:spPr>
          <a:xfrm>
            <a:off x="8351360" y="3606302"/>
            <a:ext cx="2483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2400" dirty="0"/>
              <a:t>О(</a:t>
            </a:r>
            <a:r>
              <a:rPr lang="sr-Latn-RS" sz="2400" i="1" dirty="0"/>
              <a:t>n</a:t>
            </a:r>
            <a:r>
              <a:rPr lang="sr-Latn-RS" sz="2400" dirty="0"/>
              <a:t>)</a:t>
            </a:r>
            <a:r>
              <a:rPr lang="sr-Cyrl-RS" sz="2400" i="1" dirty="0"/>
              <a:t> 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22CD2-9177-42E0-94B9-37FCB21799BB}"/>
              </a:ext>
            </a:extLst>
          </p:cNvPr>
          <p:cNvSpPr txBox="1"/>
          <p:nvPr/>
        </p:nvSpPr>
        <p:spPr>
          <a:xfrm>
            <a:off x="8351359" y="4501642"/>
            <a:ext cx="2483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2400" dirty="0"/>
              <a:t>О(</a:t>
            </a:r>
            <a:r>
              <a:rPr lang="sr-Latn-RS" sz="2400" i="1" dirty="0"/>
              <a:t>1</a:t>
            </a:r>
            <a:r>
              <a:rPr lang="sr-Latn-RS" sz="2400" dirty="0"/>
              <a:t>)</a:t>
            </a:r>
            <a:r>
              <a:rPr lang="sr-Cyrl-RS" sz="2400" i="1" dirty="0"/>
              <a:t> 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3F3D4-17EE-44A6-89DA-CFEEAD387F64}"/>
              </a:ext>
            </a:extLst>
          </p:cNvPr>
          <p:cNvSpPr txBox="1"/>
          <p:nvPr/>
        </p:nvSpPr>
        <p:spPr>
          <a:xfrm>
            <a:off x="8351359" y="5613721"/>
            <a:ext cx="2483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2400" dirty="0"/>
              <a:t>О(</a:t>
            </a:r>
            <a:r>
              <a:rPr lang="sr-Latn-RS" sz="2400" i="1" dirty="0"/>
              <a:t>L </a:t>
            </a:r>
            <a:r>
              <a:rPr lang="en-US" sz="2400" dirty="0"/>
              <a:t>⋅</a:t>
            </a:r>
            <a:r>
              <a:rPr lang="sr-Cyrl-RS" sz="2400" dirty="0"/>
              <a:t> </a:t>
            </a:r>
            <a:r>
              <a:rPr lang="sr-Latn-RS" sz="2400" i="1" dirty="0"/>
              <a:t>n</a:t>
            </a:r>
            <a:r>
              <a:rPr lang="sr-Latn-RS" sz="2400" dirty="0"/>
              <a:t>)</a:t>
            </a:r>
            <a:r>
              <a:rPr lang="sr-Cyrl-RS" sz="2400" i="1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758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5687-DC2A-4E53-A3BB-5AFBAEEB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ЕВАЛУАЦИЈА ПОМОЋУ ИНДЕКСНОГ СТАБА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3D8A0-BDB4-4C99-AD83-F2CCEC7EE45A}"/>
              </a:ext>
            </a:extLst>
          </p:cNvPr>
          <p:cNvSpPr txBox="1"/>
          <p:nvPr/>
        </p:nvSpPr>
        <p:spPr>
          <a:xfrm>
            <a:off x="1441870" y="2248250"/>
            <a:ext cx="718466" cy="24006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sr-Latn-RS" sz="6600" dirty="0"/>
              <a:t>B</a:t>
            </a:r>
          </a:p>
          <a:p>
            <a:r>
              <a:rPr lang="sr-Latn-RS" sz="6600" dirty="0"/>
              <a:t>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72076-1260-497C-A4FF-0A7D117DE72B}"/>
              </a:ext>
            </a:extLst>
          </p:cNvPr>
          <p:cNvSpPr txBox="1"/>
          <p:nvPr/>
        </p:nvSpPr>
        <p:spPr>
          <a:xfrm>
            <a:off x="2767329" y="2258157"/>
            <a:ext cx="7280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H</a:t>
            </a:r>
          </a:p>
          <a:p>
            <a:r>
              <a:rPr lang="sr-Latn-RS" sz="6600" dirty="0"/>
              <a:t>H</a:t>
            </a:r>
          </a:p>
          <a:p>
            <a:r>
              <a:rPr lang="sr-Latn-RS" sz="6600" dirty="0"/>
              <a:t>U</a:t>
            </a:r>
            <a:endParaRPr lang="en-US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FB8A9-C824-4C43-93B4-94625157AFD0}"/>
              </a:ext>
            </a:extLst>
          </p:cNvPr>
          <p:cNvSpPr txBox="1"/>
          <p:nvPr/>
        </p:nvSpPr>
        <p:spPr>
          <a:xfrm>
            <a:off x="4102406" y="2258157"/>
            <a:ext cx="6238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K</a:t>
            </a:r>
          </a:p>
          <a:p>
            <a:r>
              <a:rPr lang="sr-Latn-RS" sz="6600" dirty="0"/>
              <a:t>K</a:t>
            </a:r>
            <a:endParaRPr lang="en-US"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AF520-9DBD-4C4E-A5D1-B8541064B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81" y="4239835"/>
            <a:ext cx="1157643" cy="1157643"/>
          </a:xfrm>
          <a:prstGeom prst="rect">
            <a:avLst/>
          </a:prstGeom>
        </p:spPr>
      </p:pic>
      <p:pic>
        <p:nvPicPr>
          <p:cNvPr id="8" name="Picture 4" descr="lemon - download free icon Classic Slot Machine Icons on Artage.io">
            <a:extLst>
              <a:ext uri="{FF2B5EF4-FFF2-40B4-BE49-F238E27FC236}">
                <a16:creationId xmlns:a16="http://schemas.microsoft.com/office/drawing/2014/main" id="{F4DA53BA-F492-4AB6-8A26-80AD61DC2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06" y="4469689"/>
            <a:ext cx="697934" cy="69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F8E2EE-D9E2-4285-B5AA-D1738835DFA7}"/>
              </a:ext>
            </a:extLst>
          </p:cNvPr>
          <p:cNvSpPr txBox="1"/>
          <p:nvPr/>
        </p:nvSpPr>
        <p:spPr>
          <a:xfrm>
            <a:off x="5407333" y="2258157"/>
            <a:ext cx="67518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r-Latn-RS" sz="6600" dirty="0"/>
          </a:p>
          <a:p>
            <a:r>
              <a:rPr lang="sr-Cyrl-RS" sz="6600" dirty="0"/>
              <a:t>А</a:t>
            </a:r>
            <a:endParaRPr lang="sr-Latn-RS" sz="6600" dirty="0"/>
          </a:p>
          <a:p>
            <a:r>
              <a:rPr lang="sr-Cyrl-RS" sz="6600" dirty="0"/>
              <a:t>А</a:t>
            </a:r>
            <a:endParaRPr lang="en-US" sz="6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772A4-B82C-4428-8D0A-E0BEDC35F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232" y="2484228"/>
            <a:ext cx="593853" cy="6509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A7BD7D-8B84-4A04-9440-6DE274A9CDF1}"/>
              </a:ext>
            </a:extLst>
          </p:cNvPr>
          <p:cNvSpPr txBox="1"/>
          <p:nvPr/>
        </p:nvSpPr>
        <p:spPr>
          <a:xfrm>
            <a:off x="6712260" y="2248250"/>
            <a:ext cx="63671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6600" dirty="0"/>
              <a:t>F</a:t>
            </a:r>
          </a:p>
          <a:p>
            <a:r>
              <a:rPr lang="sr-Latn-RS" sz="6600" dirty="0"/>
              <a:t>F</a:t>
            </a:r>
          </a:p>
          <a:p>
            <a:r>
              <a:rPr lang="sr-Latn-RS" sz="6600" dirty="0"/>
              <a:t>C</a:t>
            </a:r>
            <a:endParaRPr lang="en-US" sz="6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7353FF-F142-46EC-B412-62D7F5E16436}"/>
              </a:ext>
            </a:extLst>
          </p:cNvPr>
          <p:cNvSpPr txBox="1"/>
          <p:nvPr/>
        </p:nvSpPr>
        <p:spPr>
          <a:xfrm>
            <a:off x="7743039" y="2072081"/>
            <a:ext cx="4647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1168" lvl="1" indent="0">
              <a:buNone/>
            </a:pPr>
            <a:r>
              <a:rPr lang="ru-RU" sz="1800" dirty="0"/>
              <a:t>[</a:t>
            </a:r>
            <a:r>
              <a:rPr lang="ru-RU" sz="1800" dirty="0">
                <a:solidFill>
                  <a:schemeClr val="accent4"/>
                </a:solidFill>
              </a:rPr>
              <a:t> X </a:t>
            </a:r>
            <a:r>
              <a:rPr lang="ru-RU" sz="1800" dirty="0"/>
              <a:t>] [</a:t>
            </a:r>
            <a:r>
              <a:rPr lang="sr-Latn-RS" sz="1800" dirty="0">
                <a:solidFill>
                  <a:schemeClr val="accent4"/>
                </a:solidFill>
              </a:rPr>
              <a:t> 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chemeClr val="accent4"/>
                </a:solidFill>
              </a:rPr>
              <a:t>X </a:t>
            </a:r>
            <a:r>
              <a:rPr lang="ru-RU" sz="1800" dirty="0"/>
              <a:t>] [</a:t>
            </a:r>
            <a:r>
              <a:rPr lang="sr-Latn-RS" sz="1800" dirty="0">
                <a:solidFill>
                  <a:schemeClr val="accent4"/>
                </a:solidFill>
              </a:rPr>
              <a:t> X </a:t>
            </a:r>
            <a:r>
              <a:rPr lang="ru-RU" sz="1800" dirty="0"/>
              <a:t>] [</a:t>
            </a:r>
            <a:r>
              <a:rPr lang="sr-Latn-RS" dirty="0">
                <a:solidFill>
                  <a:schemeClr val="accent4"/>
                </a:solidFill>
              </a:rPr>
              <a:t> X</a:t>
            </a:r>
            <a:r>
              <a:rPr lang="ru-RU" sz="1800" dirty="0">
                <a:solidFill>
                  <a:schemeClr val="accent4"/>
                </a:solidFill>
              </a:rPr>
              <a:t> </a:t>
            </a:r>
            <a:r>
              <a:rPr lang="ru-RU" sz="1800" dirty="0"/>
              <a:t>]</a:t>
            </a:r>
          </a:p>
          <a:p>
            <a:pPr marL="201168" lvl="1" indent="0">
              <a:buNone/>
            </a:pPr>
            <a:r>
              <a:rPr lang="ru-RU" sz="1800" dirty="0"/>
              <a:t>[</a:t>
            </a:r>
            <a:r>
              <a:rPr lang="sr-Latn-RS" sz="1800" dirty="0"/>
              <a:t>   </a:t>
            </a:r>
            <a:r>
              <a:rPr lang="ru-RU" sz="1800" dirty="0"/>
              <a:t> ] [ </a:t>
            </a:r>
            <a:r>
              <a:rPr lang="sr-Latn-RS" dirty="0">
                <a:solidFill>
                  <a:srgbClr val="FF0000"/>
                </a:solidFill>
              </a:rPr>
              <a:t> </a:t>
            </a:r>
            <a:r>
              <a:rPr lang="ru-RU" sz="1800" dirty="0"/>
              <a:t> </a:t>
            </a:r>
            <a:r>
              <a:rPr lang="sr-Latn-RS" sz="1800" dirty="0"/>
              <a:t> </a:t>
            </a:r>
            <a:r>
              <a:rPr lang="ru-RU" sz="1800" dirty="0"/>
              <a:t>] </a:t>
            </a:r>
            <a:r>
              <a:rPr lang="sr-Latn-RS" sz="1800" dirty="0"/>
              <a:t> </a:t>
            </a:r>
            <a:r>
              <a:rPr lang="ru-RU" sz="1800" dirty="0"/>
              <a:t>[ </a:t>
            </a:r>
            <a:r>
              <a:rPr lang="sr-Latn-RS" sz="1800" dirty="0"/>
              <a:t>   </a:t>
            </a:r>
            <a:r>
              <a:rPr lang="ru-RU" sz="1800" dirty="0"/>
              <a:t>] [ </a:t>
            </a:r>
            <a:r>
              <a:rPr lang="sr-Latn-RS" dirty="0">
                <a:solidFill>
                  <a:srgbClr val="FF0000"/>
                </a:solidFill>
              </a:rPr>
              <a:t> </a:t>
            </a:r>
            <a:r>
              <a:rPr lang="ru-RU" sz="1800" dirty="0"/>
              <a:t> 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  </a:t>
            </a:r>
            <a:r>
              <a:rPr lang="ru-RU" sz="1800" dirty="0"/>
              <a:t> ]</a:t>
            </a:r>
          </a:p>
          <a:p>
            <a:pPr marL="201168" lvl="1" indent="0">
              <a:buNone/>
            </a:pPr>
            <a:r>
              <a:rPr lang="ru-RU" sz="1800" dirty="0"/>
              <a:t>[ </a:t>
            </a:r>
            <a:r>
              <a:rPr lang="sr-Latn-RS" sz="1800" dirty="0"/>
              <a:t>   </a:t>
            </a:r>
            <a:r>
              <a:rPr lang="ru-RU" sz="1800" dirty="0"/>
              <a:t>] [</a:t>
            </a:r>
            <a:r>
              <a:rPr lang="sr-Latn-RS" sz="1800" dirty="0"/>
              <a:t>  </a:t>
            </a:r>
            <a:r>
              <a:rPr lang="ru-RU" sz="1800" dirty="0"/>
              <a:t> </a:t>
            </a:r>
            <a:r>
              <a:rPr lang="sr-Latn-RS" sz="1800" dirty="0"/>
              <a:t> </a:t>
            </a:r>
            <a:r>
              <a:rPr lang="ru-RU" sz="1800" dirty="0"/>
              <a:t>] </a:t>
            </a:r>
            <a:r>
              <a:rPr lang="sr-Latn-RS" sz="1800" dirty="0"/>
              <a:t> </a:t>
            </a:r>
            <a:r>
              <a:rPr lang="ru-RU" sz="1800" dirty="0"/>
              <a:t>[ </a:t>
            </a:r>
            <a:r>
              <a:rPr lang="sr-Latn-RS" dirty="0">
                <a:solidFill>
                  <a:srgbClr val="FF0000"/>
                </a:solidFill>
              </a:rPr>
              <a:t>  </a:t>
            </a:r>
            <a:r>
              <a:rPr lang="ru-RU" sz="1800" dirty="0"/>
              <a:t> ] [ </a:t>
            </a:r>
            <a:r>
              <a:rPr lang="sr-Latn-RS" sz="1800" dirty="0"/>
              <a:t>   </a:t>
            </a:r>
            <a:r>
              <a:rPr lang="ru-RU" sz="1800" dirty="0"/>
              <a:t>] [ </a:t>
            </a:r>
            <a:r>
              <a:rPr lang="sr-Latn-RS" sz="1800" dirty="0"/>
              <a:t>   </a:t>
            </a:r>
            <a:r>
              <a:rPr lang="ru-RU" sz="1800" dirty="0"/>
              <a:t>]</a:t>
            </a:r>
            <a:endParaRPr lang="sr-Latn-RS" sz="1800" dirty="0"/>
          </a:p>
          <a:p>
            <a:pPr marL="201168" lvl="1" indent="0">
              <a:buNone/>
            </a:pPr>
            <a:endParaRPr lang="sr-Latn-RS" dirty="0"/>
          </a:p>
          <a:p>
            <a:pPr marL="201168" lvl="1" indent="0">
              <a:buNone/>
            </a:pPr>
            <a:r>
              <a:rPr lang="ru-RU" sz="1800" dirty="0"/>
              <a:t>[ </a:t>
            </a:r>
            <a:r>
              <a:rPr lang="ru-RU" sz="1800" dirty="0">
                <a:solidFill>
                  <a:schemeClr val="accent1"/>
                </a:solidFill>
              </a:rPr>
              <a:t>X</a:t>
            </a:r>
            <a:r>
              <a:rPr lang="ru-RU" sz="1800" dirty="0"/>
              <a:t> 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chemeClr val="accent1"/>
                </a:solidFill>
              </a:rPr>
              <a:t>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chemeClr val="accent1"/>
                </a:solidFill>
              </a:rPr>
              <a:t>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chemeClr val="accent1"/>
                </a:solidFill>
              </a:rPr>
              <a:t>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dirty="0"/>
              <a:t>   </a:t>
            </a:r>
            <a:r>
              <a:rPr lang="ru-RU" sz="1800" dirty="0"/>
              <a:t> ]</a:t>
            </a:r>
          </a:p>
          <a:p>
            <a:pPr marL="201168" lvl="1" indent="0">
              <a:buNone/>
            </a:pPr>
            <a:r>
              <a:rPr lang="ru-RU" sz="1800" dirty="0"/>
              <a:t>[</a:t>
            </a:r>
            <a:r>
              <a:rPr lang="sr-Latn-RS" sz="1800" dirty="0"/>
              <a:t>   </a:t>
            </a:r>
            <a:r>
              <a:rPr lang="ru-RU" sz="1800" dirty="0"/>
              <a:t> ] [ </a:t>
            </a:r>
            <a:r>
              <a:rPr lang="sr-Latn-RS" dirty="0">
                <a:solidFill>
                  <a:srgbClr val="FF0000"/>
                </a:solidFill>
              </a:rPr>
              <a:t>  </a:t>
            </a:r>
            <a:r>
              <a:rPr lang="sr-Latn-RS" sz="1800" dirty="0"/>
              <a:t> </a:t>
            </a:r>
            <a:r>
              <a:rPr lang="ru-RU" sz="1800" dirty="0"/>
              <a:t>] </a:t>
            </a:r>
            <a:r>
              <a:rPr lang="sr-Latn-RS" sz="1800" dirty="0"/>
              <a:t> </a:t>
            </a:r>
            <a:r>
              <a:rPr lang="ru-RU" sz="1800" dirty="0"/>
              <a:t>[ </a:t>
            </a:r>
            <a:r>
              <a:rPr lang="sr-Latn-RS" sz="1800" dirty="0"/>
              <a:t>   </a:t>
            </a:r>
            <a:r>
              <a:rPr lang="ru-RU" sz="1800" dirty="0"/>
              <a:t>] [ </a:t>
            </a:r>
            <a:r>
              <a:rPr lang="sr-Latn-RS" dirty="0">
                <a:solidFill>
                  <a:srgbClr val="FF0000"/>
                </a:solidFill>
              </a:rPr>
              <a:t> </a:t>
            </a:r>
            <a:r>
              <a:rPr lang="ru-RU" sz="1800" dirty="0"/>
              <a:t> 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chemeClr val="accent1"/>
                </a:solidFill>
              </a:rPr>
              <a:t>X</a:t>
            </a:r>
            <a:r>
              <a:rPr lang="ru-RU" sz="1800" dirty="0"/>
              <a:t> ]</a:t>
            </a:r>
          </a:p>
          <a:p>
            <a:pPr marL="201168" lvl="1" indent="0">
              <a:buNone/>
            </a:pPr>
            <a:r>
              <a:rPr lang="ru-RU" sz="1800" dirty="0"/>
              <a:t>[ </a:t>
            </a:r>
            <a:r>
              <a:rPr lang="sr-Latn-RS" sz="1800" dirty="0"/>
              <a:t>   </a:t>
            </a:r>
            <a:r>
              <a:rPr lang="ru-RU" sz="1800" dirty="0"/>
              <a:t>] [</a:t>
            </a:r>
            <a:r>
              <a:rPr lang="sr-Latn-RS" sz="1800" dirty="0"/>
              <a:t>  </a:t>
            </a:r>
            <a:r>
              <a:rPr lang="ru-RU" sz="1800" dirty="0"/>
              <a:t> </a:t>
            </a:r>
            <a:r>
              <a:rPr lang="sr-Latn-RS" sz="1800" dirty="0"/>
              <a:t> </a:t>
            </a:r>
            <a:r>
              <a:rPr lang="ru-RU" sz="1800" dirty="0"/>
              <a:t>] </a:t>
            </a:r>
            <a:r>
              <a:rPr lang="sr-Latn-RS" sz="1800" dirty="0"/>
              <a:t> </a:t>
            </a:r>
            <a:r>
              <a:rPr lang="ru-RU" sz="1800" dirty="0"/>
              <a:t>[ </a:t>
            </a:r>
            <a:r>
              <a:rPr lang="sr-Latn-RS" dirty="0">
                <a:solidFill>
                  <a:srgbClr val="FF0000"/>
                </a:solidFill>
              </a:rPr>
              <a:t>  </a:t>
            </a:r>
            <a:r>
              <a:rPr lang="ru-RU" sz="1800" dirty="0"/>
              <a:t> ] [ </a:t>
            </a:r>
            <a:r>
              <a:rPr lang="sr-Latn-RS" sz="1800" dirty="0"/>
              <a:t>   </a:t>
            </a:r>
            <a:r>
              <a:rPr lang="ru-RU" sz="1800" dirty="0"/>
              <a:t>] [ </a:t>
            </a:r>
            <a:r>
              <a:rPr lang="sr-Latn-RS" sz="1800" dirty="0"/>
              <a:t>   </a:t>
            </a:r>
            <a:r>
              <a:rPr lang="ru-RU" sz="1800" dirty="0"/>
              <a:t>]</a:t>
            </a:r>
            <a:endParaRPr lang="en-US" sz="1800" dirty="0"/>
          </a:p>
          <a:p>
            <a:pPr marL="201168" lvl="1" indent="0">
              <a:buNone/>
            </a:pPr>
            <a:endParaRPr lang="sr-Latn-RS" sz="1800" dirty="0"/>
          </a:p>
          <a:p>
            <a:pPr marL="201168" lvl="1" indent="0">
              <a:buNone/>
            </a:pPr>
            <a:endParaRPr lang="sr-Latn-RS" dirty="0"/>
          </a:p>
          <a:p>
            <a:pPr marL="201168" lvl="1" indent="0">
              <a:buNone/>
            </a:pPr>
            <a:r>
              <a:rPr lang="ru-RU" sz="1800" dirty="0"/>
              <a:t>[ </a:t>
            </a:r>
            <a:r>
              <a:rPr lang="ru-RU" sz="1800" dirty="0">
                <a:solidFill>
                  <a:srgbClr val="FFC000"/>
                </a:solidFill>
              </a:rPr>
              <a:t>X</a:t>
            </a:r>
            <a:r>
              <a:rPr lang="ru-RU" sz="1800" dirty="0"/>
              <a:t> 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rgbClr val="FFC000"/>
                </a:solidFill>
              </a:rPr>
              <a:t>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</a:t>
            </a:r>
            <a:r>
              <a:rPr lang="sr-Latn-RS" sz="1800" dirty="0">
                <a:solidFill>
                  <a:srgbClr val="FFC000"/>
                </a:solidFill>
              </a:rPr>
              <a:t>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   </a:t>
            </a:r>
            <a:r>
              <a:rPr lang="ru-RU" sz="1800" dirty="0"/>
              <a:t>] [</a:t>
            </a:r>
            <a:r>
              <a:rPr lang="sr-Latn-RS" dirty="0"/>
              <a:t>   </a:t>
            </a:r>
            <a:r>
              <a:rPr lang="ru-RU" sz="1800" dirty="0"/>
              <a:t> ]</a:t>
            </a:r>
          </a:p>
          <a:p>
            <a:pPr marL="201168" lvl="1" indent="0">
              <a:buNone/>
            </a:pPr>
            <a:r>
              <a:rPr lang="ru-RU" sz="1800" dirty="0"/>
              <a:t>[</a:t>
            </a:r>
            <a:r>
              <a:rPr lang="sr-Latn-RS" sz="1800" dirty="0"/>
              <a:t>   </a:t>
            </a:r>
            <a:r>
              <a:rPr lang="ru-RU" sz="1800" dirty="0"/>
              <a:t> ] [ </a:t>
            </a:r>
            <a:r>
              <a:rPr lang="sr-Latn-RS" dirty="0">
                <a:solidFill>
                  <a:srgbClr val="FF0000"/>
                </a:solidFill>
              </a:rPr>
              <a:t>  </a:t>
            </a:r>
            <a:r>
              <a:rPr lang="sr-Latn-RS" sz="1800" dirty="0"/>
              <a:t> </a:t>
            </a:r>
            <a:r>
              <a:rPr lang="ru-RU" sz="1800" dirty="0"/>
              <a:t>] </a:t>
            </a:r>
            <a:r>
              <a:rPr lang="sr-Latn-RS" sz="1800" dirty="0"/>
              <a:t> </a:t>
            </a:r>
            <a:r>
              <a:rPr lang="ru-RU" sz="1800" dirty="0"/>
              <a:t>[ </a:t>
            </a:r>
            <a:r>
              <a:rPr lang="sr-Latn-RS" sz="1800" dirty="0"/>
              <a:t>   </a:t>
            </a:r>
            <a:r>
              <a:rPr lang="ru-RU" sz="1800" dirty="0"/>
              <a:t>] [</a:t>
            </a:r>
            <a:r>
              <a:rPr lang="sr-Latn-RS" sz="1800" dirty="0"/>
              <a:t> </a:t>
            </a:r>
            <a:r>
              <a:rPr lang="sr-Latn-RS" dirty="0">
                <a:solidFill>
                  <a:srgbClr val="FFC000"/>
                </a:solidFill>
              </a:rPr>
              <a:t>X</a:t>
            </a:r>
            <a:r>
              <a:rPr lang="sr-Latn-RS" sz="1800" dirty="0"/>
              <a:t> </a:t>
            </a:r>
            <a:r>
              <a:rPr lang="ru-RU" sz="1800" dirty="0"/>
              <a:t>] [</a:t>
            </a:r>
            <a:r>
              <a:rPr lang="sr-Latn-RS" sz="1800" dirty="0"/>
              <a:t>   </a:t>
            </a:r>
            <a:r>
              <a:rPr lang="ru-RU" sz="1800" dirty="0"/>
              <a:t> ]</a:t>
            </a:r>
          </a:p>
          <a:p>
            <a:pPr marL="201168" lvl="1" indent="0">
              <a:buNone/>
            </a:pPr>
            <a:r>
              <a:rPr lang="ru-RU" sz="1800" dirty="0"/>
              <a:t>[ </a:t>
            </a:r>
            <a:r>
              <a:rPr lang="sr-Latn-RS" sz="1800" dirty="0"/>
              <a:t>   </a:t>
            </a:r>
            <a:r>
              <a:rPr lang="ru-RU" sz="1800" dirty="0"/>
              <a:t>] [</a:t>
            </a:r>
            <a:r>
              <a:rPr lang="sr-Latn-RS" sz="1800" dirty="0"/>
              <a:t>    </a:t>
            </a:r>
            <a:r>
              <a:rPr lang="ru-RU" sz="1800" dirty="0"/>
              <a:t>] </a:t>
            </a:r>
            <a:r>
              <a:rPr lang="sr-Latn-RS" sz="1800" dirty="0"/>
              <a:t> </a:t>
            </a:r>
            <a:r>
              <a:rPr lang="ru-RU" sz="1800" dirty="0"/>
              <a:t>[ </a:t>
            </a:r>
            <a:r>
              <a:rPr lang="sr-Latn-RS" dirty="0">
                <a:solidFill>
                  <a:srgbClr val="FF0000"/>
                </a:solidFill>
              </a:rPr>
              <a:t>  </a:t>
            </a:r>
            <a:r>
              <a:rPr lang="ru-RU" sz="1800" dirty="0"/>
              <a:t> ] [ </a:t>
            </a:r>
            <a:r>
              <a:rPr lang="sr-Latn-RS" sz="1800" dirty="0"/>
              <a:t>   </a:t>
            </a:r>
            <a:r>
              <a:rPr lang="ru-RU" sz="1800" dirty="0"/>
              <a:t>] [</a:t>
            </a:r>
            <a:r>
              <a:rPr lang="sr-Latn-RS" sz="1800" dirty="0">
                <a:solidFill>
                  <a:srgbClr val="FF0000"/>
                </a:solidFill>
              </a:rPr>
              <a:t> </a:t>
            </a:r>
            <a:r>
              <a:rPr lang="sr-Latn-RS" sz="1800" dirty="0">
                <a:solidFill>
                  <a:srgbClr val="FFC000"/>
                </a:solidFill>
              </a:rPr>
              <a:t>X </a:t>
            </a:r>
            <a:r>
              <a:rPr lang="ru-RU" sz="1800" dirty="0"/>
              <a:t>]</a:t>
            </a:r>
            <a:endParaRPr lang="en-US" sz="1800" dirty="0"/>
          </a:p>
          <a:p>
            <a:pPr marL="201168" lvl="1" indent="0">
              <a:buNone/>
            </a:pPr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608A5B-A1B5-4F6F-BDA6-7561158347D2}"/>
              </a:ext>
            </a:extLst>
          </p:cNvPr>
          <p:cNvSpPr/>
          <p:nvPr/>
        </p:nvSpPr>
        <p:spPr>
          <a:xfrm>
            <a:off x="1432252" y="2431598"/>
            <a:ext cx="728084" cy="756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D979C7-1AF3-4245-8ECF-107ED0AADD19}"/>
              </a:ext>
            </a:extLst>
          </p:cNvPr>
          <p:cNvSpPr/>
          <p:nvPr/>
        </p:nvSpPr>
        <p:spPr>
          <a:xfrm>
            <a:off x="2752254" y="2431597"/>
            <a:ext cx="728084" cy="756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237CFF-F979-4948-87ED-F02A6D13BB9F}"/>
              </a:ext>
            </a:extLst>
          </p:cNvPr>
          <p:cNvSpPr/>
          <p:nvPr/>
        </p:nvSpPr>
        <p:spPr>
          <a:xfrm>
            <a:off x="4102406" y="2431596"/>
            <a:ext cx="728084" cy="756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FCA996A-954A-46E0-8987-49E8D668B1FF}"/>
              </a:ext>
            </a:extLst>
          </p:cNvPr>
          <p:cNvCxnSpPr>
            <a:cxnSpLocks/>
          </p:cNvCxnSpPr>
          <p:nvPr/>
        </p:nvCxnSpPr>
        <p:spPr>
          <a:xfrm flipV="1">
            <a:off x="2175411" y="2829410"/>
            <a:ext cx="5919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DA2187-2140-440A-8A24-303AFCDC42BE}"/>
              </a:ext>
            </a:extLst>
          </p:cNvPr>
          <p:cNvCxnSpPr>
            <a:cxnSpLocks/>
          </p:cNvCxnSpPr>
          <p:nvPr/>
        </p:nvCxnSpPr>
        <p:spPr>
          <a:xfrm flipV="1">
            <a:off x="3495413" y="2809704"/>
            <a:ext cx="5919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F3039C-4E02-4AF6-8196-6638428329E4}"/>
              </a:ext>
            </a:extLst>
          </p:cNvPr>
          <p:cNvCxnSpPr>
            <a:cxnSpLocks/>
          </p:cNvCxnSpPr>
          <p:nvPr/>
        </p:nvCxnSpPr>
        <p:spPr>
          <a:xfrm flipV="1">
            <a:off x="4834779" y="2829410"/>
            <a:ext cx="5919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FEC789-15EE-4EC8-9192-DF96C6B37E5F}"/>
              </a:ext>
            </a:extLst>
          </p:cNvPr>
          <p:cNvCxnSpPr>
            <a:cxnSpLocks/>
          </p:cNvCxnSpPr>
          <p:nvPr/>
        </p:nvCxnSpPr>
        <p:spPr>
          <a:xfrm>
            <a:off x="6126480" y="3053593"/>
            <a:ext cx="637076" cy="602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A3ADFD-8CB9-40BE-B7F6-180A20D80468}"/>
              </a:ext>
            </a:extLst>
          </p:cNvPr>
          <p:cNvCxnSpPr>
            <a:cxnSpLocks/>
          </p:cNvCxnSpPr>
          <p:nvPr/>
        </p:nvCxnSpPr>
        <p:spPr>
          <a:xfrm flipV="1">
            <a:off x="2150788" y="2632619"/>
            <a:ext cx="591918" cy="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C8133A-DC8E-4415-B962-E2B1D04C79ED}"/>
              </a:ext>
            </a:extLst>
          </p:cNvPr>
          <p:cNvCxnSpPr>
            <a:cxnSpLocks/>
          </p:cNvCxnSpPr>
          <p:nvPr/>
        </p:nvCxnSpPr>
        <p:spPr>
          <a:xfrm flipV="1">
            <a:off x="3478191" y="2628462"/>
            <a:ext cx="591918" cy="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7290ED-95A1-4F28-96B4-33704E521160}"/>
              </a:ext>
            </a:extLst>
          </p:cNvPr>
          <p:cNvCxnSpPr>
            <a:cxnSpLocks/>
          </p:cNvCxnSpPr>
          <p:nvPr/>
        </p:nvCxnSpPr>
        <p:spPr>
          <a:xfrm flipV="1">
            <a:off x="4837841" y="2628461"/>
            <a:ext cx="591918" cy="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D161C3-251F-4625-B9EC-C75E1FDC85CB}"/>
              </a:ext>
            </a:extLst>
          </p:cNvPr>
          <p:cNvCxnSpPr>
            <a:cxnSpLocks/>
          </p:cNvCxnSpPr>
          <p:nvPr/>
        </p:nvCxnSpPr>
        <p:spPr>
          <a:xfrm flipV="1">
            <a:off x="6120342" y="2624166"/>
            <a:ext cx="591918" cy="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EBE6A47-9C1F-44C8-BB6C-D63F32C3551A}"/>
              </a:ext>
            </a:extLst>
          </p:cNvPr>
          <p:cNvCxnSpPr>
            <a:cxnSpLocks/>
          </p:cNvCxnSpPr>
          <p:nvPr/>
        </p:nvCxnSpPr>
        <p:spPr>
          <a:xfrm flipV="1">
            <a:off x="2160336" y="3026201"/>
            <a:ext cx="591918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26877F-CEB4-4BD3-90C1-97B28733E3BA}"/>
              </a:ext>
            </a:extLst>
          </p:cNvPr>
          <p:cNvCxnSpPr>
            <a:cxnSpLocks/>
          </p:cNvCxnSpPr>
          <p:nvPr/>
        </p:nvCxnSpPr>
        <p:spPr>
          <a:xfrm flipV="1">
            <a:off x="3495252" y="3053592"/>
            <a:ext cx="591918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6BEAC5C-0330-40EC-8934-946F9EA72D2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837841" y="3227225"/>
            <a:ext cx="569492" cy="60059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C388333-1390-4F56-87D4-40C7519BAC79}"/>
              </a:ext>
            </a:extLst>
          </p:cNvPr>
          <p:cNvCxnSpPr>
            <a:cxnSpLocks/>
          </p:cNvCxnSpPr>
          <p:nvPr/>
        </p:nvCxnSpPr>
        <p:spPr>
          <a:xfrm>
            <a:off x="5947794" y="4176776"/>
            <a:ext cx="764466" cy="6418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79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6CD1F6-C524-4781-A8B4-601151A467E7}"/>
              </a:ext>
            </a:extLst>
          </p:cNvPr>
          <p:cNvSpPr txBox="1"/>
          <p:nvPr/>
        </p:nvSpPr>
        <p:spPr>
          <a:xfrm>
            <a:off x="142612" y="92278"/>
            <a:ext cx="57548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За систем са m = 4 реда, n = 5 колона и 4 путање: </a:t>
            </a:r>
            <a:endParaRPr lang="sr-Latn-RS" sz="2000" dirty="0"/>
          </a:p>
          <a:p>
            <a:r>
              <a:rPr lang="ru-RU" sz="2000" dirty="0"/>
              <a:t>Путања 1: (0, 0, 0, 0) </a:t>
            </a:r>
            <a:endParaRPr lang="sr-Latn-RS" sz="2000" dirty="0"/>
          </a:p>
          <a:p>
            <a:r>
              <a:rPr lang="ru-RU" sz="2000" dirty="0"/>
              <a:t>Путања 2: (0, 0, 1, 2) </a:t>
            </a:r>
            <a:endParaRPr lang="sr-Latn-RS" sz="2000" dirty="0"/>
          </a:p>
          <a:p>
            <a:r>
              <a:rPr lang="ru-RU" sz="2000" dirty="0"/>
              <a:t>Путања 2: (0, 1, 2, 0) </a:t>
            </a:r>
            <a:endParaRPr lang="sr-Latn-RS" sz="2000" dirty="0"/>
          </a:p>
          <a:p>
            <a:r>
              <a:rPr lang="ru-RU" sz="2000" dirty="0"/>
              <a:t>Путања 4: (1, 1, </a:t>
            </a:r>
            <a:r>
              <a:rPr lang="sr-Latn-RS" sz="2000" dirty="0"/>
              <a:t>2</a:t>
            </a:r>
            <a:r>
              <a:rPr lang="ru-RU" sz="2000"/>
              <a:t>, </a:t>
            </a:r>
            <a:r>
              <a:rPr lang="ru-RU" sz="2000" dirty="0"/>
              <a:t>1) </a:t>
            </a:r>
            <a:endParaRPr lang="en-US" sz="2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E987E9-A9F5-4589-92B7-FF982B308B3C}"/>
              </a:ext>
            </a:extLst>
          </p:cNvPr>
          <p:cNvSpPr/>
          <p:nvPr/>
        </p:nvSpPr>
        <p:spPr>
          <a:xfrm>
            <a:off x="7664915" y="2021565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0</a:t>
            </a:r>
            <a:endParaRPr lang="en-US" sz="2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831405-2F68-4B8F-94FC-42A28C88CDC3}"/>
              </a:ext>
            </a:extLst>
          </p:cNvPr>
          <p:cNvSpPr/>
          <p:nvPr/>
        </p:nvSpPr>
        <p:spPr>
          <a:xfrm>
            <a:off x="8563936" y="2903808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0</a:t>
            </a:r>
            <a:endParaRPr 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3202C1-8ED6-45F6-B030-C1397D82A69F}"/>
              </a:ext>
            </a:extLst>
          </p:cNvPr>
          <p:cNvSpPr/>
          <p:nvPr/>
        </p:nvSpPr>
        <p:spPr>
          <a:xfrm>
            <a:off x="9555235" y="3881824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0</a:t>
            </a:r>
            <a:endParaRPr lang="en-US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565EAF-39D8-49B7-8C44-4E2FFAC89416}"/>
              </a:ext>
            </a:extLst>
          </p:cNvPr>
          <p:cNvSpPr/>
          <p:nvPr/>
        </p:nvSpPr>
        <p:spPr>
          <a:xfrm>
            <a:off x="10377356" y="4767562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0</a:t>
            </a:r>
            <a:endParaRPr lang="en-US" sz="2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783DB7-F182-4D87-BFAB-17AB62B6713C}"/>
              </a:ext>
            </a:extLst>
          </p:cNvPr>
          <p:cNvSpPr/>
          <p:nvPr/>
        </p:nvSpPr>
        <p:spPr>
          <a:xfrm>
            <a:off x="8050810" y="3881824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1</a:t>
            </a:r>
            <a:endParaRPr lang="en-US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5CA000-2C36-4E81-B2E0-1FAB5F97536E}"/>
              </a:ext>
            </a:extLst>
          </p:cNvPr>
          <p:cNvSpPr/>
          <p:nvPr/>
        </p:nvSpPr>
        <p:spPr>
          <a:xfrm>
            <a:off x="7357727" y="4834674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2</a:t>
            </a:r>
            <a:endParaRPr lang="en-US" sz="2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95C694-C534-4F8A-9482-54B49C7886FE}"/>
              </a:ext>
            </a:extLst>
          </p:cNvPr>
          <p:cNvSpPr/>
          <p:nvPr/>
        </p:nvSpPr>
        <p:spPr>
          <a:xfrm>
            <a:off x="6820424" y="2903808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1</a:t>
            </a:r>
            <a:endParaRPr lang="en-US" sz="2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52CCCF-365D-45A7-8E75-C594ECBDC6F9}"/>
              </a:ext>
            </a:extLst>
          </p:cNvPr>
          <p:cNvSpPr/>
          <p:nvPr/>
        </p:nvSpPr>
        <p:spPr>
          <a:xfrm>
            <a:off x="6206047" y="3869241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2</a:t>
            </a:r>
            <a:endParaRPr lang="en-US" sz="2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A40B746-43DB-4814-A4DB-7D0CBEA5BF51}"/>
              </a:ext>
            </a:extLst>
          </p:cNvPr>
          <p:cNvSpPr/>
          <p:nvPr/>
        </p:nvSpPr>
        <p:spPr>
          <a:xfrm>
            <a:off x="5591670" y="4834674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0</a:t>
            </a:r>
            <a:endParaRPr lang="en-US" sz="2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CEE03A-5523-4651-977D-CE72A3C1CB16}"/>
              </a:ext>
            </a:extLst>
          </p:cNvPr>
          <p:cNvCxnSpPr>
            <a:cxnSpLocks/>
            <a:stCxn id="3" idx="5"/>
            <a:endCxn id="4" idx="1"/>
          </p:cNvCxnSpPr>
          <p:nvPr/>
        </p:nvCxnSpPr>
        <p:spPr>
          <a:xfrm>
            <a:off x="8189319" y="2537117"/>
            <a:ext cx="464590" cy="45514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513EFC-DA4D-4B76-93E0-0DDE1D60AC4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9088340" y="3408409"/>
            <a:ext cx="556868" cy="56187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2FB9F8-5FEF-4CB7-8139-14989C88DE3B}"/>
              </a:ext>
            </a:extLst>
          </p:cNvPr>
          <p:cNvCxnSpPr>
            <a:cxnSpLocks/>
          </p:cNvCxnSpPr>
          <p:nvPr/>
        </p:nvCxnSpPr>
        <p:spPr>
          <a:xfrm>
            <a:off x="10044685" y="4390620"/>
            <a:ext cx="464590" cy="45514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FB9B48-1316-4447-9CD8-65E6BD6ACBC8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 flipH="1">
            <a:off x="8357999" y="3419360"/>
            <a:ext cx="295910" cy="462464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E8135E-B575-4A9B-96F7-C08CA4D52A0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7882131" y="4397376"/>
            <a:ext cx="258652" cy="525753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E66E1F-F220-4B57-A67C-A2D7DF74612F}"/>
              </a:ext>
            </a:extLst>
          </p:cNvPr>
          <p:cNvCxnSpPr>
            <a:cxnSpLocks/>
            <a:stCxn id="3" idx="3"/>
            <a:endCxn id="9" idx="7"/>
          </p:cNvCxnSpPr>
          <p:nvPr/>
        </p:nvCxnSpPr>
        <p:spPr>
          <a:xfrm flipH="1">
            <a:off x="7344828" y="2537117"/>
            <a:ext cx="410060" cy="45514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10BCA5-CEAE-45C9-9FBB-90A6F0EA7132}"/>
              </a:ext>
            </a:extLst>
          </p:cNvPr>
          <p:cNvCxnSpPr>
            <a:cxnSpLocks/>
          </p:cNvCxnSpPr>
          <p:nvPr/>
        </p:nvCxnSpPr>
        <p:spPr>
          <a:xfrm flipH="1">
            <a:off x="6730451" y="3419360"/>
            <a:ext cx="295910" cy="55091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04B889-C75B-41D2-B37E-09AEC28A9A21}"/>
              </a:ext>
            </a:extLst>
          </p:cNvPr>
          <p:cNvCxnSpPr>
            <a:cxnSpLocks/>
          </p:cNvCxnSpPr>
          <p:nvPr/>
        </p:nvCxnSpPr>
        <p:spPr>
          <a:xfrm flipH="1">
            <a:off x="5943276" y="4357688"/>
            <a:ext cx="523341" cy="59055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7927FD30-1164-4E00-A2B0-BB51964DA684}"/>
              </a:ext>
            </a:extLst>
          </p:cNvPr>
          <p:cNvSpPr/>
          <p:nvPr/>
        </p:nvSpPr>
        <p:spPr>
          <a:xfrm>
            <a:off x="4107986" y="1933110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1</a:t>
            </a:r>
            <a:endParaRPr lang="en-US" sz="2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8FE2645-F18E-4C7F-A072-2C0AB320CC76}"/>
              </a:ext>
            </a:extLst>
          </p:cNvPr>
          <p:cNvSpPr/>
          <p:nvPr/>
        </p:nvSpPr>
        <p:spPr>
          <a:xfrm>
            <a:off x="4107985" y="2903808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1</a:t>
            </a:r>
            <a:endParaRPr lang="en-US" sz="24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71566A-62CD-4FB4-BB7A-BC9FDE7C4E0A}"/>
              </a:ext>
            </a:extLst>
          </p:cNvPr>
          <p:cNvSpPr/>
          <p:nvPr/>
        </p:nvSpPr>
        <p:spPr>
          <a:xfrm>
            <a:off x="4114629" y="3869240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2</a:t>
            </a:r>
            <a:endParaRPr lang="en-US" sz="24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887AB8-3F78-4F40-B31E-4B2E370C0DE8}"/>
              </a:ext>
            </a:extLst>
          </p:cNvPr>
          <p:cNvSpPr/>
          <p:nvPr/>
        </p:nvSpPr>
        <p:spPr>
          <a:xfrm>
            <a:off x="4122086" y="4834672"/>
            <a:ext cx="614377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2400" dirty="0"/>
              <a:t>1</a:t>
            </a:r>
            <a:endParaRPr lang="en-US" sz="24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EF7D5C-6D60-46E3-9BD9-7E6D00E73579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>
            <a:off x="4421818" y="4473247"/>
            <a:ext cx="7457" cy="36142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D4A8653-7EF8-42F2-9DB0-112F25017D9F}"/>
              </a:ext>
            </a:extLst>
          </p:cNvPr>
          <p:cNvCxnSpPr>
            <a:cxnSpLocks/>
            <a:stCxn id="40" idx="4"/>
            <a:endCxn id="41" idx="0"/>
          </p:cNvCxnSpPr>
          <p:nvPr/>
        </p:nvCxnSpPr>
        <p:spPr>
          <a:xfrm>
            <a:off x="4415174" y="3507815"/>
            <a:ext cx="6644" cy="36142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DCBD8C6-A3BA-4BD3-81CF-6F22173B1404}"/>
              </a:ext>
            </a:extLst>
          </p:cNvPr>
          <p:cNvCxnSpPr>
            <a:cxnSpLocks/>
            <a:stCxn id="39" idx="4"/>
            <a:endCxn id="40" idx="0"/>
          </p:cNvCxnSpPr>
          <p:nvPr/>
        </p:nvCxnSpPr>
        <p:spPr>
          <a:xfrm flipH="1">
            <a:off x="4415174" y="2537117"/>
            <a:ext cx="1" cy="36669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4C29A6D-59E3-4656-BE25-84D8C38FCA3F}"/>
              </a:ext>
            </a:extLst>
          </p:cNvPr>
          <p:cNvSpPr txBox="1"/>
          <p:nvPr/>
        </p:nvSpPr>
        <p:spPr>
          <a:xfrm>
            <a:off x="10514465" y="559117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dirty="0"/>
              <a:t>1</a:t>
            </a:r>
            <a:endParaRPr lang="en-US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AC8A7D-D17B-44CD-B9B7-C296F7A0A739}"/>
              </a:ext>
            </a:extLst>
          </p:cNvPr>
          <p:cNvSpPr txBox="1"/>
          <p:nvPr/>
        </p:nvSpPr>
        <p:spPr>
          <a:xfrm>
            <a:off x="7494836" y="559611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dirty="0"/>
              <a:t>2</a:t>
            </a:r>
            <a:endParaRPr lang="en-US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93866A-7E16-4F73-91A5-33775908003E}"/>
              </a:ext>
            </a:extLst>
          </p:cNvPr>
          <p:cNvSpPr txBox="1"/>
          <p:nvPr/>
        </p:nvSpPr>
        <p:spPr>
          <a:xfrm>
            <a:off x="5755842" y="559117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dirty="0"/>
              <a:t>3</a:t>
            </a:r>
            <a:endParaRPr lang="en-US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681BB0-AF68-444A-9A28-98BEDEE05645}"/>
              </a:ext>
            </a:extLst>
          </p:cNvPr>
          <p:cNvSpPr txBox="1"/>
          <p:nvPr/>
        </p:nvSpPr>
        <p:spPr>
          <a:xfrm>
            <a:off x="4246028" y="556927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dirty="0"/>
              <a:t>4</a:t>
            </a: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1ABA82-AA32-4BE0-9CE2-8DE83E4881C9}"/>
              </a:ext>
            </a:extLst>
          </p:cNvPr>
          <p:cNvSpPr txBox="1"/>
          <p:nvPr/>
        </p:nvSpPr>
        <p:spPr>
          <a:xfrm>
            <a:off x="1117312" y="4259731"/>
            <a:ext cx="11560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2400" dirty="0"/>
              <a:t>О(</a:t>
            </a:r>
            <a:r>
              <a:rPr lang="sr-Latn-RS" sz="2400" i="1" dirty="0"/>
              <a:t>L </a:t>
            </a:r>
            <a:r>
              <a:rPr lang="en-US" sz="2400" dirty="0"/>
              <a:t>⋅</a:t>
            </a:r>
            <a:r>
              <a:rPr lang="sr-Cyrl-RS" sz="2400" dirty="0"/>
              <a:t> </a:t>
            </a:r>
            <a:r>
              <a:rPr lang="sr-Latn-RS" sz="2400" i="1" dirty="0"/>
              <a:t>n</a:t>
            </a:r>
            <a:r>
              <a:rPr lang="sr-Latn-RS" sz="2400" dirty="0"/>
              <a:t>)</a:t>
            </a:r>
            <a:r>
              <a:rPr lang="sr-Cyrl-RS" sz="2400" i="1" dirty="0"/>
              <a:t> </a:t>
            </a:r>
            <a:endParaRPr lang="en-US" sz="2400" dirty="0"/>
          </a:p>
          <a:p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3988555-1656-4B6A-8F1F-D2FF22878D68}"/>
              </a:ext>
            </a:extLst>
          </p:cNvPr>
          <p:cNvSpPr txBox="1">
            <a:spLocks/>
          </p:cNvSpPr>
          <p:nvPr/>
        </p:nvSpPr>
        <p:spPr>
          <a:xfrm>
            <a:off x="111212" y="2220749"/>
            <a:ext cx="10058400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Прављење стабла:</a:t>
            </a:r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endParaRPr lang="sr-Cyrl-R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sr-Cyrl-RS" sz="2400" dirty="0"/>
              <a:t>Евалуација – најгори случај: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2FBD5-271A-467F-AFFD-6C07F07FFD9F}"/>
              </a:ext>
            </a:extLst>
          </p:cNvPr>
          <p:cNvSpPr txBox="1"/>
          <p:nvPr/>
        </p:nvSpPr>
        <p:spPr>
          <a:xfrm>
            <a:off x="1117312" y="2836479"/>
            <a:ext cx="11560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2400" dirty="0"/>
              <a:t>О(</a:t>
            </a:r>
            <a:r>
              <a:rPr lang="sr-Latn-RS" sz="2400" i="1" dirty="0"/>
              <a:t>L </a:t>
            </a:r>
            <a:r>
              <a:rPr lang="en-US" sz="2400" dirty="0"/>
              <a:t>⋅</a:t>
            </a:r>
            <a:r>
              <a:rPr lang="sr-Cyrl-RS" sz="2400" dirty="0"/>
              <a:t> </a:t>
            </a:r>
            <a:r>
              <a:rPr lang="sr-Latn-RS" sz="2400" i="1" dirty="0"/>
              <a:t>n</a:t>
            </a:r>
            <a:r>
              <a:rPr lang="sr-Latn-RS" sz="2400" dirty="0"/>
              <a:t>)</a:t>
            </a:r>
            <a:r>
              <a:rPr lang="sr-Cyrl-RS" sz="2400" i="1" dirty="0"/>
              <a:t> 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9" grpId="0" animBg="1"/>
      <p:bldP spid="40" grpId="0" animBg="1"/>
      <p:bldP spid="41" grpId="0" animBg="1"/>
      <p:bldP spid="42" grpId="0" animBg="1"/>
      <p:bldP spid="53" grpId="0"/>
      <p:bldP spid="55" grpId="0"/>
      <p:bldP spid="56" grpId="0"/>
      <p:bldP spid="57" grpId="0"/>
      <p:bldP spid="32" grpId="0"/>
      <p:bldP spid="33" grpId="0"/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575D-F43E-4C04-A585-618B35452E54}"/>
              </a:ext>
            </a:extLst>
          </p:cNvPr>
          <p:cNvSpPr txBox="1">
            <a:spLocks/>
          </p:cNvSpPr>
          <p:nvPr/>
        </p:nvSpPr>
        <p:spPr>
          <a:xfrm>
            <a:off x="756407" y="2256569"/>
            <a:ext cx="10679185" cy="3566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r-Cyrl-RS" sz="8000" dirty="0"/>
              <a:t>ХВАЛА НА ПАЖЊИ!</a:t>
            </a:r>
            <a:endParaRPr lang="sr-Latn-RS" sz="8000" dirty="0"/>
          </a:p>
          <a:p>
            <a:pPr algn="ctr"/>
            <a:r>
              <a:rPr lang="sr-Cyrl-RS" sz="8000" dirty="0"/>
              <a:t>🎓</a:t>
            </a:r>
          </a:p>
          <a:p>
            <a:pPr algn="ctr"/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9803231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1141</TotalTime>
  <Words>2909</Words>
  <Application>Microsoft Office PowerPoint</Application>
  <PresentationFormat>Widescreen</PresentationFormat>
  <Paragraphs>541</Paragraphs>
  <Slides>39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Times New Roman</vt:lpstr>
      <vt:lpstr>Retrospect</vt:lpstr>
      <vt:lpstr>МАТЕМАТИЧКО МОДЕЛОВАЊЕ СИСТЕМА ЗА ПСЕУДО-СЛУЧАJНО ГЕНЕРИСАЊЕ ТОКЕНА И ЕВАЛУАЦИЈУ КОМБИНАЦИЈА НАД ДИСКРЕТНИМ МАТРИЦАМА</vt:lpstr>
      <vt:lpstr>АЗБУКА ТОКЕНА</vt:lpstr>
      <vt:lpstr>ЦИКЛИЧНА ТОКЕН СЕКВЕНЦА</vt:lpstr>
      <vt:lpstr>ГЕНЕРАТИВНА МАТРИЦА</vt:lpstr>
      <vt:lpstr>ИТЕРАЦИЈА СИСТЕМА - Генерисање</vt:lpstr>
      <vt:lpstr>ИТЕРАЦИЈА СИСТЕМА – Видљиви прозор</vt:lpstr>
      <vt:lpstr>ИТЕРАЦИЈА СИСТЕМА – Видљиви прозор</vt:lpstr>
      <vt:lpstr>ИТЕРАЦИЈА СИСТЕМА - Евалуација</vt:lpstr>
      <vt:lpstr>ЕВАЛУАЦИОНА ПУТАЊА</vt:lpstr>
      <vt:lpstr>ЕВАЛУАЦИОНА ПУТАЊА</vt:lpstr>
      <vt:lpstr>УНИВЕРЗАЛНИ ЗАМЕНСКИ ТОКЕН</vt:lpstr>
      <vt:lpstr>ПОЗИЦИОНО ИНВАРИЈАНТНИ ТОКЕН</vt:lpstr>
      <vt:lpstr>ЕВАЛУАЦИОНА ФУНКЦИЈА И ТАБЕЛА ИЗЛАЗНИХ ВРЕДНОСТИ ТОКЕНА</vt:lpstr>
      <vt:lpstr>ЕВАЛУАЦИОНА ФУНКЦИЈА И ТАБЕЛА ИЗЛАЗНИХ ВРЕДНОСТИ ТОКЕНА</vt:lpstr>
      <vt:lpstr>УЛАЗНО-ИЗЛАЗНИ ОДНОС СИСТЕМА</vt:lpstr>
      <vt:lpstr>PowerPoint Presentation</vt:lpstr>
      <vt:lpstr>ВЕРОВАТНОЋА ПОЈАВЉИВАЊА СТАНДАРДНИХ ТОКЕНА</vt:lpstr>
      <vt:lpstr>ОЧЕКИВАНА ИЗЛАЗНА ВРЕДНОСТ СИСТЕМА ЗА СТАНДАРДНЕ ТОКЕНЕ</vt:lpstr>
      <vt:lpstr>ФАЗЕ КОНСТРУКЦИЈЕ ГЕНЕРАТИВНЕ МАТРИЦЕ</vt:lpstr>
      <vt:lpstr>ОПТИМИЗАЦИЈА - SLSQP</vt:lpstr>
      <vt:lpstr>ДИСКРЕТИЗАЦИЈА</vt:lpstr>
      <vt:lpstr>ДИСКРЕТИЗАЦИЈА</vt:lpstr>
      <vt:lpstr>УНИВЕРЗАЛНИ ЗАМЕНСКИ ТОКЕН</vt:lpstr>
      <vt:lpstr>ПОЗИЦИОНО-ИНВАРИЈАНТНИ ТОКЕН</vt:lpstr>
      <vt:lpstr>PowerPoint Presentation</vt:lpstr>
      <vt:lpstr>ДЕФИНИЦИЈА МОДЕЛА И КАКО СЕ ПРАВИ ГРАФ</vt:lpstr>
      <vt:lpstr>РЕШАВАЊЕ У САВРШЕНОМ СЛУЧАЈУ</vt:lpstr>
      <vt:lpstr>ПРОБЛЕМ ДУПЛИКАТА</vt:lpstr>
      <vt:lpstr>СТАТИСТИЧКО СКАЛИРАЊЕ</vt:lpstr>
      <vt:lpstr>НЕПОЗНАТА ДУЖИНА СЕКВЕНЦЕ</vt:lpstr>
      <vt:lpstr>МУЛТИГРАФ</vt:lpstr>
      <vt:lpstr>PowerPoint Presentation</vt:lpstr>
      <vt:lpstr>СЕКВЕНЦИЈАЛНА ЕВАЛУАЦИЈА</vt:lpstr>
      <vt:lpstr>СЕКВЕНЦИЈАЛНА ЕВАЛУАЦИЈА – ПСЕУДО КОД</vt:lpstr>
      <vt:lpstr>ЕВАЛУАЦИЈА ХЕШ ТАБЕЛОМ</vt:lpstr>
      <vt:lpstr>ЕВАЛУАЦИЈА ХЕШ ТАБЕЛОМ – ПСЕУДО КОД</vt:lpstr>
      <vt:lpstr>ЕВАЛУАЦИЈА ПОМОЋУ ИНДЕКСНОГ СТАБА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МАТЕМАТИЧКО МОДЕЛОВАЊЕ СИСТЕМА ЗА ПСЕУДО-СЛУЧАНО ГЕНЕРИСАЊЕ ТОКЕНА И ЕВАЛУАЦИЈУ КОМБИНАЦИЈА НАД ДИСКРЕТНИМ МАТРИЦАМА</dc:title>
  <dc:creator>Jovan Bogdanovic</dc:creator>
  <cp:lastModifiedBy>Jovan Bogdanovic</cp:lastModifiedBy>
  <cp:revision>81</cp:revision>
  <dcterms:created xsi:type="dcterms:W3CDTF">2026-07-19T16:07:18Z</dcterms:created>
  <dcterms:modified xsi:type="dcterms:W3CDTF">2026-07-30T08:09:11Z</dcterms:modified>
</cp:coreProperties>
</file>