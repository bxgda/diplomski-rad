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90" r:id="rId33"/>
    <p:sldId id="291" r:id="rId3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936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21. 07. 2026.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2CEF3B-A037-46D0-B02C-1428F07E9383}" type="datetimeFigureOut">
              <a:rPr lang="en-US" dirty="0"/>
              <a:t>21. 07. 2026.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482DC-2269-4F26-9D2A-7E44B1A4CD8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21. 07. 2026.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1845734"/>
            <a:ext cx="493776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21. 07. 2026.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5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21. 07. 2026.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21. 07. 2026.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pPr/>
              <a:t>21. 07. 2026.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96DFF08F-DC6B-4601-B491-B0F83F6DD2DA}" type="datetimeFigureOut">
              <a:rPr lang="en-US" dirty="0"/>
              <a:pPr/>
              <a:t>21. 07. 2026.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21. 07. 2026.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21. 07. 2026.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21. 07. 2026.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96DFF08F-DC6B-4601-B491-B0F83F6DD2DA}" type="datetimeFigureOut">
              <a:rPr lang="en-US" dirty="0"/>
              <a:pPr/>
              <a:t>21. 07. 2026.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0EA74-CBFF-4BAD-8267-A2585698F3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ctr"/>
            <a:r>
              <a:rPr lang="sr-Cyrl-RS" sz="4400" b="1" dirty="0"/>
              <a:t>МАТЕМАТИЧКО МОДЕЛОВАЊЕ СИСТЕМА ЗА ПСЕУДО-СЛУЧАНО ГЕНЕРИСАЊЕ ТОКЕНА И ЕВАЛУАЦИЈУ КОМБИНАЦИЈА НАД ДИСКРЕТНИМ МАТРИЦАМА</a:t>
            </a:r>
            <a:endParaRPr lang="en-US" sz="44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87EA58-613B-4ED7-934D-4906E4EC242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endParaRPr lang="sr-Cyrl-RS" dirty="0"/>
          </a:p>
          <a:p>
            <a:pPr algn="ctr"/>
            <a:r>
              <a:rPr lang="sr-Cyrl-RS" dirty="0"/>
              <a:t>ЗАВРШНИ РАД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1337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A258D-A1DF-4E7B-9FAC-2091B42D5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35560"/>
            <a:ext cx="10058400" cy="1450757"/>
          </a:xfrm>
        </p:spPr>
        <p:txBody>
          <a:bodyPr/>
          <a:lstStyle/>
          <a:p>
            <a:r>
              <a:rPr lang="sr-Cyrl-RS" dirty="0"/>
              <a:t>ГЛАВНЕ КОМПОНЕНТЕ СИСТЕМА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421254-BD8E-4FEE-8DE8-E6F5E2772E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sr-Cyrl-RS" sz="2800" dirty="0"/>
              <a:t>ГЕНЕРАТИВНА</a:t>
            </a:r>
            <a:endParaRPr lang="en-US" sz="28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E6DE97-7E16-44A3-A657-42C848E3B25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sr-Cyrl-RS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Унапред припремљена структура података из које се псеудо-случајним генератором генеришу подаци</a:t>
            </a:r>
            <a:r>
              <a:rPr lang="sr-Latn-RS" sz="2400" dirty="0"/>
              <a:t>.</a:t>
            </a:r>
            <a:endParaRPr lang="en-US" sz="240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6A2C4A-1320-4503-B1E9-F84537F9E4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sr-Cyrl-RS" sz="3200" dirty="0"/>
              <a:t>ЕВАЛУАЦИОНА</a:t>
            </a:r>
            <a:endParaRPr lang="en-US" sz="320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1732F3-84E0-4444-A797-1DA10A0F9267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sr-Cyrl-RS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Анализатор матрица који израчунава одређени нумерички резултат на основу дефинисаних правила</a:t>
            </a:r>
            <a:r>
              <a:rPr lang="sr-Latn-RS" sz="2400" dirty="0"/>
              <a:t>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6801090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B384A-4C85-4E55-BF7F-25A8D5D05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АЗБУКА ТОКЕНА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7DD1CFB-3365-41FF-8EAD-287337F9E7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sr-Cyrl-RS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Токен је основна недељива јединица система</a:t>
            </a:r>
            <a:r>
              <a:rPr lang="sr-Latn-RS" sz="2400" dirty="0"/>
              <a:t>.</a:t>
            </a:r>
            <a:endParaRPr lang="sr-Cyrl-RS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Азбука токена је коначни скуп различитих елемената из којих се граде секвенце у систему</a:t>
            </a:r>
            <a:r>
              <a:rPr lang="sr-Latn-RS" sz="2400" dirty="0"/>
              <a:t>.</a:t>
            </a:r>
            <a:endParaRPr lang="en-US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102082-635D-4C69-9D7B-C77942EA72BA}"/>
              </a:ext>
            </a:extLst>
          </p:cNvPr>
          <p:cNvSpPr txBox="1"/>
          <p:nvPr/>
        </p:nvSpPr>
        <p:spPr>
          <a:xfrm>
            <a:off x="1227022" y="3902749"/>
            <a:ext cx="1543574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sz="6600" dirty="0"/>
              <a:t>A</a:t>
            </a:r>
            <a:endParaRPr lang="en-US" sz="6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20E448-1B0F-4BCA-8B2F-E0E23F2EB9E9}"/>
              </a:ext>
            </a:extLst>
          </p:cNvPr>
          <p:cNvSpPr txBox="1"/>
          <p:nvPr/>
        </p:nvSpPr>
        <p:spPr>
          <a:xfrm>
            <a:off x="2827090" y="5004453"/>
            <a:ext cx="4571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sz="6600" dirty="0"/>
              <a:t>W</a:t>
            </a:r>
            <a:endParaRPr lang="en-US" sz="6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96848DD-9C77-4AEE-8512-A1ECBECBE087}"/>
              </a:ext>
            </a:extLst>
          </p:cNvPr>
          <p:cNvSpPr txBox="1"/>
          <p:nvPr/>
        </p:nvSpPr>
        <p:spPr>
          <a:xfrm>
            <a:off x="5819344" y="3739488"/>
            <a:ext cx="614271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6600" dirty="0"/>
              <a:t>5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917588D-14B5-48B0-B3B0-28315D74BE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6290" y="3739488"/>
            <a:ext cx="1434517" cy="143451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64E507E-45EF-45D0-9840-75ABB4F87E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3273" y="4882774"/>
            <a:ext cx="1198078" cy="110799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DECDD05-9B24-420B-9E21-B7537E3FE4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0086" y="3739488"/>
            <a:ext cx="1044839" cy="117988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7F81A9F-D9E5-470B-BC32-8529199525D9}"/>
              </a:ext>
            </a:extLst>
          </p:cNvPr>
          <p:cNvSpPr txBox="1"/>
          <p:nvPr/>
        </p:nvSpPr>
        <p:spPr>
          <a:xfrm>
            <a:off x="10016455" y="4882775"/>
            <a:ext cx="644728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6600" dirty="0"/>
              <a:t>B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13822232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FEC789-7178-451D-8BA0-A09070BA9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ЦИКЛИЧНА ТОКЕН СЕКВЕНЦА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E71583-DA61-489F-B971-D1AF544BDD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Низ токена фиксне дужине који се понашају као кружна структура.</a:t>
            </a:r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5230D9-70C0-46B3-A4CD-6E7EA590B9EF}"/>
              </a:ext>
            </a:extLst>
          </p:cNvPr>
          <p:cNvSpPr txBox="1"/>
          <p:nvPr/>
        </p:nvSpPr>
        <p:spPr>
          <a:xfrm>
            <a:off x="2028458" y="3472693"/>
            <a:ext cx="881850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sz="4400" dirty="0"/>
              <a:t>... A A B G      H E E R R           Z T J ...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6B8CC3-4A95-4866-B6FD-C5835D19EF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578" y="3472693"/>
            <a:ext cx="772095" cy="7720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856942F-6C63-47D6-B73A-D19F7B6A5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0286" y="3572188"/>
            <a:ext cx="593853" cy="6706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65025FF-EAAD-438E-A26D-AFF7463C6B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9898" y="3572852"/>
            <a:ext cx="593852" cy="670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73726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65E02-A7BA-4E15-BC18-836B96E53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ГЕНЕРАТИВНА МАТРИЦА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F1DB9A-1597-441C-BC28-489B8F585B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Састоји се од </a:t>
            </a:r>
            <a:r>
              <a:rPr lang="sr-Latn-RS" sz="2400" i="1" dirty="0"/>
              <a:t>n</a:t>
            </a:r>
            <a:r>
              <a:rPr lang="sr-Cyrl-RS" sz="2400" i="1" dirty="0"/>
              <a:t> </a:t>
            </a:r>
            <a:r>
              <a:rPr lang="sr-Cyrl-RS" sz="2400" dirty="0"/>
              <a:t>цикличних токен секвенци.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Пример за </a:t>
            </a:r>
            <a:r>
              <a:rPr lang="sr-Latn-RS" sz="2400" i="1" dirty="0"/>
              <a:t>n</a:t>
            </a:r>
            <a:r>
              <a:rPr lang="sr-Latn-RS" sz="2400" dirty="0"/>
              <a:t> = 3:</a:t>
            </a:r>
            <a:endParaRPr lang="sr-Cyrl-RS" sz="2400" dirty="0"/>
          </a:p>
          <a:p>
            <a:pPr>
              <a:buFont typeface="Arial" panose="020B0604020202020204" pitchFamily="34" charset="0"/>
              <a:buChar char="•"/>
            </a:pPr>
            <a:endParaRPr 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965C1E-A0D8-4248-8C35-D3CA795FB820}"/>
              </a:ext>
            </a:extLst>
          </p:cNvPr>
          <p:cNvSpPr txBox="1"/>
          <p:nvPr/>
        </p:nvSpPr>
        <p:spPr>
          <a:xfrm>
            <a:off x="2156390" y="3230824"/>
            <a:ext cx="899929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r-Latn-RS" sz="4000" dirty="0"/>
              <a:t>... A A B G      H E E R R           Z T J ...</a:t>
            </a:r>
          </a:p>
          <a:p>
            <a:r>
              <a:rPr lang="sr-Latn-RS" sz="4000" dirty="0"/>
              <a:t>... B B H H H H U J K       O O P W ...</a:t>
            </a:r>
          </a:p>
          <a:p>
            <a:r>
              <a:rPr lang="sr-Latn-RS" sz="4000" dirty="0"/>
              <a:t>...                    J K K K W W P A        ...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F9D44D-A0ED-4861-AEF1-313798E06C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3170" y="3230824"/>
            <a:ext cx="772095" cy="7720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F31F564-FE65-4805-B804-C268E82338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4199" y="3268055"/>
            <a:ext cx="593852" cy="67060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1E0CF31-92FD-4876-B16F-2BBC0253DA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8051" y="3281566"/>
            <a:ext cx="593852" cy="6706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C2199D9-5F67-46F3-84CC-EEA30F1D60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094" y="3938653"/>
            <a:ext cx="565882" cy="523334"/>
          </a:xfrm>
          <a:prstGeom prst="rect">
            <a:avLst/>
          </a:prstGeom>
        </p:spPr>
      </p:pic>
      <p:pic>
        <p:nvPicPr>
          <p:cNvPr id="1028" name="Picture 4" descr="lemon - download free icon Classic Slot Machine Icons on Artage.io">
            <a:extLst>
              <a:ext uri="{FF2B5EF4-FFF2-40B4-BE49-F238E27FC236}">
                <a16:creationId xmlns:a16="http://schemas.microsoft.com/office/drawing/2014/main" id="{35C217B4-776C-46DC-8F52-BF25367684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325" y="4497182"/>
            <a:ext cx="686144" cy="6861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lemon - download free icon Classic Slot Machine Icons on Artage.io">
            <a:extLst>
              <a:ext uri="{FF2B5EF4-FFF2-40B4-BE49-F238E27FC236}">
                <a16:creationId xmlns:a16="http://schemas.microsoft.com/office/drawing/2014/main" id="{3A2569B6-A85F-4E66-BAD9-3F69F9A439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6733" y="4497182"/>
            <a:ext cx="686145" cy="6861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lemon - download free icon Classic Slot Machine Icons on Artage.io">
            <a:extLst>
              <a:ext uri="{FF2B5EF4-FFF2-40B4-BE49-F238E27FC236}">
                <a16:creationId xmlns:a16="http://schemas.microsoft.com/office/drawing/2014/main" id="{B8DEB674-9FE0-4F59-B2E7-BCBC77BD6C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03698" y="4470809"/>
            <a:ext cx="705762" cy="705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411F53F-DD9E-4BF4-AB10-4395829206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9402" y="4461987"/>
            <a:ext cx="593853" cy="650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79155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86BC9-3DD9-4B7C-A223-FAC94D955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ПСЕУДО-СЛУЧАЈНИ ГЕНЕРАТОР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E3E89-6CA4-4F6D-963A-9ECD8394D3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endParaRPr lang="sr-Cyrl-RS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У рачунарству не постоји прави „</a:t>
            </a:r>
            <a:r>
              <a:rPr lang="sr-Latn-RS" sz="2400" dirty="0"/>
              <a:t>random“.</a:t>
            </a:r>
            <a:endParaRPr lang="sr-Cyrl-RS" sz="2400" dirty="0"/>
          </a:p>
          <a:p>
            <a:pPr>
              <a:buFont typeface="Arial" panose="020B0604020202020204" pitchFamily="34" charset="0"/>
              <a:buChar char="•"/>
            </a:pPr>
            <a:endParaRPr lang="sr-Latn-RS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Подразумевамо у ради савршени псеудо-случајни алгоритам. 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4008169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3BEEA-4EFB-44AE-A96C-99CE0F3BA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ИТЕРАЦИЈА СИСТЕМА - Генерисање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E0E017-D711-4ABB-BCB1-FC797E6B9B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1350024"/>
          </a:xfrm>
        </p:spPr>
        <p:txBody>
          <a:bodyPr>
            <a:normAutofit lnSpcReduction="1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sr-Cyrl-RS" dirty="0"/>
              <a:t>За сваку цикличну токен-секвенцу из генеративне матрице се генерише почетни индекс и читају се </a:t>
            </a:r>
            <a:r>
              <a:rPr lang="sr-Latn-RS" i="1" dirty="0"/>
              <a:t>m</a:t>
            </a:r>
            <a:r>
              <a:rPr lang="sr-Latn-RS" dirty="0"/>
              <a:t> </a:t>
            </a:r>
            <a:r>
              <a:rPr lang="sr-Cyrl-RS" dirty="0"/>
              <a:t>узастопних токена.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sr-Cyrl-RS" dirty="0"/>
              <a:t>Пример за </a:t>
            </a:r>
            <a:r>
              <a:rPr lang="sr-Latn-RS" i="1" dirty="0"/>
              <a:t>m </a:t>
            </a:r>
            <a:r>
              <a:rPr lang="sr-Latn-RS" dirty="0"/>
              <a:t>= 3 </a:t>
            </a:r>
            <a:r>
              <a:rPr lang="sr-Cyrl-RS" dirty="0"/>
              <a:t>и дужину сваке цикличне токен-секвенце </a:t>
            </a:r>
            <a:r>
              <a:rPr lang="sr-Latn-RS" i="1" dirty="0"/>
              <a:t>L</a:t>
            </a:r>
            <a:r>
              <a:rPr lang="sr-Latn-RS" dirty="0"/>
              <a:t> = 7</a:t>
            </a:r>
            <a:r>
              <a:rPr lang="sr-Cyrl-RS" dirty="0"/>
              <a:t> и да је ПСГ генерисао почетне индексе 2, 4, 5</a:t>
            </a:r>
            <a:r>
              <a:rPr lang="sr-Latn-RS" dirty="0"/>
              <a:t>: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24CF2D-6241-4525-9765-182F5051AD08}"/>
              </a:ext>
            </a:extLst>
          </p:cNvPr>
          <p:cNvSpPr txBox="1"/>
          <p:nvPr/>
        </p:nvSpPr>
        <p:spPr>
          <a:xfrm>
            <a:off x="3370441" y="3065135"/>
            <a:ext cx="410690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2800" dirty="0"/>
              <a:t>A</a:t>
            </a:r>
          </a:p>
          <a:p>
            <a:r>
              <a:rPr lang="sr-Latn-RS" sz="2800" dirty="0"/>
              <a:t>A</a:t>
            </a:r>
          </a:p>
          <a:p>
            <a:r>
              <a:rPr lang="sr-Latn-RS" sz="2800" dirty="0"/>
              <a:t>B</a:t>
            </a:r>
            <a:br>
              <a:rPr lang="sr-Latn-RS" sz="2800" dirty="0"/>
            </a:br>
            <a:r>
              <a:rPr lang="sr-Latn-RS" sz="2800" dirty="0"/>
              <a:t>G</a:t>
            </a:r>
          </a:p>
          <a:p>
            <a:endParaRPr lang="sr-Latn-RS" sz="2800" dirty="0"/>
          </a:p>
          <a:p>
            <a:r>
              <a:rPr lang="sr-Latn-RS" sz="2800" dirty="0"/>
              <a:t>H</a:t>
            </a:r>
          </a:p>
          <a:p>
            <a:r>
              <a:rPr lang="sr-Latn-RS" sz="2800" dirty="0"/>
              <a:t>E</a:t>
            </a:r>
            <a:endParaRPr lang="en-US" sz="2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3C0754-9948-4215-BDAB-117073B3D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9092" y="4773047"/>
            <a:ext cx="513388" cy="51338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57F0487-ECA2-4C60-93B2-EACEC829C03F}"/>
              </a:ext>
            </a:extLst>
          </p:cNvPr>
          <p:cNvSpPr txBox="1"/>
          <p:nvPr/>
        </p:nvSpPr>
        <p:spPr>
          <a:xfrm>
            <a:off x="5368954" y="3059471"/>
            <a:ext cx="415498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2800" dirty="0"/>
              <a:t>B</a:t>
            </a:r>
          </a:p>
          <a:p>
            <a:r>
              <a:rPr lang="sr-Latn-RS" sz="2800" dirty="0"/>
              <a:t>B</a:t>
            </a:r>
          </a:p>
          <a:p>
            <a:r>
              <a:rPr lang="sr-Latn-RS" sz="2800" dirty="0"/>
              <a:t>H</a:t>
            </a:r>
            <a:br>
              <a:rPr lang="sr-Latn-RS" sz="2800" dirty="0"/>
            </a:br>
            <a:r>
              <a:rPr lang="sr-Latn-RS" sz="2800" dirty="0"/>
              <a:t>H</a:t>
            </a:r>
            <a:br>
              <a:rPr lang="sr-Latn-RS" sz="2800" dirty="0"/>
            </a:br>
            <a:r>
              <a:rPr lang="sr-Latn-RS" sz="2800" dirty="0"/>
              <a:t>H</a:t>
            </a:r>
            <a:br>
              <a:rPr lang="sr-Latn-RS" sz="2800" dirty="0"/>
            </a:br>
            <a:r>
              <a:rPr lang="sr-Latn-RS" sz="2800" dirty="0"/>
              <a:t>H</a:t>
            </a:r>
            <a:br>
              <a:rPr lang="sr-Latn-RS" sz="2800" dirty="0"/>
            </a:br>
            <a:r>
              <a:rPr lang="sr-Latn-RS" sz="2800" dirty="0"/>
              <a:t>U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015ABA-0CDD-4728-96E9-7C82E2593526}"/>
              </a:ext>
            </a:extLst>
          </p:cNvPr>
          <p:cNvSpPr txBox="1"/>
          <p:nvPr/>
        </p:nvSpPr>
        <p:spPr>
          <a:xfrm>
            <a:off x="7320926" y="4083001"/>
            <a:ext cx="397866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3200" dirty="0"/>
              <a:t>J</a:t>
            </a:r>
          </a:p>
          <a:p>
            <a:r>
              <a:rPr lang="sr-Latn-RS" sz="3200" dirty="0"/>
              <a:t>K</a:t>
            </a:r>
          </a:p>
          <a:p>
            <a:r>
              <a:rPr lang="sr-Latn-RS" sz="3200" dirty="0"/>
              <a:t>K</a:t>
            </a:r>
          </a:p>
          <a:p>
            <a:r>
              <a:rPr lang="sr-Latn-RS" sz="3200" dirty="0"/>
              <a:t>K</a:t>
            </a:r>
          </a:p>
        </p:txBody>
      </p:sp>
      <p:pic>
        <p:nvPicPr>
          <p:cNvPr id="8" name="Picture 4" descr="lemon - download free icon Classic Slot Machine Icons on Artage.io">
            <a:extLst>
              <a:ext uri="{FF2B5EF4-FFF2-40B4-BE49-F238E27FC236}">
                <a16:creationId xmlns:a16="http://schemas.microsoft.com/office/drawing/2014/main" id="{41036CB7-9293-4051-B74C-D29A5E217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2275" y="3137131"/>
            <a:ext cx="313056" cy="313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lemon - download free icon Classic Slot Machine Icons on Artage.io">
            <a:extLst>
              <a:ext uri="{FF2B5EF4-FFF2-40B4-BE49-F238E27FC236}">
                <a16:creationId xmlns:a16="http://schemas.microsoft.com/office/drawing/2014/main" id="{A046F437-25E0-4E42-BD28-6E81375428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2275" y="3489065"/>
            <a:ext cx="313057" cy="3130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lemon - download free icon Classic Slot Machine Icons on Artage.io">
            <a:extLst>
              <a:ext uri="{FF2B5EF4-FFF2-40B4-BE49-F238E27FC236}">
                <a16:creationId xmlns:a16="http://schemas.microsoft.com/office/drawing/2014/main" id="{583DA0DB-7EF3-4C97-A03F-01A95BF969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63330" y="3845099"/>
            <a:ext cx="313058" cy="313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CE4136CC-BE9F-4541-871E-A283A8FC5995}"/>
              </a:ext>
            </a:extLst>
          </p:cNvPr>
          <p:cNvSpPr/>
          <p:nvPr/>
        </p:nvSpPr>
        <p:spPr>
          <a:xfrm>
            <a:off x="3370441" y="3993160"/>
            <a:ext cx="419635" cy="129327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40EBBC7-6CA2-4125-BDE7-7038D44BD9FB}"/>
              </a:ext>
            </a:extLst>
          </p:cNvPr>
          <p:cNvSpPr/>
          <p:nvPr/>
        </p:nvSpPr>
        <p:spPr>
          <a:xfrm>
            <a:off x="5368953" y="4792197"/>
            <a:ext cx="365760" cy="129327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E8B1C5-A848-4231-A13D-7FA5E8F3D5C9}"/>
              </a:ext>
            </a:extLst>
          </p:cNvPr>
          <p:cNvSpPr txBox="1"/>
          <p:nvPr/>
        </p:nvSpPr>
        <p:spPr>
          <a:xfrm>
            <a:off x="3933065" y="3177714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0</a:t>
            </a:r>
            <a:endParaRPr 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625F5B6-BE5E-43C3-A0BD-DF3B2A3AED95}"/>
              </a:ext>
            </a:extLst>
          </p:cNvPr>
          <p:cNvSpPr txBox="1"/>
          <p:nvPr/>
        </p:nvSpPr>
        <p:spPr>
          <a:xfrm>
            <a:off x="3933065" y="3556800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1</a:t>
            </a:r>
            <a:endParaRPr lang="en-US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B3E443-4DFB-4A1B-B282-9361DB728FA6}"/>
              </a:ext>
            </a:extLst>
          </p:cNvPr>
          <p:cNvSpPr txBox="1"/>
          <p:nvPr/>
        </p:nvSpPr>
        <p:spPr>
          <a:xfrm>
            <a:off x="3933065" y="3993160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2</a:t>
            </a:r>
            <a:endParaRPr lang="en-US" sz="1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525FE8E-39D2-4610-BEE2-BC6326D7FB4D}"/>
              </a:ext>
            </a:extLst>
          </p:cNvPr>
          <p:cNvSpPr txBox="1"/>
          <p:nvPr/>
        </p:nvSpPr>
        <p:spPr>
          <a:xfrm>
            <a:off x="3933065" y="4414187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3</a:t>
            </a:r>
            <a:endParaRPr lang="en-US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7B630F2-6182-4097-9520-CDD8434D3096}"/>
              </a:ext>
            </a:extLst>
          </p:cNvPr>
          <p:cNvSpPr txBox="1"/>
          <p:nvPr/>
        </p:nvSpPr>
        <p:spPr>
          <a:xfrm>
            <a:off x="3936974" y="4847316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4</a:t>
            </a:r>
            <a:endParaRPr 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653BA9B-D119-41A9-9BD0-DFEDFA029268}"/>
              </a:ext>
            </a:extLst>
          </p:cNvPr>
          <p:cNvSpPr txBox="1"/>
          <p:nvPr/>
        </p:nvSpPr>
        <p:spPr>
          <a:xfrm>
            <a:off x="3933065" y="5312505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5</a:t>
            </a:r>
            <a:endParaRPr 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7DE003-5230-43C9-8350-9684FBC215E2}"/>
              </a:ext>
            </a:extLst>
          </p:cNvPr>
          <p:cNvSpPr txBox="1"/>
          <p:nvPr/>
        </p:nvSpPr>
        <p:spPr>
          <a:xfrm>
            <a:off x="3933065" y="5732839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6</a:t>
            </a:r>
            <a:endParaRPr lang="en-US" sz="14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893CEC0-E7AD-475C-8DBF-AD8F00FFDC92}"/>
              </a:ext>
            </a:extLst>
          </p:cNvPr>
          <p:cNvSpPr txBox="1"/>
          <p:nvPr/>
        </p:nvSpPr>
        <p:spPr>
          <a:xfrm>
            <a:off x="5967622" y="3588248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1</a:t>
            </a:r>
            <a:endParaRPr 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3B4B37D-5B2D-4C35-BBE3-147524DD77F7}"/>
              </a:ext>
            </a:extLst>
          </p:cNvPr>
          <p:cNvSpPr txBox="1"/>
          <p:nvPr/>
        </p:nvSpPr>
        <p:spPr>
          <a:xfrm>
            <a:off x="5967622" y="4023098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2</a:t>
            </a:r>
            <a:endParaRPr lang="en-US" sz="14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AF20636-700A-400E-93D6-64F32E34FDB3}"/>
              </a:ext>
            </a:extLst>
          </p:cNvPr>
          <p:cNvSpPr txBox="1"/>
          <p:nvPr/>
        </p:nvSpPr>
        <p:spPr>
          <a:xfrm>
            <a:off x="5967622" y="4444125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3</a:t>
            </a:r>
            <a:endParaRPr lang="en-US" sz="1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CC0340C-9A1C-45F1-883E-7B4889C929C5}"/>
              </a:ext>
            </a:extLst>
          </p:cNvPr>
          <p:cNvSpPr txBox="1"/>
          <p:nvPr/>
        </p:nvSpPr>
        <p:spPr>
          <a:xfrm>
            <a:off x="5971531" y="4877254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4</a:t>
            </a:r>
            <a:endParaRPr lang="en-US" sz="14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EA9FECF-AF40-4A63-83B2-4D8F2E6E30B8}"/>
              </a:ext>
            </a:extLst>
          </p:cNvPr>
          <p:cNvSpPr txBox="1"/>
          <p:nvPr/>
        </p:nvSpPr>
        <p:spPr>
          <a:xfrm>
            <a:off x="5967622" y="5342443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5</a:t>
            </a:r>
            <a:endParaRPr lang="en-US" sz="14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12A4713-5F60-4B8C-BAB4-906A4CDE030F}"/>
              </a:ext>
            </a:extLst>
          </p:cNvPr>
          <p:cNvSpPr txBox="1"/>
          <p:nvPr/>
        </p:nvSpPr>
        <p:spPr>
          <a:xfrm>
            <a:off x="5967622" y="5762777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6</a:t>
            </a:r>
            <a:endParaRPr lang="en-US" sz="14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31FC8B4-6870-47B0-9C6A-07594819B1F9}"/>
              </a:ext>
            </a:extLst>
          </p:cNvPr>
          <p:cNvSpPr txBox="1"/>
          <p:nvPr/>
        </p:nvSpPr>
        <p:spPr>
          <a:xfrm>
            <a:off x="7923731" y="3609530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1</a:t>
            </a:r>
            <a:endParaRPr lang="en-US" sz="14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D4B7FBA-2CEA-4BAE-B0E5-D414D386697E}"/>
              </a:ext>
            </a:extLst>
          </p:cNvPr>
          <p:cNvSpPr txBox="1"/>
          <p:nvPr/>
        </p:nvSpPr>
        <p:spPr>
          <a:xfrm>
            <a:off x="7923731" y="4042659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2</a:t>
            </a:r>
            <a:endParaRPr lang="en-US" sz="14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DBF1F81-8DC2-4383-A356-8D89991366EB}"/>
              </a:ext>
            </a:extLst>
          </p:cNvPr>
          <p:cNvSpPr txBox="1"/>
          <p:nvPr/>
        </p:nvSpPr>
        <p:spPr>
          <a:xfrm>
            <a:off x="7923731" y="4463686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3</a:t>
            </a:r>
            <a:endParaRPr lang="en-US" sz="14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CCA4798-93F1-4423-84AF-9BB97A3AFDB3}"/>
              </a:ext>
            </a:extLst>
          </p:cNvPr>
          <p:cNvSpPr txBox="1"/>
          <p:nvPr/>
        </p:nvSpPr>
        <p:spPr>
          <a:xfrm>
            <a:off x="7927640" y="4896815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4</a:t>
            </a:r>
            <a:endParaRPr lang="en-US" sz="14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911BEEF-C33A-4826-9D85-F1F6B10FA500}"/>
              </a:ext>
            </a:extLst>
          </p:cNvPr>
          <p:cNvSpPr txBox="1"/>
          <p:nvPr/>
        </p:nvSpPr>
        <p:spPr>
          <a:xfrm>
            <a:off x="7923731" y="5362004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5</a:t>
            </a: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E0348B9-B087-4368-8B50-3807CE0674CD}"/>
              </a:ext>
            </a:extLst>
          </p:cNvPr>
          <p:cNvSpPr txBox="1"/>
          <p:nvPr/>
        </p:nvSpPr>
        <p:spPr>
          <a:xfrm>
            <a:off x="7923731" y="5782338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6</a:t>
            </a:r>
            <a:endParaRPr lang="en-US" sz="14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2B4E72E-6F63-4FC6-9DB6-2AAB919ACF77}"/>
              </a:ext>
            </a:extLst>
          </p:cNvPr>
          <p:cNvSpPr txBox="1"/>
          <p:nvPr/>
        </p:nvSpPr>
        <p:spPr>
          <a:xfrm>
            <a:off x="5967622" y="3186736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0</a:t>
            </a:r>
            <a:endParaRPr lang="en-US" sz="14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CAA75D1-B0AE-4598-B3F1-AD174B7BEFDB}"/>
              </a:ext>
            </a:extLst>
          </p:cNvPr>
          <p:cNvSpPr txBox="1"/>
          <p:nvPr/>
        </p:nvSpPr>
        <p:spPr>
          <a:xfrm>
            <a:off x="7924508" y="3137131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0</a:t>
            </a:r>
            <a:endParaRPr lang="en-US" sz="1400" dirty="0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30B80BA-2EAD-4DE8-84F6-78D9DC57C6BE}"/>
              </a:ext>
            </a:extLst>
          </p:cNvPr>
          <p:cNvCxnSpPr>
            <a:cxnSpLocks/>
          </p:cNvCxnSpPr>
          <p:nvPr/>
        </p:nvCxnSpPr>
        <p:spPr>
          <a:xfrm>
            <a:off x="7320926" y="5147633"/>
            <a:ext cx="0" cy="930379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E4268FE-EE1E-4CDE-A202-7F65EBF55959}"/>
              </a:ext>
            </a:extLst>
          </p:cNvPr>
          <p:cNvCxnSpPr>
            <a:cxnSpLocks/>
          </p:cNvCxnSpPr>
          <p:nvPr/>
        </p:nvCxnSpPr>
        <p:spPr>
          <a:xfrm>
            <a:off x="7320926" y="5155093"/>
            <a:ext cx="419635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F3255604-28C9-486C-B68D-E1D801BFCF4E}"/>
              </a:ext>
            </a:extLst>
          </p:cNvPr>
          <p:cNvCxnSpPr>
            <a:cxnSpLocks/>
          </p:cNvCxnSpPr>
          <p:nvPr/>
        </p:nvCxnSpPr>
        <p:spPr>
          <a:xfrm>
            <a:off x="7740561" y="5155093"/>
            <a:ext cx="7939" cy="922919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70BBBE9-6354-45BA-8033-7A9C5C40516A}"/>
              </a:ext>
            </a:extLst>
          </p:cNvPr>
          <p:cNvCxnSpPr>
            <a:cxnSpLocks/>
          </p:cNvCxnSpPr>
          <p:nvPr/>
        </p:nvCxnSpPr>
        <p:spPr>
          <a:xfrm>
            <a:off x="7320926" y="3043722"/>
            <a:ext cx="0" cy="45720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7CEE349-7618-4344-BEED-88822AD38D98}"/>
              </a:ext>
            </a:extLst>
          </p:cNvPr>
          <p:cNvCxnSpPr>
            <a:cxnSpLocks/>
          </p:cNvCxnSpPr>
          <p:nvPr/>
        </p:nvCxnSpPr>
        <p:spPr>
          <a:xfrm>
            <a:off x="7320926" y="3493164"/>
            <a:ext cx="423604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740AE665-E8A4-42C1-8AA9-0447B8E3370A}"/>
              </a:ext>
            </a:extLst>
          </p:cNvPr>
          <p:cNvCxnSpPr>
            <a:cxnSpLocks/>
          </p:cNvCxnSpPr>
          <p:nvPr/>
        </p:nvCxnSpPr>
        <p:spPr>
          <a:xfrm>
            <a:off x="7748500" y="3043722"/>
            <a:ext cx="0" cy="44354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95592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61AC74-003F-45A3-835F-192D4F3D8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ИТЕРАЦИЈА СИСТЕМА – Видљиви прозор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284EEB-A1CC-4183-99A4-7A65D90412D2}"/>
              </a:ext>
            </a:extLst>
          </p:cNvPr>
          <p:cNvSpPr txBox="1"/>
          <p:nvPr/>
        </p:nvSpPr>
        <p:spPr>
          <a:xfrm>
            <a:off x="4042457" y="2290194"/>
            <a:ext cx="718466" cy="24006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6600" dirty="0"/>
              <a:t>B</a:t>
            </a:r>
          </a:p>
          <a:p>
            <a:r>
              <a:rPr lang="sr-Latn-RS" sz="6600" dirty="0"/>
              <a:t>G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24CE98-60A9-490F-A7A7-AC750202F48C}"/>
              </a:ext>
            </a:extLst>
          </p:cNvPr>
          <p:cNvSpPr txBox="1"/>
          <p:nvPr/>
        </p:nvSpPr>
        <p:spPr>
          <a:xfrm>
            <a:off x="5367916" y="2300101"/>
            <a:ext cx="728084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6600" dirty="0"/>
              <a:t>H</a:t>
            </a:r>
          </a:p>
          <a:p>
            <a:r>
              <a:rPr lang="sr-Latn-RS" sz="6600" dirty="0"/>
              <a:t>H</a:t>
            </a:r>
          </a:p>
          <a:p>
            <a:r>
              <a:rPr lang="sr-Latn-RS" sz="6600" dirty="0"/>
              <a:t>U</a:t>
            </a:r>
            <a:endParaRPr lang="en-US" sz="6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F3658B-DCCC-4E13-8275-806CF37681E8}"/>
              </a:ext>
            </a:extLst>
          </p:cNvPr>
          <p:cNvSpPr txBox="1"/>
          <p:nvPr/>
        </p:nvSpPr>
        <p:spPr>
          <a:xfrm>
            <a:off x="6702993" y="2300101"/>
            <a:ext cx="623889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6600" dirty="0"/>
              <a:t>K</a:t>
            </a:r>
          </a:p>
          <a:p>
            <a:r>
              <a:rPr lang="sr-Latn-RS" sz="6600" dirty="0"/>
              <a:t>K</a:t>
            </a:r>
            <a:endParaRPr lang="en-US" sz="66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F0BE78B-7A23-497A-BC5B-58BA058A9D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2868" y="4281779"/>
            <a:ext cx="1157643" cy="1157643"/>
          </a:xfrm>
          <a:prstGeom prst="rect">
            <a:avLst/>
          </a:prstGeom>
        </p:spPr>
      </p:pic>
      <p:pic>
        <p:nvPicPr>
          <p:cNvPr id="8" name="Picture 4" descr="lemon - download free icon Classic Slot Machine Icons on Artage.io">
            <a:extLst>
              <a:ext uri="{FF2B5EF4-FFF2-40B4-BE49-F238E27FC236}">
                <a16:creationId xmlns:a16="http://schemas.microsoft.com/office/drawing/2014/main" id="{4436CD71-96ED-4DE1-A0CF-4E9A08181F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2993" y="4511633"/>
            <a:ext cx="697934" cy="697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217138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4D75F-DC89-497D-B63A-9B8F174BB4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ИТЕРАЦИЈА СИСТЕМА – Видљиви прозор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DF400-2B6D-4C37-89F9-75F300E5EF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049673-C671-4CC7-B17D-199EB48447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0157" y="1845734"/>
            <a:ext cx="7563906" cy="4277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40867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85149-B56F-4E04-95BE-F208D4C92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ИТЕРАЦИЈА СИСТЕМА - Евалуација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283A8D4-8DBE-48EC-A2AE-ED10A572A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81" y="4089800"/>
            <a:ext cx="1157643" cy="1157643"/>
          </a:xfrm>
          <a:prstGeom prst="rect">
            <a:avLst/>
          </a:prstGeom>
        </p:spPr>
      </p:pic>
      <p:pic>
        <p:nvPicPr>
          <p:cNvPr id="5" name="Picture 4" descr="lemon - download free icon Classic Slot Machine Icons on Artage.io">
            <a:extLst>
              <a:ext uri="{FF2B5EF4-FFF2-40B4-BE49-F238E27FC236}">
                <a16:creationId xmlns:a16="http://schemas.microsoft.com/office/drawing/2014/main" id="{7A7E183C-2294-4398-8107-78D0FF8E0C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4103" y="4319654"/>
            <a:ext cx="697934" cy="697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19B01B4-49C0-4992-A958-7CFD55DC8D34}"/>
              </a:ext>
            </a:extLst>
          </p:cNvPr>
          <p:cNvSpPr txBox="1"/>
          <p:nvPr/>
        </p:nvSpPr>
        <p:spPr>
          <a:xfrm>
            <a:off x="1349170" y="2126353"/>
            <a:ext cx="718466" cy="24006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6600" dirty="0"/>
              <a:t>B</a:t>
            </a:r>
          </a:p>
          <a:p>
            <a:r>
              <a:rPr lang="sr-Latn-RS" sz="6600" dirty="0"/>
              <a:t>G</a:t>
            </a:r>
          </a:p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A385E5-7FF7-4B75-8475-4CF8EAF7315F}"/>
              </a:ext>
            </a:extLst>
          </p:cNvPr>
          <p:cNvSpPr txBox="1"/>
          <p:nvPr/>
        </p:nvSpPr>
        <p:spPr>
          <a:xfrm>
            <a:off x="2583850" y="2126353"/>
            <a:ext cx="728084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6600" dirty="0"/>
              <a:t>H</a:t>
            </a:r>
          </a:p>
          <a:p>
            <a:r>
              <a:rPr lang="sr-Latn-RS" sz="6600" dirty="0"/>
              <a:t>H</a:t>
            </a:r>
          </a:p>
          <a:p>
            <a:r>
              <a:rPr lang="sr-Latn-RS" sz="6600" dirty="0"/>
              <a:t>U</a:t>
            </a:r>
            <a:endParaRPr lang="en-US" sz="6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299FEF-36E3-4A8A-8D88-F72FD5009FC6}"/>
              </a:ext>
            </a:extLst>
          </p:cNvPr>
          <p:cNvSpPr txBox="1"/>
          <p:nvPr/>
        </p:nvSpPr>
        <p:spPr>
          <a:xfrm>
            <a:off x="3828148" y="2126353"/>
            <a:ext cx="623889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6600" dirty="0"/>
              <a:t>K</a:t>
            </a:r>
          </a:p>
          <a:p>
            <a:r>
              <a:rPr lang="sr-Latn-RS" sz="6600" dirty="0"/>
              <a:t>K</a:t>
            </a:r>
            <a:endParaRPr lang="en-US" sz="6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F5F8EAB-2990-4D9B-A460-5372F5F5AE04}"/>
              </a:ext>
            </a:extLst>
          </p:cNvPr>
          <p:cNvSpPr txBox="1"/>
          <p:nvPr/>
        </p:nvSpPr>
        <p:spPr>
          <a:xfrm>
            <a:off x="5986763" y="3095849"/>
            <a:ext cx="114646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5400" i="1" dirty="0"/>
              <a:t>f(e)</a:t>
            </a:r>
            <a:endParaRPr lang="en-US" sz="5400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01C1F2-4F17-4181-8EF8-EB0C2FAD3F92}"/>
              </a:ext>
            </a:extLst>
          </p:cNvPr>
          <p:cNvSpPr txBox="1"/>
          <p:nvPr/>
        </p:nvSpPr>
        <p:spPr>
          <a:xfrm>
            <a:off x="8385425" y="2588018"/>
            <a:ext cx="244544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r-Cyrl-RS" sz="4000" dirty="0"/>
              <a:t>излазна вредност итерације</a:t>
            </a:r>
            <a:endParaRPr lang="en-US" sz="40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5B19B73-1E74-428F-8A7A-90DA99020103}"/>
              </a:ext>
            </a:extLst>
          </p:cNvPr>
          <p:cNvCxnSpPr>
            <a:cxnSpLocks/>
          </p:cNvCxnSpPr>
          <p:nvPr/>
        </p:nvCxnSpPr>
        <p:spPr>
          <a:xfrm>
            <a:off x="4754316" y="3557514"/>
            <a:ext cx="1117978" cy="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C2B0F94-6BCF-4AEE-AF81-3297F25E5E78}"/>
              </a:ext>
            </a:extLst>
          </p:cNvPr>
          <p:cNvCxnSpPr>
            <a:cxnSpLocks/>
          </p:cNvCxnSpPr>
          <p:nvPr/>
        </p:nvCxnSpPr>
        <p:spPr>
          <a:xfrm>
            <a:off x="7271673" y="3557514"/>
            <a:ext cx="1117978" cy="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88330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732FA-D4BF-4606-9EAD-A9B1548B9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ЕВАЛУАЦИОНА ПУТАЊА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F0476C-EFAB-4CF8-8DFC-92571FC0AD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872299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Дефинише које позиције у видљивом прозору се посматрају заједно приликом провере валидног обрасца.</a:t>
            </a:r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62800E-1FFF-4799-9926-F4E49E1AB209}"/>
              </a:ext>
            </a:extLst>
          </p:cNvPr>
          <p:cNvSpPr txBox="1"/>
          <p:nvPr/>
        </p:nvSpPr>
        <p:spPr>
          <a:xfrm>
            <a:off x="748478" y="3113393"/>
            <a:ext cx="3900881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sz="4400" dirty="0"/>
              <a:t>[x]	 [  ]	  [  ]</a:t>
            </a:r>
          </a:p>
          <a:p>
            <a:r>
              <a:rPr lang="sr-Latn-RS" sz="4400" dirty="0"/>
              <a:t>[  ]	 [x]	  [  ]</a:t>
            </a:r>
          </a:p>
          <a:p>
            <a:r>
              <a:rPr lang="sr-Latn-RS" sz="4400" dirty="0"/>
              <a:t>[  ]	 [  ]	  [x]</a:t>
            </a:r>
            <a:endParaRPr lang="en-US" sz="4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2FD4A0-B7A2-4F92-A25A-816AA7222BD3}"/>
              </a:ext>
            </a:extLst>
          </p:cNvPr>
          <p:cNvSpPr txBox="1"/>
          <p:nvPr/>
        </p:nvSpPr>
        <p:spPr>
          <a:xfrm>
            <a:off x="4946762" y="2944536"/>
            <a:ext cx="71846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sz="5400" dirty="0"/>
              <a:t>B</a:t>
            </a:r>
          </a:p>
          <a:p>
            <a:r>
              <a:rPr lang="sr-Latn-RS" sz="5400" dirty="0"/>
              <a:t>G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ED3E0A-4CB7-41CE-ACBF-60D5498D1F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5324" y="4618761"/>
            <a:ext cx="858116" cy="85811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88DAF1B-CFBF-427F-A712-43674FB89467}"/>
              </a:ext>
            </a:extLst>
          </p:cNvPr>
          <p:cNvSpPr txBox="1"/>
          <p:nvPr/>
        </p:nvSpPr>
        <p:spPr>
          <a:xfrm>
            <a:off x="5781651" y="2944536"/>
            <a:ext cx="628698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5400" dirty="0"/>
              <a:t>H</a:t>
            </a:r>
          </a:p>
          <a:p>
            <a:r>
              <a:rPr lang="sr-Latn-RS" sz="5400" dirty="0"/>
              <a:t>H</a:t>
            </a:r>
          </a:p>
          <a:p>
            <a:r>
              <a:rPr lang="sr-Latn-RS" sz="5400" dirty="0"/>
              <a:t>U</a:t>
            </a:r>
            <a:endParaRPr lang="en-US" sz="5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AC59417-9599-49E7-B57B-C6F32ED94D53}"/>
              </a:ext>
            </a:extLst>
          </p:cNvPr>
          <p:cNvSpPr txBox="1"/>
          <p:nvPr/>
        </p:nvSpPr>
        <p:spPr>
          <a:xfrm>
            <a:off x="6626314" y="2944536"/>
            <a:ext cx="543739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5400" dirty="0"/>
              <a:t>K</a:t>
            </a:r>
          </a:p>
          <a:p>
            <a:r>
              <a:rPr lang="sr-Latn-RS" sz="5400" dirty="0"/>
              <a:t>K</a:t>
            </a:r>
            <a:endParaRPr lang="en-US" sz="5400" dirty="0"/>
          </a:p>
        </p:txBody>
      </p:sp>
      <p:pic>
        <p:nvPicPr>
          <p:cNvPr id="10" name="Picture 9" descr="lemon - download free icon Classic Slot Machine Icons on Artage.io">
            <a:extLst>
              <a:ext uri="{FF2B5EF4-FFF2-40B4-BE49-F238E27FC236}">
                <a16:creationId xmlns:a16="http://schemas.microsoft.com/office/drawing/2014/main" id="{44E2A907-4B6D-4D97-98DB-EEC35569FA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6314" y="4698862"/>
            <a:ext cx="620837" cy="620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67C168D7-E53A-43E6-9243-1F3812AB470B}"/>
              </a:ext>
            </a:extLst>
          </p:cNvPr>
          <p:cNvSpPr/>
          <p:nvPr/>
        </p:nvSpPr>
        <p:spPr>
          <a:xfrm>
            <a:off x="4944674" y="3113393"/>
            <a:ext cx="621012" cy="65116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21C23E5-0DC3-472D-9DBC-AC308A968E2E}"/>
              </a:ext>
            </a:extLst>
          </p:cNvPr>
          <p:cNvSpPr/>
          <p:nvPr/>
        </p:nvSpPr>
        <p:spPr>
          <a:xfrm>
            <a:off x="5785494" y="3911613"/>
            <a:ext cx="621012" cy="65116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86016AF-4C27-4A1D-9FAE-61A427DA468E}"/>
              </a:ext>
            </a:extLst>
          </p:cNvPr>
          <p:cNvSpPr/>
          <p:nvPr/>
        </p:nvSpPr>
        <p:spPr>
          <a:xfrm>
            <a:off x="6635353" y="4683696"/>
            <a:ext cx="621012" cy="65116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0606BEA-2617-4CF8-94C6-659B4A080E8B}"/>
              </a:ext>
            </a:extLst>
          </p:cNvPr>
          <p:cNvCxnSpPr>
            <a:cxnSpLocks/>
          </p:cNvCxnSpPr>
          <p:nvPr/>
        </p:nvCxnSpPr>
        <p:spPr>
          <a:xfrm>
            <a:off x="3869503" y="4172726"/>
            <a:ext cx="861294" cy="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4467193-7675-4084-883C-DA685EB4B715}"/>
              </a:ext>
            </a:extLst>
          </p:cNvPr>
          <p:cNvCxnSpPr>
            <a:cxnSpLocks/>
          </p:cNvCxnSpPr>
          <p:nvPr/>
        </p:nvCxnSpPr>
        <p:spPr>
          <a:xfrm>
            <a:off x="7581406" y="4184513"/>
            <a:ext cx="866308" cy="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7C73FCD2-0010-4998-B3EB-389EB367242A}"/>
              </a:ext>
            </a:extLst>
          </p:cNvPr>
          <p:cNvSpPr txBox="1"/>
          <p:nvPr/>
        </p:nvSpPr>
        <p:spPr>
          <a:xfrm>
            <a:off x="9102055" y="3695431"/>
            <a:ext cx="130676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5400" dirty="0"/>
              <a:t>B H </a:t>
            </a:r>
            <a:endParaRPr lang="en-US" sz="5400" dirty="0"/>
          </a:p>
        </p:txBody>
      </p:sp>
      <p:pic>
        <p:nvPicPr>
          <p:cNvPr id="20" name="Picture 19" descr="lemon - download free icon Classic Slot Machine Icons on Artage.io">
            <a:extLst>
              <a:ext uri="{FF2B5EF4-FFF2-40B4-BE49-F238E27FC236}">
                <a16:creationId xmlns:a16="http://schemas.microsoft.com/office/drawing/2014/main" id="{D253F9A0-F975-4C0A-94E8-21ADAAA3A9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26589" y="3871656"/>
            <a:ext cx="620837" cy="620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F055770-0A84-499A-B67C-B6DD6688E0FB}"/>
              </a:ext>
            </a:extLst>
          </p:cNvPr>
          <p:cNvSpPr txBox="1"/>
          <p:nvPr/>
        </p:nvSpPr>
        <p:spPr>
          <a:xfrm>
            <a:off x="9297377" y="4724653"/>
            <a:ext cx="15083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r-Cyrl-RS" dirty="0"/>
              <a:t>евалуациона секвенца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39473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B0FBB-5A4C-4BAE-B12A-5F7343E4B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ЕВАЛУАЦИОНА ПУТАЊА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513D87-2B29-451C-BEE1-D391D2D3A6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892B82-5F46-455A-A7B0-78D2EE6D1A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3415" y="1947168"/>
            <a:ext cx="8745170" cy="4305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7998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CB5EE-E7D3-4CE0-8B47-573AF831D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УНИВЕРЗАЛНИ ЗАМЕНСКИ ТОКЕН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697CE9-F238-4314-AC24-13983547B3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813576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Специјални токен азбуке који при евалуацији може „глумити“ било који други токен.</a:t>
            </a:r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359CA4-DD44-4932-B6D2-6E82DFA19A32}"/>
              </a:ext>
            </a:extLst>
          </p:cNvPr>
          <p:cNvSpPr txBox="1"/>
          <p:nvPr/>
        </p:nvSpPr>
        <p:spPr>
          <a:xfrm>
            <a:off x="1627465" y="3605169"/>
            <a:ext cx="314220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5400" dirty="0"/>
              <a:t>А </a:t>
            </a:r>
            <a:r>
              <a:rPr lang="sr-Latn-RS" sz="5400" i="1" dirty="0">
                <a:solidFill>
                  <a:srgbClr val="FF0000"/>
                </a:solidFill>
              </a:rPr>
              <a:t>W</a:t>
            </a:r>
            <a:r>
              <a:rPr lang="sr-Latn-RS" sz="5400" i="1" dirty="0"/>
              <a:t> </a:t>
            </a:r>
            <a:r>
              <a:rPr lang="sr-Latn-RS" sz="5400" dirty="0"/>
              <a:t>A B B</a:t>
            </a:r>
            <a:r>
              <a:rPr lang="sr-Latn-RS" sz="5400" i="1" dirty="0"/>
              <a:t> </a:t>
            </a:r>
            <a:endParaRPr lang="en-US" sz="5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25CB5D-A82C-421E-A738-7AD852D044B1}"/>
              </a:ext>
            </a:extLst>
          </p:cNvPr>
          <p:cNvSpPr txBox="1"/>
          <p:nvPr/>
        </p:nvSpPr>
        <p:spPr>
          <a:xfrm>
            <a:off x="10702674" y="868217"/>
            <a:ext cx="90601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sz="5400" i="1" dirty="0">
                <a:solidFill>
                  <a:srgbClr val="FF0000"/>
                </a:solidFill>
              </a:rPr>
              <a:t>W</a:t>
            </a:r>
            <a:endParaRPr lang="en-US" sz="5400" i="1" dirty="0">
              <a:solidFill>
                <a:srgbClr val="FF0000"/>
              </a:solidFill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AD7334A-BB60-4A17-A877-0561C603F5B2}"/>
              </a:ext>
            </a:extLst>
          </p:cNvPr>
          <p:cNvCxnSpPr>
            <a:cxnSpLocks/>
          </p:cNvCxnSpPr>
          <p:nvPr/>
        </p:nvCxnSpPr>
        <p:spPr>
          <a:xfrm>
            <a:off x="5335399" y="4066834"/>
            <a:ext cx="1568741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54A74F80-E9BE-4B07-A67F-4784E2F5A6D9}"/>
              </a:ext>
            </a:extLst>
          </p:cNvPr>
          <p:cNvSpPr txBox="1"/>
          <p:nvPr/>
        </p:nvSpPr>
        <p:spPr>
          <a:xfrm>
            <a:off x="7469867" y="3605169"/>
            <a:ext cx="292580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5400" dirty="0"/>
              <a:t>А </a:t>
            </a:r>
            <a:r>
              <a:rPr lang="sr-Latn-RS" sz="5400" dirty="0">
                <a:solidFill>
                  <a:srgbClr val="FF0000"/>
                </a:solidFill>
              </a:rPr>
              <a:t>A</a:t>
            </a:r>
            <a:r>
              <a:rPr lang="sr-Latn-RS" sz="5400" i="1" dirty="0"/>
              <a:t> </a:t>
            </a:r>
            <a:r>
              <a:rPr lang="sr-Latn-RS" sz="5400" dirty="0"/>
              <a:t>A B B</a:t>
            </a:r>
            <a:r>
              <a:rPr lang="sr-Latn-RS" sz="5400" i="1" dirty="0"/>
              <a:t> </a:t>
            </a:r>
            <a:endParaRPr lang="en-US" sz="5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1B65E2-4004-4E19-9F0E-8C81F56BB2F9}"/>
              </a:ext>
            </a:extLst>
          </p:cNvPr>
          <p:cNvSpPr txBox="1"/>
          <p:nvPr/>
        </p:nvSpPr>
        <p:spPr>
          <a:xfrm>
            <a:off x="7826928" y="4672668"/>
            <a:ext cx="19900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dirty="0"/>
              <a:t>префикс дужине 3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DE50B4-0753-4B38-9C8C-BC827A9CB907}"/>
              </a:ext>
            </a:extLst>
          </p:cNvPr>
          <p:cNvSpPr txBox="1"/>
          <p:nvPr/>
        </p:nvSpPr>
        <p:spPr>
          <a:xfrm>
            <a:off x="2097248" y="4672668"/>
            <a:ext cx="19900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dirty="0"/>
              <a:t>префикс дужине 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69043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28F1B-5282-416B-ADC5-89B724D568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ПОЗИЦИОНО ИНВАРИЈАНТНИ ТОКЕН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E2759-B224-4F25-ACE1-F37FEA19C0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7866" y="1807003"/>
            <a:ext cx="10058400" cy="814396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Уместо да се посматра дуж </a:t>
            </a:r>
            <a:r>
              <a:rPr lang="sr-Cyrl-RS" sz="2400" dirty="0" err="1"/>
              <a:t>евалуационих</a:t>
            </a:r>
            <a:r>
              <a:rPr lang="sr-Cyrl-RS" sz="2400" dirty="0"/>
              <a:t> путања, евалуација зависи од укупног броја појављивања у целом видљивом прозору.</a:t>
            </a:r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E17691-3B47-4C2B-ADCA-1389C74DD0B2}"/>
              </a:ext>
            </a:extLst>
          </p:cNvPr>
          <p:cNvSpPr txBox="1"/>
          <p:nvPr/>
        </p:nvSpPr>
        <p:spPr>
          <a:xfrm>
            <a:off x="11224470" y="814030"/>
            <a:ext cx="49725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5400" i="1" dirty="0">
                <a:solidFill>
                  <a:srgbClr val="FF0000"/>
                </a:solidFill>
              </a:rPr>
              <a:t>S</a:t>
            </a:r>
            <a:endParaRPr lang="en-US" i="1" dirty="0">
              <a:solidFill>
                <a:srgbClr val="FF00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D892ED-59D8-4D7F-89C9-8385BBEB46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6810" y="4861000"/>
            <a:ext cx="1157643" cy="1157643"/>
          </a:xfrm>
          <a:prstGeom prst="rect">
            <a:avLst/>
          </a:prstGeom>
        </p:spPr>
      </p:pic>
      <p:pic>
        <p:nvPicPr>
          <p:cNvPr id="6" name="Picture 5" descr="lemon - download free icon Classic Slot Machine Icons on Artage.io">
            <a:extLst>
              <a:ext uri="{FF2B5EF4-FFF2-40B4-BE49-F238E27FC236}">
                <a16:creationId xmlns:a16="http://schemas.microsoft.com/office/drawing/2014/main" id="{37BD358D-B472-4B02-AF00-AA528BE0A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1332" y="5090854"/>
            <a:ext cx="697934" cy="697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954E36C-8FCA-4FEA-9954-22DC558F19F4}"/>
              </a:ext>
            </a:extLst>
          </p:cNvPr>
          <p:cNvSpPr txBox="1"/>
          <p:nvPr/>
        </p:nvSpPr>
        <p:spPr>
          <a:xfrm>
            <a:off x="1936399" y="2897553"/>
            <a:ext cx="718466" cy="24006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6600" i="1" dirty="0">
                <a:solidFill>
                  <a:srgbClr val="FF0000"/>
                </a:solidFill>
              </a:rPr>
              <a:t>S</a:t>
            </a:r>
          </a:p>
          <a:p>
            <a:r>
              <a:rPr lang="sr-Latn-RS" sz="6600" dirty="0"/>
              <a:t>G</a:t>
            </a:r>
          </a:p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BB9CD6-6E81-4B27-9804-2830BA1D3BAB}"/>
              </a:ext>
            </a:extLst>
          </p:cNvPr>
          <p:cNvSpPr txBox="1"/>
          <p:nvPr/>
        </p:nvSpPr>
        <p:spPr>
          <a:xfrm>
            <a:off x="3171079" y="2897553"/>
            <a:ext cx="712054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6600" dirty="0"/>
              <a:t>H</a:t>
            </a:r>
          </a:p>
          <a:p>
            <a:r>
              <a:rPr lang="sr-Latn-RS" sz="6600" dirty="0"/>
              <a:t>H</a:t>
            </a:r>
          </a:p>
          <a:p>
            <a:r>
              <a:rPr lang="sr-Latn-RS" sz="6600" i="1" dirty="0">
                <a:solidFill>
                  <a:srgbClr val="FF0000"/>
                </a:solidFill>
              </a:rPr>
              <a:t>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A1F31B-DDE5-4E19-92B5-7151B8F5BA25}"/>
              </a:ext>
            </a:extLst>
          </p:cNvPr>
          <p:cNvSpPr txBox="1"/>
          <p:nvPr/>
        </p:nvSpPr>
        <p:spPr>
          <a:xfrm>
            <a:off x="4415377" y="2897553"/>
            <a:ext cx="623889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6600" dirty="0"/>
              <a:t>K</a:t>
            </a:r>
          </a:p>
          <a:p>
            <a:r>
              <a:rPr lang="sr-Latn-RS" sz="6600" i="1" dirty="0">
                <a:solidFill>
                  <a:srgbClr val="FF0000"/>
                </a:solidFill>
              </a:rPr>
              <a:t>S</a:t>
            </a:r>
            <a:endParaRPr lang="en-US" sz="6600" i="1" dirty="0">
              <a:solidFill>
                <a:srgbClr val="FF0000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C3D1309-4521-475A-A480-C168D5A94AA4}"/>
              </a:ext>
            </a:extLst>
          </p:cNvPr>
          <p:cNvCxnSpPr>
            <a:cxnSpLocks/>
          </p:cNvCxnSpPr>
          <p:nvPr/>
        </p:nvCxnSpPr>
        <p:spPr>
          <a:xfrm>
            <a:off x="5738070" y="4310114"/>
            <a:ext cx="1568741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7868770-5B76-400B-A012-424914E74E95}"/>
              </a:ext>
            </a:extLst>
          </p:cNvPr>
          <p:cNvSpPr txBox="1"/>
          <p:nvPr/>
        </p:nvSpPr>
        <p:spPr>
          <a:xfrm>
            <a:off x="8128932" y="3682604"/>
            <a:ext cx="1745991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6600" dirty="0"/>
              <a:t>3 x </a:t>
            </a:r>
            <a:r>
              <a:rPr lang="sr-Latn-RS" sz="6600" i="1" dirty="0">
                <a:solidFill>
                  <a:srgbClr val="FF0000"/>
                </a:solidFill>
              </a:rPr>
              <a:t>S</a:t>
            </a:r>
            <a:endParaRPr lang="en-US" sz="6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9235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B96F1-A9AE-4B8A-99A5-345E02082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ЕВАЛУАЦИОНА ФУНКЦИЈА И ТАБЕЛА ИЗЛАЗНИХ ВРЕДНОСТИ ТОКЕНА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BCD496-33AE-49E8-AC7A-F2AE84BDF8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Најчешћи модел евалуације функционише тако што се евалуациона секвенца чита са лева на десно и тражи се најдужи непрекидни низ истог токена на почетку секвенце.</a:t>
            </a:r>
            <a:endParaRPr lang="en-US" sz="24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B63C3D3-5B5C-4575-B224-4697E1CA2A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9721353"/>
              </p:ext>
            </p:extLst>
          </p:nvPr>
        </p:nvGraphicFramePr>
        <p:xfrm>
          <a:off x="1960229" y="3162651"/>
          <a:ext cx="8271542" cy="296131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067414">
                  <a:extLst>
                    <a:ext uri="{9D8B030D-6E8A-4147-A177-3AD203B41FA5}">
                      <a16:colId xmlns:a16="http://schemas.microsoft.com/office/drawing/2014/main" val="598228385"/>
                    </a:ext>
                  </a:extLst>
                </a:gridCol>
                <a:gridCol w="2067414">
                  <a:extLst>
                    <a:ext uri="{9D8B030D-6E8A-4147-A177-3AD203B41FA5}">
                      <a16:colId xmlns:a16="http://schemas.microsoft.com/office/drawing/2014/main" val="2962483508"/>
                    </a:ext>
                  </a:extLst>
                </a:gridCol>
                <a:gridCol w="2068357">
                  <a:extLst>
                    <a:ext uri="{9D8B030D-6E8A-4147-A177-3AD203B41FA5}">
                      <a16:colId xmlns:a16="http://schemas.microsoft.com/office/drawing/2014/main" val="2528843128"/>
                    </a:ext>
                  </a:extLst>
                </a:gridCol>
                <a:gridCol w="2068357">
                  <a:extLst>
                    <a:ext uri="{9D8B030D-6E8A-4147-A177-3AD203B41FA5}">
                      <a16:colId xmlns:a16="http://schemas.microsoft.com/office/drawing/2014/main" val="597597588"/>
                    </a:ext>
                  </a:extLst>
                </a:gridCol>
              </a:tblGrid>
              <a:tr h="592262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sr-Cyrl-RS" sz="2400">
                          <a:effectLst/>
                        </a:rPr>
                        <a:t>Токен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sr-Cyrl-RS" sz="2400">
                          <a:effectLst/>
                        </a:rPr>
                        <a:t>3 узастопна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sr-Cyrl-RS" sz="2400">
                          <a:effectLst/>
                        </a:rPr>
                        <a:t>4 узастопна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sr-Cyrl-RS" sz="2400">
                          <a:effectLst/>
                        </a:rPr>
                        <a:t>5 узастопна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97077574"/>
                  </a:ext>
                </a:extLst>
              </a:tr>
              <a:tr h="592262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sr-Cyrl-RS" sz="2400">
                          <a:effectLst/>
                        </a:rPr>
                        <a:t>А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sr-Cyrl-RS" sz="2400">
                          <a:effectLst/>
                        </a:rPr>
                        <a:t>5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sr-Cyrl-RS" sz="2400">
                          <a:effectLst/>
                        </a:rPr>
                        <a:t>20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sr-Cyrl-RS" sz="2400">
                          <a:effectLst/>
                        </a:rPr>
                        <a:t>100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03097591"/>
                  </a:ext>
                </a:extLst>
              </a:tr>
              <a:tr h="592262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sr-Cyrl-RS" sz="2400">
                          <a:effectLst/>
                        </a:rPr>
                        <a:t>B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sr-Cyrl-RS" sz="2400">
                          <a:effectLst/>
                        </a:rPr>
                        <a:t>3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sr-Cyrl-RS" sz="2400">
                          <a:effectLst/>
                        </a:rPr>
                        <a:t>10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sr-Cyrl-RS" sz="2400">
                          <a:effectLst/>
                        </a:rPr>
                        <a:t>50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00684503"/>
                  </a:ext>
                </a:extLst>
              </a:tr>
              <a:tr h="592262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sr-Cyrl-RS" sz="2400">
                          <a:effectLst/>
                        </a:rPr>
                        <a:t>C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sr-Cyrl-RS" sz="2400">
                          <a:effectLst/>
                        </a:rPr>
                        <a:t>2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sr-Cyrl-RS" sz="2400">
                          <a:effectLst/>
                        </a:rPr>
                        <a:t>5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sr-Cyrl-RS" sz="2400">
                          <a:effectLst/>
                        </a:rPr>
                        <a:t>20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75136321"/>
                  </a:ext>
                </a:extLst>
              </a:tr>
              <a:tr h="592262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sr-Cyrl-RS" sz="2400">
                          <a:effectLst/>
                        </a:rPr>
                        <a:t>D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sr-Cyrl-RS" sz="2400" dirty="0">
                          <a:effectLst/>
                        </a:rPr>
                        <a:t>1</a:t>
                      </a:r>
                      <a:endParaRPr lang="en-US" sz="2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sr-Cyrl-RS" sz="2400">
                          <a:effectLst/>
                        </a:rPr>
                        <a:t>3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sr-Cyrl-RS" sz="2400" dirty="0">
                          <a:effectLst/>
                        </a:rPr>
                        <a:t>10</a:t>
                      </a:r>
                      <a:endParaRPr lang="en-US" sz="2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076193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86695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A1DE10-4087-41D0-AE2C-F5E2F28B1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ЕВАЛУАЦИОНА ФУНКЦИЈА И ТАБЕЛА ИЗЛАЗНИХ ВРЕДНОСТИ ТОКЕНА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02E553-15F7-4F11-B059-D803B5C3ED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EEDE8A-2F5E-4F65-914C-D238E900BE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3630" y="1845734"/>
            <a:ext cx="7505700" cy="429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91493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2B26D-3BC6-497F-81FE-7D8DA3F5F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УЛАЗНА ВРЕДНОСТ ИТЕРАЦИЈЕ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7C3BAC-0D71-4F10-962E-484F9B4606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endParaRPr lang="sr-Cyrl-RS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Вредност </a:t>
            </a:r>
            <a:r>
              <a:rPr lang="sr-Cyrl-RS" sz="2400" dirty="0" err="1"/>
              <a:t>евалуационе</a:t>
            </a:r>
            <a:r>
              <a:rPr lang="sr-Cyrl-RS" sz="2400" dirty="0"/>
              <a:t> функције се множи са улазном вредношћу и тако се добија излазна вредност система.</a:t>
            </a:r>
          </a:p>
          <a:p>
            <a:pPr>
              <a:buFont typeface="Arial" panose="020B0604020202020204" pitchFamily="34" charset="0"/>
              <a:buChar char="•"/>
            </a:pPr>
            <a:endParaRPr lang="sr-Cyrl-RS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У раду подразумевамо улазну вредност да је 1.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0697039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BD8CC-2B75-4B8F-B16F-6232930B3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УЛАЗНО-ИЗЛАЗНИ ОДНОС СИСТЕМА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8B6F1-9792-46BB-A650-D0FEE46DA2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1450757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Теоријска величина која изражава однос просечене очекиване излазне вредности великог броја итерација у односу на улазну вредност.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Ако је </a:t>
            </a:r>
            <a:r>
              <a:rPr lang="sr-Latn-RS" sz="2400" i="1" dirty="0"/>
              <a:t>Vi</a:t>
            </a:r>
            <a:r>
              <a:rPr lang="sr-Cyrl-RS" sz="2400" dirty="0"/>
              <a:t> једна итерација система, онда је улазно излазни однос:</a:t>
            </a:r>
          </a:p>
          <a:p>
            <a:pPr>
              <a:buFont typeface="Arial" panose="020B0604020202020204" pitchFamily="34" charset="0"/>
              <a:buChar char="•"/>
            </a:pPr>
            <a:endParaRPr lang="sr-Cyrl-RS" sz="2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DA4F60F-8007-4CE3-84C7-DFA438D647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7802" y="3433781"/>
            <a:ext cx="5849166" cy="2381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24229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9575D-F43E-4C04-A585-618B35452E54}"/>
              </a:ext>
            </a:extLst>
          </p:cNvPr>
          <p:cNvSpPr txBox="1">
            <a:spLocks/>
          </p:cNvSpPr>
          <p:nvPr/>
        </p:nvSpPr>
        <p:spPr>
          <a:xfrm>
            <a:off x="1066800" y="1645920"/>
            <a:ext cx="10058400" cy="356616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sr-Cyrl-RS" sz="6600" dirty="0"/>
              <a:t>КОНСТРУКЦИЈА ГЕНЕРАТИВНЕ МАТРИЦЕ СА КОНТРОЛИСАНИМ УЛАЗНО-ИЗЛАЗНИМ ОДНОСОМ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42266256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A7A358-00E6-41EF-9624-ACAF077B9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ВЕРОВАТНОЋА ПОЈАВЉИВАЊА СТАНДАРДНИХ ТОКЕНА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B6C405-14A4-4807-9877-43D564FFD5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97280" y="1845735"/>
            <a:ext cx="4937760" cy="1583266"/>
          </a:xfrm>
        </p:spPr>
        <p:txBody>
          <a:bodyPr>
            <a:normAutofit fontScale="925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Вероватноћа појављивања у једној колони: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Ако имамо дужину колоне </a:t>
            </a:r>
            <a:r>
              <a:rPr lang="sr-Latn-RS" sz="2400" i="1" dirty="0"/>
              <a:t>L</a:t>
            </a:r>
            <a:r>
              <a:rPr lang="sr-Latn-RS" sz="2400" dirty="0"/>
              <a:t> </a:t>
            </a:r>
            <a:r>
              <a:rPr lang="sr-Cyrl-RS" sz="2400" dirty="0"/>
              <a:t>и број појављивања једног токена </a:t>
            </a:r>
            <a:r>
              <a:rPr lang="sr-Latn-RS" sz="2400" i="1" dirty="0"/>
              <a:t>r</a:t>
            </a:r>
            <a:r>
              <a:rPr lang="sr-Cyrl-RS" sz="2400" dirty="0"/>
              <a:t>, онда је вероватноћа:</a:t>
            </a:r>
          </a:p>
          <a:p>
            <a:pPr>
              <a:buFont typeface="Arial" panose="020B0604020202020204" pitchFamily="34" charset="0"/>
              <a:buChar char="•"/>
            </a:pPr>
            <a:endParaRPr lang="sr-Cyrl-R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12F4F6D-ADF4-46B8-A86E-5E127CCBB2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3162493"/>
          </a:xfrm>
        </p:spPr>
        <p:txBody>
          <a:bodyPr>
            <a:normAutofit fontScale="925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sr-Cyrl-RS" sz="2200" dirty="0"/>
              <a:t>Вероватноћа појављивања у свих </a:t>
            </a:r>
            <a:r>
              <a:rPr lang="sr-Latn-RS" sz="2200" i="1" dirty="0"/>
              <a:t>n</a:t>
            </a:r>
            <a:r>
              <a:rPr lang="sr-Latn-RS" sz="2200" dirty="0"/>
              <a:t> </a:t>
            </a:r>
            <a:r>
              <a:rPr lang="sr-Cyrl-RS" sz="2200" dirty="0"/>
              <a:t>колона:</a:t>
            </a:r>
            <a:endParaRPr lang="sr-Latn-RS" sz="2200" dirty="0"/>
          </a:p>
          <a:p>
            <a:pPr>
              <a:buFont typeface="Arial" panose="020B0604020202020204" pitchFamily="34" charset="0"/>
              <a:buChar char="•"/>
            </a:pPr>
            <a:endParaRPr lang="sr-Latn-RS" dirty="0"/>
          </a:p>
          <a:p>
            <a:pPr>
              <a:buFont typeface="Arial" panose="020B0604020202020204" pitchFamily="34" charset="0"/>
              <a:buChar char="•"/>
            </a:pPr>
            <a:endParaRPr lang="sr-Latn-RS" dirty="0"/>
          </a:p>
          <a:p>
            <a:pPr>
              <a:buFont typeface="Arial" panose="020B0604020202020204" pitchFamily="34" charset="0"/>
              <a:buChar char="•"/>
            </a:pPr>
            <a:endParaRPr lang="sr-Latn-RS" dirty="0"/>
          </a:p>
          <a:p>
            <a:pPr>
              <a:buFont typeface="Arial" panose="020B0604020202020204" pitchFamily="34" charset="0"/>
              <a:buChar char="•"/>
            </a:pPr>
            <a:endParaRPr lang="sr-Latn-RS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2200" dirty="0"/>
              <a:t>Вероватноћа појављивања у тачно </a:t>
            </a:r>
            <a:r>
              <a:rPr lang="sr-Latn-RS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 </a:t>
            </a:r>
            <a:r>
              <a:rPr lang="sr-Cyrl-RS" sz="2200" dirty="0">
                <a:cs typeface="Times New Roman" panose="02020603050405020304" pitchFamily="18" charset="0"/>
              </a:rPr>
              <a:t>колона:</a:t>
            </a:r>
          </a:p>
          <a:p>
            <a:pPr>
              <a:buFont typeface="Arial" panose="020B0604020202020204" pitchFamily="34" charset="0"/>
              <a:buChar char="•"/>
            </a:pPr>
            <a:endParaRPr lang="sr-Cyrl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67FF959-ACFE-44C8-954B-F60DB57F79DA}"/>
                  </a:ext>
                </a:extLst>
              </p:cNvPr>
              <p:cNvSpPr txBox="1"/>
              <p:nvPr/>
            </p:nvSpPr>
            <p:spPr>
              <a:xfrm>
                <a:off x="1224793" y="3531765"/>
                <a:ext cx="4530055" cy="11426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sr-Latn-RS" sz="40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sr-Latn-RS" sz="40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sr-Latn-R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sr-Latn-RS" sz="4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sr-Latn-RS" sz="40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</m:oMath>
                  </m:oMathPara>
                </a14:m>
                <a:endParaRPr lang="en-US" sz="40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67FF959-ACFE-44C8-954B-F60DB57F79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4793" y="3531765"/>
                <a:ext cx="4530055" cy="11426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6026541-E872-411D-B75E-70249517FCBC}"/>
                  </a:ext>
                </a:extLst>
              </p:cNvPr>
              <p:cNvSpPr txBox="1"/>
              <p:nvPr/>
            </p:nvSpPr>
            <p:spPr>
              <a:xfrm>
                <a:off x="7340368" y="2390862"/>
                <a:ext cx="1737975" cy="11762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sr-Latn-RS" sz="28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sr-Latn-RS" sz="2800" b="0" i="1" smtClean="0"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hr m:val="∏"/>
                          <m:ctrlPr>
                            <a:rPr lang="sr-Latn-RS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sr-Latn-R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sr-Latn-RS" sz="28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sr-Latn-R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sr-Latn-R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r-Latn-RS" sz="2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sr-Latn-R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6026541-E872-411D-B75E-70249517F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0368" y="2390862"/>
                <a:ext cx="1737975" cy="117621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ACCAEE7-51AB-4DD3-9B20-1589D87F71F4}"/>
                  </a:ext>
                </a:extLst>
              </p:cNvPr>
              <p:cNvSpPr txBox="1"/>
              <p:nvPr/>
            </p:nvSpPr>
            <p:spPr>
              <a:xfrm>
                <a:off x="6576600" y="4613264"/>
                <a:ext cx="4848763" cy="122027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sr-Latn-RS" sz="28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sr-Latn-R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sr-Latn-RS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sr-Latn-R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sr-Latn-RS" sz="28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sr-Latn-RS" sz="2800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  <m:e>
                          <m:sSub>
                            <m:sSubPr>
                              <m:ctrlPr>
                                <a:rPr lang="sr-Latn-R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r-Latn-RS" sz="2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sr-Latn-R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sr-Latn-RS" sz="28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2800"/>
                            <m:t>⋅</m:t>
                          </m:r>
                          <m:r>
                            <m:rPr>
                              <m:nor/>
                            </m:rPr>
                            <a:rPr lang="sr-Latn-RS" sz="2800" b="0" i="0" smtClean="0"/>
                            <m:t> </m:t>
                          </m:r>
                          <m:d>
                            <m:dPr>
                              <m:ctrlPr>
                                <a:rPr lang="sr-Latn-R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sr-Latn-R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sr-Latn-R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sr-Latn-R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sr-Latn-R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sr-Latn-R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  <m:r>
                            <a:rPr lang="sr-Latn-R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   </m:t>
                          </m:r>
                          <m:r>
                            <a:rPr lang="sr-Latn-R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</m:t>
                          </m:r>
                          <m:r>
                            <a:rPr lang="sr-Latn-R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&lt;</m:t>
                          </m:r>
                          <m:r>
                            <a:rPr lang="sr-Latn-R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ACCAEE7-51AB-4DD3-9B20-1589D87F71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6600" y="4613264"/>
                <a:ext cx="4848763" cy="122027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67470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93A81-6D12-4789-B0D9-33D89873D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ОЧЕКИВАНА ИЗЛАЗНА ВРЕДНОСТ СИСТЕМА ЗА СТАНДАРДНЕ ТОКЕНЕ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F0CE66-F831-45CD-B043-7FD73CDA12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652787"/>
            <a:ext cx="10058400" cy="4725663"/>
          </a:xfrm>
        </p:spPr>
        <p:txBody>
          <a:bodyPr>
            <a:normAutofit fontScale="85000" lnSpcReduction="20000"/>
          </a:bodyPr>
          <a:lstStyle/>
          <a:p>
            <a:endParaRPr lang="sr-Latn-RS" dirty="0"/>
          </a:p>
          <a:p>
            <a:endParaRPr lang="sr-Latn-RS" dirty="0"/>
          </a:p>
          <a:p>
            <a:endParaRPr lang="sr-Latn-RS" dirty="0"/>
          </a:p>
          <a:p>
            <a:endParaRPr lang="sr-Latn-RS" dirty="0"/>
          </a:p>
          <a:p>
            <a:pPr marL="0" marR="0" algn="just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sr-Cyrl-RS" sz="2300" dirty="0"/>
              <a:t>Пример, нека за токен А важе вероватноће појављивања:</a:t>
            </a:r>
          </a:p>
          <a:p>
            <a:pPr marL="292608" lvl="1" algn="just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sr-Cyrl-RS" sz="23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(p₁(A), p₂(A), p₃(A), p₄(A), p₅(A)) = (0.15, 0.12, 0.10, 0.14, 0.11) </a:t>
            </a:r>
          </a:p>
          <a:p>
            <a:pPr marL="0" marR="0" algn="just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sr-Cyrl-RS" sz="23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и нека су излазне вредности токена</a:t>
            </a:r>
            <a:r>
              <a:rPr lang="sr-Cyrl-RS" sz="2300" dirty="0">
                <a:ea typeface="Times New Roman" panose="02020603050405020304" pitchFamily="18" charset="0"/>
                <a:cs typeface="Times New Roman" panose="02020603050405020304" pitchFamily="18" charset="0"/>
              </a:rPr>
              <a:t> А: </a:t>
            </a:r>
            <a:endParaRPr lang="sr-Cyrl-RS" sz="2300" dirty="0">
              <a:effectLst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92608" lvl="1" algn="just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sr-Cyrl-RS" sz="23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f(A, 3) = </a:t>
            </a:r>
            <a:r>
              <a:rPr lang="sr-Cyrl-RS" sz="2300" b="1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sr-Cyrl-RS" sz="23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, f(A, 4) = </a:t>
            </a:r>
            <a:r>
              <a:rPr lang="sr-Cyrl-RS" sz="2300" b="1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r>
              <a:rPr lang="sr-Cyrl-RS" sz="23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и f(A, 5) = </a:t>
            </a:r>
            <a:r>
              <a:rPr lang="sr-Cyrl-RS" sz="2300" b="1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r>
              <a:rPr lang="sr-Cyrl-RS" sz="23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0" marR="0" algn="just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sr-Cyrl-RS" sz="2300" dirty="0">
                <a:ea typeface="Times New Roman" panose="02020603050405020304" pitchFamily="18" charset="0"/>
                <a:cs typeface="Times New Roman" panose="02020603050405020304" pitchFamily="18" charset="0"/>
              </a:rPr>
              <a:t>т</a:t>
            </a:r>
            <a:r>
              <a:rPr lang="sr-Cyrl-RS" sz="23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ада је:</a:t>
            </a:r>
            <a:endParaRPr lang="en-US" sz="23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92608" lvl="1" indent="457200" algn="just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sr-Cyrl-RS" sz="23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P(</a:t>
            </a:r>
            <a:r>
              <a:rPr lang="sr-Cyrl-RS" sz="2300" i="1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sr-Cyrl-RS" sz="2300" baseline="-25000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А</a:t>
            </a:r>
            <a:r>
              <a:rPr lang="sr-Cyrl-RS" sz="23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= 3) = 0.15 × 0.12 × 0.10 × (1 − 0.14) = 0.001548</a:t>
            </a:r>
            <a:endParaRPr lang="en-US" sz="23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92608" lvl="1" indent="457200" algn="just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sr-Cyrl-RS" sz="23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P(</a:t>
            </a:r>
            <a:r>
              <a:rPr lang="sr-Cyrl-RS" sz="2300" i="1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sr-Cyrl-RS" sz="2300" baseline="-25000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sr-Cyrl-RS" sz="23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= 4) = 0.15 × 0.12 × 0.10 × 0.14 × (1 − 0.11) ≈ 0.000224</a:t>
            </a:r>
            <a:endParaRPr lang="en-US" sz="23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92608" lvl="1" indent="457200" algn="just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sr-Cyrl-RS" sz="23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P(</a:t>
            </a:r>
            <a:r>
              <a:rPr lang="sr-Cyrl-RS" sz="2300" i="1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sr-Cyrl-RS" sz="2300" baseline="-25000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sr-Cyrl-RS" sz="23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= 5) = 0.15 × 0.12 × 0.10 × 0.14 × 0.11 ≈ 0.0000277</a:t>
            </a:r>
            <a:endParaRPr lang="en-US" sz="23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algn="just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sr-Cyrl-RS" sz="23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Допринос токена А ≈ 5 × 0.001548 + 20 × 0.000224 + 100 × 0.0000277 ≈ 0.01499</a:t>
            </a:r>
            <a:endParaRPr lang="en-US" sz="23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sr-Latn-R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780A8B7-E5E7-4F86-9E7C-C76FE7B95443}"/>
                  </a:ext>
                </a:extLst>
              </p:cNvPr>
              <p:cNvSpPr txBox="1"/>
              <p:nvPr/>
            </p:nvSpPr>
            <p:spPr>
              <a:xfrm>
                <a:off x="2887910" y="1737360"/>
                <a:ext cx="6094602" cy="11800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ρ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𝑠𝑡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400" i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</m:d>
                      <m:r>
                        <a:rPr lang="en-US" sz="2400" i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sr-Latn-R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sr-Latn-RS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sr-Latn-R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sr-Latn-RS" sz="2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sr-Latn-RS" sz="24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sr-Latn-R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r>
                                <a:rPr lang="sr-Latn-RS" sz="2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sr-Latn-RS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sr-Latn-RS" sz="2400" b="0" i="1" smtClean="0">
                                  <a:latin typeface="Cambria Math" panose="02040503050406030204" pitchFamily="18" charset="0"/>
                                </a:rPr>
                                <m:t>𝑡𝑜𝑘𝑒𝑛</m:t>
                              </m:r>
                              <m:r>
                                <a:rPr lang="sr-Latn-R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sr-Latn-RS" sz="2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sr-Latn-RS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nary>
                      <m:r>
                        <a:rPr lang="en-US" sz="2400" i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i="0"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400" i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</m:d>
                    </m:oMath>
                  </m:oMathPara>
                </a14:m>
                <a:endParaRPr lang="sr-Cyrl-RS" sz="28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780A8B7-E5E7-4F86-9E7C-C76FE7B954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10" y="1737360"/>
                <a:ext cx="6094602" cy="118006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608190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15348-4B25-43BB-96E8-8020156CD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ФАЗЕ КОНСТРУКЦИЈЕ ГЕНЕРАТИВНЕ МАТРИЦЕ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59404-F8E0-4B81-A4A5-D81377ED4C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sr-Cyrl-RS" sz="2400" dirty="0">
                <a:solidFill>
                  <a:schemeClr val="accent1"/>
                </a:solidFill>
              </a:rPr>
              <a:t>1) </a:t>
            </a:r>
            <a:r>
              <a:rPr lang="sr-Cyrl-RS" sz="2400" dirty="0"/>
              <a:t>Проналажење погодних густина стандардних токена – ОПТИМИЗАЦИЈА.</a:t>
            </a:r>
          </a:p>
          <a:p>
            <a:pPr marL="0" indent="0">
              <a:buNone/>
            </a:pPr>
            <a:endParaRPr lang="sr-Cyrl-RS" sz="2400" dirty="0"/>
          </a:p>
          <a:p>
            <a:pPr marL="0" indent="0">
              <a:buNone/>
            </a:pPr>
            <a:r>
              <a:rPr lang="sr-Cyrl-RS" sz="2400" dirty="0">
                <a:solidFill>
                  <a:schemeClr val="accent1"/>
                </a:solidFill>
              </a:rPr>
              <a:t>2) </a:t>
            </a:r>
            <a:r>
              <a:rPr lang="sr-Cyrl-RS" sz="2400" dirty="0"/>
              <a:t>Претварање пронађених густина у целе бројеве – ДИСКРЕТИЗАЦИЈА.</a:t>
            </a:r>
          </a:p>
          <a:p>
            <a:pPr>
              <a:buFont typeface="Arial" panose="020B0604020202020204" pitchFamily="34" charset="0"/>
              <a:buChar char="•"/>
            </a:pPr>
            <a:endParaRPr lang="sr-Cyrl-RS" sz="2400" dirty="0"/>
          </a:p>
          <a:p>
            <a:pPr marL="0" indent="0">
              <a:buNone/>
            </a:pPr>
            <a:r>
              <a:rPr lang="sr-Cyrl-RS" sz="2400" dirty="0">
                <a:solidFill>
                  <a:schemeClr val="accent1"/>
                </a:solidFill>
              </a:rPr>
              <a:t>3) </a:t>
            </a:r>
            <a:r>
              <a:rPr lang="sr-Cyrl-RS" sz="2400" dirty="0"/>
              <a:t>Додавање специјалних токена и прерачунавање.</a:t>
            </a:r>
          </a:p>
          <a:p>
            <a:pPr>
              <a:buFont typeface="Arial" panose="020B0604020202020204" pitchFamily="34" charset="0"/>
              <a:buChar char="•"/>
            </a:pPr>
            <a:endParaRPr lang="sr-Cyrl-RS" sz="2400" dirty="0"/>
          </a:p>
          <a:p>
            <a:pPr marL="0" indent="0">
              <a:buNone/>
            </a:pPr>
            <a:r>
              <a:rPr lang="sr-Cyrl-RS" sz="2400" dirty="0">
                <a:solidFill>
                  <a:schemeClr val="accent1"/>
                </a:solidFill>
              </a:rPr>
              <a:t>4)</a:t>
            </a:r>
            <a:r>
              <a:rPr lang="sr-Cyrl-RS" sz="2400" dirty="0"/>
              <a:t> Генерисање конкретне матрице са добијеним бројевима.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1285854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06D607-52E3-4859-97F3-78514E6D6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ОПТИМИЗАЦИЈА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280AA-785A-4810-95D8-1E35FD5981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sr-Latn-RS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dirty="0"/>
              <a:t>Бира насумичне вредности за појављивање сваког токена и покушава да одступање од жељеног улазно-излазног односа буде што мање тако што их мења и испитује.</a:t>
            </a:r>
            <a:endParaRPr lang="sr-Latn-RS" dirty="0"/>
          </a:p>
          <a:p>
            <a:pPr>
              <a:buFont typeface="Arial" panose="020B0604020202020204" pitchFamily="34" charset="0"/>
              <a:buChar char="•"/>
            </a:pPr>
            <a:endParaRPr lang="sr-Cyrl-RS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dirty="0"/>
              <a:t>То се ради помоћу </a:t>
            </a:r>
            <a:r>
              <a:rPr lang="sr-Latn-RS" dirty="0"/>
              <a:t>SLSQP (</a:t>
            </a:r>
            <a:r>
              <a:rPr lang="en-US" dirty="0"/>
              <a:t>Sequential Least Squares Programming</a:t>
            </a:r>
            <a:r>
              <a:rPr lang="sr-Latn-RS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endParaRPr lang="sr-Cyrl-RS" dirty="0"/>
          </a:p>
        </p:txBody>
      </p:sp>
    </p:spTree>
    <p:extLst>
      <p:ext uri="{BB962C8B-B14F-4D97-AF65-F5344CB8AC3E}">
        <p14:creationId xmlns:p14="http://schemas.microsoft.com/office/powerpoint/2010/main" val="33107361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4A492-9BB6-4DC1-B1F2-BC1318C6F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ПРОБЛЕМ ЛОКАЛНОГ МИНИМУМА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8B20E9-F01D-477C-A110-22FE36DA28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1090413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1026" name="Picture 2" descr="differential equations - Generate a smooth random function (2D curve) with  endpoints specification? - Mathematica Stack Exchange">
            <a:extLst>
              <a:ext uri="{FF2B5EF4-FFF2-40B4-BE49-F238E27FC236}">
                <a16:creationId xmlns:a16="http://schemas.microsoft.com/office/drawing/2014/main" id="{A8E84505-89A5-4B45-93E2-46F97BE316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3141" y="1845734"/>
            <a:ext cx="7027993" cy="4412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664943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B2BE0-C784-44DC-861E-EE47BE865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КВАДРАТ ОДСТУПАЊА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FCEC91-7B22-4389-AD45-13B41AF86D3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97696" y="1978242"/>
                <a:ext cx="4596608" cy="1025017"/>
              </a:xfrm>
            </p:spPr>
            <p:txBody>
              <a:bodyPr>
                <a:noAutofit/>
              </a:bodyPr>
              <a:lstStyle/>
              <a:p>
                <a:pPr algn="just"/>
                <a14:m>
                  <m:oMath xmlns:m="http://schemas.openxmlformats.org/officeDocument/2006/math">
                    <m:r>
                      <a:rPr lang="sr-Latn-RS" sz="5400" b="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sr-Latn-RS" sz="5400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sr-Latn-RS" sz="5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sr-Latn-RS" sz="5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l-GR" sz="5400"/>
                              <m:t>ρ</m:t>
                            </m:r>
                          </m:e>
                          <m:sub>
                            <m:r>
                              <a:rPr lang="sr-Latn-RS" sz="5400" i="1">
                                <a:latin typeface="Cambria Math" panose="02040503050406030204" pitchFamily="18" charset="0"/>
                              </a:rPr>
                              <m:t>𝑡𝑟</m:t>
                            </m:r>
                          </m:sub>
                        </m:sSub>
                        <m:r>
                          <a:rPr lang="sr-Latn-RS" sz="5400" i="1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sr-Latn-RS" sz="5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nor/>
                              </m:rPr>
                              <a:rPr lang="el-GR" sz="5400"/>
                              <m:t>ρ</m:t>
                            </m:r>
                          </m:e>
                          <m:sup>
                            <m:r>
                              <a:rPr lang="sr-Latn-RS" sz="5400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sr-Latn-RS" sz="5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sr-Latn-RS" sz="5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4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FCEC91-7B22-4389-AD45-13B41AF86D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97696" y="1978242"/>
                <a:ext cx="4596608" cy="1025017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2417B11-0273-4B3C-B6F0-42DA9C876063}"/>
              </a:ext>
            </a:extLst>
          </p:cNvPr>
          <p:cNvSpPr txBox="1"/>
          <p:nvPr/>
        </p:nvSpPr>
        <p:spPr>
          <a:xfrm>
            <a:off x="3320689" y="3200099"/>
            <a:ext cx="5550622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sr-Cyrl-RS" sz="2400" dirty="0"/>
              <a:t>Увек позитивно одступање: </a:t>
            </a:r>
          </a:p>
          <a:p>
            <a:pPr marL="800100" lvl="1" indent="-34290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sr-Cyrl-RS" sz="2400" dirty="0"/>
              <a:t>Без квадрата би било: </a:t>
            </a:r>
            <a:r>
              <a:rPr lang="sr-Cyrl-RS" sz="2400" b="1" dirty="0"/>
              <a:t>(94 - 96) = -2</a:t>
            </a:r>
          </a:p>
          <a:p>
            <a:pPr marL="342900" indent="-342900"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lang="sr-Cyrl-RS" sz="2400" b="1" dirty="0"/>
          </a:p>
          <a:p>
            <a:pPr marL="342900" indent="-34290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sr-Cyrl-RS" sz="2400" dirty="0"/>
              <a:t>Кажњавање великих одступања: </a:t>
            </a:r>
          </a:p>
          <a:p>
            <a:pPr marL="800100" lvl="1" indent="-34290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sr-Cyrl-RS" sz="2400" dirty="0"/>
              <a:t>Одступање: </a:t>
            </a:r>
            <a:r>
              <a:rPr lang="sr-Cyrl-RS" sz="2400" b="1" dirty="0"/>
              <a:t>5 -</a:t>
            </a:r>
            <a:r>
              <a:rPr lang="en-US" sz="2400" b="1" dirty="0"/>
              <a:t>&gt; 25</a:t>
            </a:r>
            <a:endParaRPr lang="sr-Cyrl-RS" sz="2400" b="1" dirty="0"/>
          </a:p>
          <a:p>
            <a:pPr marL="800100" lvl="1" indent="-342900"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lang="sr-Cyrl-RS" sz="2400" b="1" dirty="0"/>
          </a:p>
          <a:p>
            <a:pPr marL="342900" indent="-34290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sr-Cyrl-RS" sz="2400" dirty="0"/>
              <a:t>Награђивање малих одступања:</a:t>
            </a:r>
          </a:p>
          <a:p>
            <a:pPr marL="800100" lvl="1" indent="-34290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sr-Cyrl-RS" sz="2400" dirty="0"/>
              <a:t>Одступање: </a:t>
            </a:r>
            <a:r>
              <a:rPr lang="sr-Cyrl-RS" sz="2400" b="1" dirty="0"/>
              <a:t>0.1 -</a:t>
            </a:r>
            <a:r>
              <a:rPr lang="en-US" sz="2400" b="1" dirty="0"/>
              <a:t>&gt; 0.01</a:t>
            </a:r>
            <a:endParaRPr lang="sr-Cyrl-RS" sz="2400" dirty="0"/>
          </a:p>
        </p:txBody>
      </p:sp>
    </p:spTree>
    <p:extLst>
      <p:ext uri="{BB962C8B-B14F-4D97-AF65-F5344CB8AC3E}">
        <p14:creationId xmlns:p14="http://schemas.microsoft.com/office/powerpoint/2010/main" val="34256367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D889D-D71D-459F-A30C-03589E21F5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ДИСКРЕТИЗАЦИЈА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7C8AB3-E855-4320-B0BB-F005D262E1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367561"/>
            <a:ext cx="10058400" cy="4521510"/>
          </a:xfrm>
        </p:spPr>
        <p:txBody>
          <a:bodyPr>
            <a:normAutofit lnSpcReduction="10000"/>
          </a:bodyPr>
          <a:lstStyle/>
          <a:p>
            <a:pPr>
              <a:buFont typeface="Arial" panose="020B0604020202020204" pitchFamily="34" charset="0"/>
              <a:buChar char="•"/>
            </a:pPr>
            <a:endParaRPr lang="sr-Cyrl-RS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2600" dirty="0"/>
              <a:t>Дискретизација је потребна зато што алгоритмом оптимизације добијамо вероватноће појављивања токена у реалном бројном систему. Пример:</a:t>
            </a:r>
            <a:endParaRPr lang="sr-Latn-RS" sz="2600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2600" dirty="0"/>
              <a:t>Оптимална вероватноћа појављивања за токен </a:t>
            </a:r>
            <a:r>
              <a:rPr lang="sr-Cyrl-RS" sz="2600" b="1" dirty="0"/>
              <a:t>А = 0.33333</a:t>
            </a:r>
            <a:r>
              <a:rPr lang="sr-Cyrl-RS" sz="2600" dirty="0"/>
              <a:t>, не можемо у цикличној токен секвенци да имамо </a:t>
            </a:r>
            <a:r>
              <a:rPr lang="sr-Cyrl-RS" sz="2600" b="1" dirty="0"/>
              <a:t>33,333</a:t>
            </a:r>
            <a:r>
              <a:rPr lang="sr-Cyrl-RS" sz="2600" dirty="0"/>
              <a:t> токена А.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sr-Cyrl-RS" sz="2600" dirty="0"/>
              <a:t>Треба да нађемо дужину токен секвенце која се најбоље уклапа за дату вероватноћу.</a:t>
            </a:r>
            <a:endParaRPr lang="sr-Latn-RS" sz="2600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2600" dirty="0"/>
              <a:t>Пошто овај проблем има бесконачно много решења ми тражимо најбоље решење за одређени распон дужина цикличних токен секвенци</a:t>
            </a:r>
            <a:r>
              <a:rPr lang="sr-Latn-RS" sz="2600" dirty="0"/>
              <a:t>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7865F3-9F06-4E72-AC5F-B4234481DDC7}"/>
              </a:ext>
            </a:extLst>
          </p:cNvPr>
          <p:cNvSpPr txBox="1"/>
          <p:nvPr/>
        </p:nvSpPr>
        <p:spPr>
          <a:xfrm>
            <a:off x="4774734" y="5490439"/>
            <a:ext cx="26425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sz="3600" b="1" dirty="0"/>
              <a:t>[</a:t>
            </a:r>
            <a:r>
              <a:rPr lang="sr-Latn-RS" sz="3600" b="1" i="1" dirty="0"/>
              <a:t>Lmin, Lmax</a:t>
            </a:r>
            <a:r>
              <a:rPr lang="sr-Latn-RS" sz="3600" b="1" dirty="0"/>
              <a:t>]</a:t>
            </a:r>
            <a:endParaRPr lang="sr-Cyrl-RS" sz="3600" b="1" dirty="0"/>
          </a:p>
          <a:p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5776493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6B088-E0FA-49A9-A0DD-15F76A0C5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ДИСКРЕТИЗАЦИЈА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8771C-915C-4741-975C-0644313853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1737360"/>
            <a:ext cx="10058400" cy="4664123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Налазимо колико треба сваки токен да се појави за одређено </a:t>
            </a:r>
            <a:r>
              <a:rPr lang="sr-Latn-RS" sz="2400" i="1" dirty="0"/>
              <a:t>L</a:t>
            </a:r>
            <a:r>
              <a:rPr lang="sr-Cyrl-RS" sz="2400" i="1" dirty="0"/>
              <a:t> </a:t>
            </a:r>
            <a:r>
              <a:rPr lang="sr-Cyrl-RS" sz="2400" dirty="0"/>
              <a:t>по формули:</a:t>
            </a:r>
          </a:p>
          <a:p>
            <a:pPr>
              <a:buFont typeface="Arial" panose="020B0604020202020204" pitchFamily="34" charset="0"/>
              <a:buChar char="•"/>
            </a:pPr>
            <a:endParaRPr lang="sr-Cyrl-RS" sz="2400" dirty="0"/>
          </a:p>
          <a:p>
            <a:pPr>
              <a:buFont typeface="Arial" panose="020B0604020202020204" pitchFamily="34" charset="0"/>
              <a:buChar char="•"/>
            </a:pPr>
            <a:endParaRPr lang="sr-Cyrl-RS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На пример </a:t>
            </a:r>
            <a:r>
              <a:rPr lang="ru-RU" sz="2400" dirty="0"/>
              <a:t>за L = 97 и p = 0.45 добијамо e = 43.65 и узимамо цео део тог броја односно </a:t>
            </a:r>
            <a:r>
              <a:rPr lang="ru-RU" sz="2400" b="1" dirty="0"/>
              <a:t>43</a:t>
            </a:r>
            <a:r>
              <a:rPr lang="ru-RU" sz="24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400" dirty="0"/>
              <a:t>Пошто смо за сваки токен узимали цео број остају нам празна места која се попуњавају токенима тако да одступање буде што веће</a:t>
            </a:r>
            <a:r>
              <a:rPr lang="sr-Latn-RS" sz="2400" dirty="0"/>
              <a:t> </a:t>
            </a:r>
            <a:r>
              <a:rPr lang="sr-Cyrl-RS" sz="2400" dirty="0"/>
              <a:t>и</a:t>
            </a:r>
            <a:r>
              <a:rPr lang="ru-RU" sz="24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400" u="sng" dirty="0"/>
              <a:t>Зашто што ве</a:t>
            </a:r>
            <a:r>
              <a:rPr lang="sr-Cyrl-RS" sz="2400" u="sng" dirty="0"/>
              <a:t>ће одступање за једно </a:t>
            </a:r>
            <a:r>
              <a:rPr lang="sr-Latn-RS" sz="2400" i="1" u="sng" dirty="0"/>
              <a:t>L</a:t>
            </a:r>
            <a:r>
              <a:rPr lang="sr-Latn-RS" sz="2400" u="sng" dirty="0"/>
              <a:t>?</a:t>
            </a:r>
            <a:endParaRPr lang="sr-Cyrl-RS" sz="2400" u="sng" dirty="0"/>
          </a:p>
          <a:p>
            <a:pPr>
              <a:buFont typeface="Arial" panose="020B0604020202020204" pitchFamily="34" charset="0"/>
              <a:buChar char="•"/>
            </a:pPr>
            <a:endParaRPr lang="sr-Cyrl-RS" sz="2400" u="sng" dirty="0"/>
          </a:p>
          <a:p>
            <a:pPr>
              <a:buFont typeface="Arial" panose="020B0604020202020204" pitchFamily="34" charset="0"/>
              <a:buChar char="•"/>
            </a:pPr>
            <a:r>
              <a:rPr lang="ru-RU" sz="2400" dirty="0"/>
              <a:t>Овај процес се понавља за свако </a:t>
            </a:r>
            <a:r>
              <a:rPr lang="sr-Latn-RS" sz="2400" i="1" dirty="0"/>
              <a:t>L </a:t>
            </a:r>
            <a:r>
              <a:rPr lang="sr-Cyrl-RS" sz="2400" dirty="0"/>
              <a:t>из скупа и тражи се најбоље решење.</a:t>
            </a:r>
            <a:endParaRPr lang="ru-RU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A03C79-6038-4CB9-AB24-34DC7D52D4E7}"/>
              </a:ext>
            </a:extLst>
          </p:cNvPr>
          <p:cNvSpPr txBox="1"/>
          <p:nvPr/>
        </p:nvSpPr>
        <p:spPr>
          <a:xfrm>
            <a:off x="5217953" y="2357306"/>
            <a:ext cx="1444626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kern="1200" dirty="0">
                <a:solidFill>
                  <a:srgbClr val="40404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eᵢ = L · pᵢ</a:t>
            </a:r>
            <a:endParaRPr lang="en-US" sz="2800" b="1" dirty="0">
              <a:effectLst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580058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95BF6-7EAA-48EE-8B18-018E3EA5A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ДИСКРЕТИЗАЦИЈА – ПРИМЕР</a:t>
            </a:r>
            <a:r>
              <a:rPr lang="sr-Latn-RS" dirty="0"/>
              <a:t> </a:t>
            </a:r>
            <a:r>
              <a:rPr lang="sr-Cyrl-RS" dirty="0"/>
              <a:t>ЗА </a:t>
            </a:r>
            <a:r>
              <a:rPr lang="sr-Latn-RS" b="1" i="1" dirty="0"/>
              <a:t>L = 10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8F5B9E-BD89-4035-A5D8-613FA3D37F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r-Cyrl-RS" sz="2800" dirty="0"/>
              <a:t>А (0.45)</a:t>
            </a:r>
            <a:r>
              <a:rPr lang="sr-Latn-RS" sz="2800" dirty="0"/>
              <a:t>		e(A) = 10 </a:t>
            </a:r>
            <a:r>
              <a:rPr lang="en-US" sz="2800" dirty="0"/>
              <a:t>⋅ </a:t>
            </a:r>
            <a:r>
              <a:rPr lang="sr-Latn-RS" sz="2800" dirty="0"/>
              <a:t>0.45 = 4.5	</a:t>
            </a:r>
            <a:r>
              <a:rPr lang="sr-Cyrl-RS" sz="2800" dirty="0"/>
              <a:t>узимамо 4</a:t>
            </a:r>
          </a:p>
          <a:p>
            <a:r>
              <a:rPr lang="sr-Latn-RS" sz="2800" dirty="0"/>
              <a:t>B (0.35)		e(B) = 10 </a:t>
            </a:r>
            <a:r>
              <a:rPr lang="en-US" sz="2800" dirty="0"/>
              <a:t>⋅ </a:t>
            </a:r>
            <a:r>
              <a:rPr lang="sr-Latn-RS" sz="2800" dirty="0"/>
              <a:t>0.34 = 3.5</a:t>
            </a:r>
            <a:r>
              <a:rPr lang="sr-Cyrl-RS" sz="2800" dirty="0"/>
              <a:t>	узимамо 3</a:t>
            </a:r>
            <a:endParaRPr lang="sr-Latn-RS" sz="2800" dirty="0"/>
          </a:p>
          <a:p>
            <a:r>
              <a:rPr lang="sr-Latn-RS" sz="2800" dirty="0"/>
              <a:t>C (0.20)		e(C) = 10 </a:t>
            </a:r>
            <a:r>
              <a:rPr lang="en-US" sz="2800" dirty="0"/>
              <a:t>⋅ </a:t>
            </a:r>
            <a:r>
              <a:rPr lang="sr-Latn-RS" sz="2800" dirty="0"/>
              <a:t>0.20 = 2</a:t>
            </a:r>
            <a:r>
              <a:rPr lang="sr-Cyrl-RS" sz="2800" dirty="0"/>
              <a:t>		узимамо 2</a:t>
            </a:r>
          </a:p>
          <a:p>
            <a:endParaRPr lang="sr-Cyrl-RS" sz="2800" dirty="0"/>
          </a:p>
          <a:p>
            <a:pPr algn="ctr"/>
            <a:r>
              <a:rPr lang="sr-Cyrl-RS" sz="2800" b="1" dirty="0"/>
              <a:t>4 + 3 + 2 = 9</a:t>
            </a:r>
          </a:p>
          <a:p>
            <a:pPr marL="0" indent="0" algn="ctr">
              <a:buNone/>
            </a:pPr>
            <a:r>
              <a:rPr lang="sr-Cyrl-RS" sz="2800" dirty="0"/>
              <a:t>имамо једно слободно место </a:t>
            </a:r>
          </a:p>
          <a:p>
            <a:endParaRPr lang="sr-Cyrl-R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28312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08FDF-55A9-4122-8D8B-13BA6C9A5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УНИВЕРЗАЛНИ ЗАМЕНСКИ ТОКЕН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122868-DDC4-43CA-9451-1A469148CB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2793378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Додајемо тражени број </a:t>
            </a:r>
            <a:r>
              <a:rPr lang="sr-Cyrl-RS" sz="2400" dirty="0" err="1"/>
              <a:t>заменских</a:t>
            </a:r>
            <a:r>
              <a:rPr lang="sr-Cyrl-RS" sz="2400" dirty="0"/>
              <a:t> токена у пронађени скуп појављивања сваког стандардног </a:t>
            </a:r>
            <a:r>
              <a:rPr lang="sr-Cyrl-RS" sz="2400" dirty="0" err="1"/>
              <a:t>токека</a:t>
            </a:r>
            <a:r>
              <a:rPr lang="sr-Cyrl-RS" sz="24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sr-Latn-RS" sz="2400" dirty="0"/>
              <a:t>„Brute-force“</a:t>
            </a:r>
            <a:r>
              <a:rPr lang="sr-Cyrl-RS" sz="2400" dirty="0"/>
              <a:t> приступом испитујемо сваку могућу комбинацију стандардних и </a:t>
            </a:r>
            <a:r>
              <a:rPr lang="sr-Cyrl-RS" sz="2400" dirty="0" err="1"/>
              <a:t>заменских</a:t>
            </a:r>
            <a:r>
              <a:rPr lang="sr-Cyrl-RS" sz="2400" dirty="0"/>
              <a:t> токена и рачунамо вероватноћу појављивања комбинације и њену излазну вредност.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Тако укупну сабрану излазну вредност коју смо добили је нова излазна вредност матрице.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AEFCB2-060A-49DA-83A0-A51F919426B3}"/>
              </a:ext>
            </a:extLst>
          </p:cNvPr>
          <p:cNvSpPr txBox="1"/>
          <p:nvPr/>
        </p:nvSpPr>
        <p:spPr>
          <a:xfrm>
            <a:off x="2625754" y="4639112"/>
            <a:ext cx="24747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Cyrl-RS" sz="3600" dirty="0"/>
              <a:t>А </a:t>
            </a:r>
            <a:r>
              <a:rPr lang="sr-Latn-RS" sz="3600" i="1" dirty="0">
                <a:solidFill>
                  <a:srgbClr val="FF0000"/>
                </a:solidFill>
              </a:rPr>
              <a:t>W</a:t>
            </a:r>
            <a:r>
              <a:rPr lang="sr-Latn-RS" sz="3600" dirty="0"/>
              <a:t> A B C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46C31E-483C-4D42-87C5-6D7605D13F7D}"/>
              </a:ext>
            </a:extLst>
          </p:cNvPr>
          <p:cNvSpPr txBox="1"/>
          <p:nvPr/>
        </p:nvSpPr>
        <p:spPr>
          <a:xfrm>
            <a:off x="6234418" y="4639111"/>
            <a:ext cx="24747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Cyrl-RS" sz="3600" dirty="0"/>
              <a:t>А</a:t>
            </a:r>
            <a:r>
              <a:rPr lang="sr-Latn-RS" sz="3600" dirty="0"/>
              <a:t> A </a:t>
            </a:r>
            <a:r>
              <a:rPr lang="sr-Latn-RS" sz="3600" i="1" dirty="0">
                <a:solidFill>
                  <a:srgbClr val="FF0000"/>
                </a:solidFill>
              </a:rPr>
              <a:t>W</a:t>
            </a:r>
            <a:r>
              <a:rPr lang="sr-Latn-RS" sz="3600" dirty="0"/>
              <a:t> B C</a:t>
            </a:r>
            <a:endParaRPr lang="en-US" sz="3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F5D21E-50B7-4B59-B66F-CC49A3C00988}"/>
              </a:ext>
            </a:extLst>
          </p:cNvPr>
          <p:cNvSpPr txBox="1"/>
          <p:nvPr/>
        </p:nvSpPr>
        <p:spPr>
          <a:xfrm>
            <a:off x="4457350" y="5378740"/>
            <a:ext cx="24747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Cyrl-RS" sz="3600" dirty="0"/>
              <a:t>А</a:t>
            </a:r>
            <a:r>
              <a:rPr lang="sr-Latn-RS" sz="3600" dirty="0"/>
              <a:t> A A B C</a:t>
            </a:r>
            <a:endParaRPr lang="en-US" sz="36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A7E736D-A719-49F3-8C57-E7A3DA722C3F}"/>
              </a:ext>
            </a:extLst>
          </p:cNvPr>
          <p:cNvCxnSpPr>
            <a:cxnSpLocks/>
          </p:cNvCxnSpPr>
          <p:nvPr/>
        </p:nvCxnSpPr>
        <p:spPr>
          <a:xfrm>
            <a:off x="3414319" y="5285442"/>
            <a:ext cx="822121" cy="40229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2C2CDB8-604E-43D2-B8B1-1E8238BDBA2C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6509858" y="5285442"/>
            <a:ext cx="961936" cy="502962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375636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AB2EC-3776-4C20-B299-C656466EC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ПОЗИЦИОНО</a:t>
            </a:r>
            <a:r>
              <a:rPr lang="sr-Latn-RS" dirty="0"/>
              <a:t>-</a:t>
            </a:r>
            <a:r>
              <a:rPr lang="sr-Cyrl-RS" dirty="0"/>
              <a:t>ИНВАРИЈАНТНИ ТОКЕН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89CC2C-5044-4EBC-B2BD-69EF21C1AE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4412191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sr-Cyrl-RS" dirty="0"/>
              <a:t>Додаје се број </a:t>
            </a:r>
            <a:r>
              <a:rPr lang="sr-Cyrl-RS" dirty="0" err="1"/>
              <a:t>позиционо</a:t>
            </a:r>
            <a:r>
              <a:rPr lang="sr-Latn-RS" dirty="0"/>
              <a:t>-</a:t>
            </a:r>
            <a:r>
              <a:rPr lang="sr-Cyrl-RS" dirty="0"/>
              <a:t>инваријантних токена под претпоставком да не може више од једног да се појави у једној колони видљивог прозора и рачуна се вероватноћа појављивања:</a:t>
            </a:r>
            <a:endParaRPr lang="sr-Latn-RS" dirty="0"/>
          </a:p>
          <a:p>
            <a:pPr>
              <a:buFont typeface="Arial" panose="020B0604020202020204" pitchFamily="34" charset="0"/>
              <a:buChar char="•"/>
            </a:pPr>
            <a:endParaRPr lang="sr-Latn-RS" dirty="0"/>
          </a:p>
          <a:p>
            <a:pPr>
              <a:buFont typeface="Arial" panose="020B0604020202020204" pitchFamily="34" charset="0"/>
              <a:buChar char="•"/>
            </a:pPr>
            <a:endParaRPr lang="sr-Latn-R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E4646A2-285A-441E-AF60-BD29DE98CE11}"/>
                  </a:ext>
                </a:extLst>
              </p:cNvPr>
              <p:cNvSpPr txBox="1"/>
              <p:nvPr/>
            </p:nvSpPr>
            <p:spPr>
              <a:xfrm>
                <a:off x="4815281" y="2730616"/>
                <a:ext cx="1782860" cy="73513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r-Latn-R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sr-Latn-R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sr-Latn-RS" sz="28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sr-Latn-R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sr-Latn-RS" sz="28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m:rPr>
                              <m:nor/>
                            </m:rPr>
                            <a:rPr lang="sr-Latn-RS" sz="28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2800"/>
                            <m:t>⋅</m:t>
                          </m:r>
                          <m:r>
                            <m:rPr>
                              <m:nor/>
                            </m:rPr>
                            <a:rPr lang="sr-Latn-RS" sz="2800" b="0" i="0" smtClean="0"/>
                            <m:t> </m:t>
                          </m:r>
                          <m:r>
                            <a:rPr lang="sr-Latn-R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m:rPr>
                              <m:nor/>
                            </m:rPr>
                            <a:rPr lang="sr-Latn-RS" sz="2800" b="0" i="0" smtClean="0"/>
                            <m:t> </m:t>
                          </m:r>
                        </m:num>
                        <m:den>
                          <m:r>
                            <a:rPr lang="sr-Latn-RS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E4646A2-285A-441E-AF60-BD29DE98CE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5281" y="2730616"/>
                <a:ext cx="1782860" cy="73513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48CA3EF6-FE85-4F69-8802-0215B7F0DCD8}"/>
              </a:ext>
            </a:extLst>
          </p:cNvPr>
          <p:cNvSpPr txBox="1"/>
          <p:nvPr/>
        </p:nvSpPr>
        <p:spPr>
          <a:xfrm>
            <a:off x="7877203" y="3465754"/>
            <a:ext cx="410690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2800" dirty="0"/>
              <a:t>B</a:t>
            </a:r>
          </a:p>
          <a:p>
            <a:r>
              <a:rPr lang="sr-Latn-RS" sz="2800" dirty="0"/>
              <a:t>A</a:t>
            </a:r>
          </a:p>
          <a:p>
            <a:r>
              <a:rPr lang="sr-Latn-RS" sz="2800" i="1" dirty="0">
                <a:solidFill>
                  <a:srgbClr val="FF0000"/>
                </a:solidFill>
              </a:rPr>
              <a:t>S</a:t>
            </a:r>
          </a:p>
          <a:p>
            <a:r>
              <a:rPr lang="sr-Latn-RS" sz="2800" dirty="0"/>
              <a:t>G</a:t>
            </a:r>
          </a:p>
          <a:p>
            <a:endParaRPr lang="sr-Latn-RS" sz="3200" dirty="0"/>
          </a:p>
          <a:p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1CEE540-EB1C-45DA-8EE7-9CA0863CD2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8690" y="5167819"/>
            <a:ext cx="598551" cy="59855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4A5C71C-5D05-46F5-A39E-0E7448E1A2C0}"/>
              </a:ext>
            </a:extLst>
          </p:cNvPr>
          <p:cNvSpPr txBox="1"/>
          <p:nvPr/>
        </p:nvSpPr>
        <p:spPr>
          <a:xfrm rot="5400000">
            <a:off x="7895446" y="3092837"/>
            <a:ext cx="5603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sz="2800" dirty="0"/>
              <a:t>...</a:t>
            </a:r>
            <a:endParaRPr lang="en-US" sz="2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BC735F-F9EF-4CC5-9B02-78FE10CF3B35}"/>
              </a:ext>
            </a:extLst>
          </p:cNvPr>
          <p:cNvSpPr txBox="1"/>
          <p:nvPr/>
        </p:nvSpPr>
        <p:spPr>
          <a:xfrm rot="5400000">
            <a:off x="7915580" y="5789467"/>
            <a:ext cx="5603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sz="2800" dirty="0"/>
              <a:t>...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D4C2876-022C-4178-8AB9-38974169F9DD}"/>
              </a:ext>
            </a:extLst>
          </p:cNvPr>
          <p:cNvSpPr txBox="1"/>
          <p:nvPr/>
        </p:nvSpPr>
        <p:spPr>
          <a:xfrm>
            <a:off x="9050497" y="3465754"/>
            <a:ext cx="410690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2800" dirty="0"/>
              <a:t>B</a:t>
            </a:r>
          </a:p>
          <a:p>
            <a:r>
              <a:rPr lang="sr-Latn-RS" sz="2800" dirty="0"/>
              <a:t>A</a:t>
            </a:r>
          </a:p>
          <a:p>
            <a:r>
              <a:rPr lang="sr-Latn-RS" sz="2800" i="1" dirty="0">
                <a:solidFill>
                  <a:srgbClr val="FF0000"/>
                </a:solidFill>
              </a:rPr>
              <a:t>S</a:t>
            </a:r>
          </a:p>
          <a:p>
            <a:r>
              <a:rPr lang="sr-Latn-RS" sz="2800" dirty="0"/>
              <a:t>G</a:t>
            </a:r>
          </a:p>
          <a:p>
            <a:endParaRPr lang="sr-Latn-RS" sz="3200" dirty="0"/>
          </a:p>
          <a:p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BEEBB51-EDDC-44CC-808E-74D9BA0901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6100" y="5172341"/>
            <a:ext cx="598551" cy="59855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7531B65-5914-4445-8733-60C220189069}"/>
              </a:ext>
            </a:extLst>
          </p:cNvPr>
          <p:cNvSpPr txBox="1"/>
          <p:nvPr/>
        </p:nvSpPr>
        <p:spPr>
          <a:xfrm rot="5400000">
            <a:off x="9068740" y="3092837"/>
            <a:ext cx="5603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sz="2800" dirty="0"/>
              <a:t>...</a:t>
            </a:r>
            <a:endParaRPr lang="en-US" sz="28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A9DF46-B732-4AD3-B424-0B1D5CB04A13}"/>
              </a:ext>
            </a:extLst>
          </p:cNvPr>
          <p:cNvSpPr txBox="1"/>
          <p:nvPr/>
        </p:nvSpPr>
        <p:spPr>
          <a:xfrm rot="5400000">
            <a:off x="9088874" y="5789467"/>
            <a:ext cx="5603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sz="2800" dirty="0"/>
              <a:t>...</a:t>
            </a:r>
            <a:endParaRPr lang="en-US" sz="28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393AD6D-D11C-41E1-9ECB-E5F3E685169B}"/>
              </a:ext>
            </a:extLst>
          </p:cNvPr>
          <p:cNvSpPr txBox="1"/>
          <p:nvPr/>
        </p:nvSpPr>
        <p:spPr>
          <a:xfrm>
            <a:off x="10226380" y="3465754"/>
            <a:ext cx="410690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2800" dirty="0"/>
              <a:t>B</a:t>
            </a:r>
          </a:p>
          <a:p>
            <a:r>
              <a:rPr lang="sr-Latn-RS" sz="2800" dirty="0"/>
              <a:t>A</a:t>
            </a:r>
          </a:p>
          <a:p>
            <a:r>
              <a:rPr lang="sr-Latn-RS" sz="2800" i="1" dirty="0">
                <a:solidFill>
                  <a:srgbClr val="FF0000"/>
                </a:solidFill>
              </a:rPr>
              <a:t>S</a:t>
            </a:r>
          </a:p>
          <a:p>
            <a:r>
              <a:rPr lang="sr-Latn-RS" sz="2800" dirty="0"/>
              <a:t>G</a:t>
            </a:r>
          </a:p>
          <a:p>
            <a:endParaRPr lang="sr-Latn-RS" sz="3200" dirty="0"/>
          </a:p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8B179DA2-F35F-47CF-9A44-EB30209410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2449" y="5194980"/>
            <a:ext cx="598551" cy="598551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71869B9-B1AC-4D48-8EDC-89F4B39D1B9E}"/>
              </a:ext>
            </a:extLst>
          </p:cNvPr>
          <p:cNvSpPr txBox="1"/>
          <p:nvPr/>
        </p:nvSpPr>
        <p:spPr>
          <a:xfrm rot="5400000">
            <a:off x="10244623" y="3092837"/>
            <a:ext cx="5603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sz="2800" dirty="0"/>
              <a:t>...</a:t>
            </a:r>
            <a:endParaRPr lang="en-US" sz="2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41141FD-759C-45E8-BF4A-8BE3947B90ED}"/>
              </a:ext>
            </a:extLst>
          </p:cNvPr>
          <p:cNvSpPr txBox="1"/>
          <p:nvPr/>
        </p:nvSpPr>
        <p:spPr>
          <a:xfrm rot="5400000">
            <a:off x="10264757" y="5789467"/>
            <a:ext cx="5603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sz="2800" dirty="0"/>
              <a:t>...</a:t>
            </a:r>
            <a:endParaRPr lang="en-US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E9F8FD0-3416-4AA0-9CC0-D7E40A05E8A9}"/>
              </a:ext>
            </a:extLst>
          </p:cNvPr>
          <p:cNvSpPr/>
          <p:nvPr/>
        </p:nvSpPr>
        <p:spPr>
          <a:xfrm>
            <a:off x="7881973" y="3598496"/>
            <a:ext cx="371283" cy="120713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2A3F446-9BA1-4190-AD27-CADD5A5D3A41}"/>
              </a:ext>
            </a:extLst>
          </p:cNvPr>
          <p:cNvSpPr/>
          <p:nvPr/>
        </p:nvSpPr>
        <p:spPr>
          <a:xfrm>
            <a:off x="9066488" y="4018874"/>
            <a:ext cx="371283" cy="120713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056A81F-22AC-41A2-8CD4-DDC5FE4764EC}"/>
              </a:ext>
            </a:extLst>
          </p:cNvPr>
          <p:cNvSpPr/>
          <p:nvPr/>
        </p:nvSpPr>
        <p:spPr>
          <a:xfrm>
            <a:off x="10242858" y="4381192"/>
            <a:ext cx="371283" cy="1352858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13843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146F3-4E67-4BB5-BCFF-BBB042122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ГЕНЕРИСАЊЕ ЦИКЛИЧНЕ-ТОКЕН СЕКВЕНЦЕ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BA991B-8B48-4C76-84AA-E4E5705356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Када имамо све бројеве појављивања сваког токена за одређено </a:t>
            </a:r>
            <a:r>
              <a:rPr lang="sr-Latn-RS" sz="2400" i="1" dirty="0"/>
              <a:t>L</a:t>
            </a:r>
            <a:r>
              <a:rPr lang="sr-Latn-RS" sz="2400" dirty="0"/>
              <a:t> </a:t>
            </a:r>
            <a:r>
              <a:rPr lang="sr-Cyrl-RS" sz="2400" dirty="0"/>
              <a:t>можемо да матрицу попунимо са </a:t>
            </a:r>
            <a:r>
              <a:rPr lang="sr-Cyrl-RS" sz="2400" dirty="0" err="1"/>
              <a:t>токенима</a:t>
            </a:r>
            <a:r>
              <a:rPr lang="sr-Cyrl-RS" sz="2400" dirty="0"/>
              <a:t> скроз </a:t>
            </a:r>
            <a:r>
              <a:rPr lang="sr-Latn-RS" sz="2400" dirty="0"/>
              <a:t>„random“</a:t>
            </a:r>
            <a:r>
              <a:rPr lang="sr-Cyrl-RS" sz="24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sr-Cyrl-RS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Позиције токена у цикличним токен секвенцама не утичу на њихову вероватноћу појављивања па тако ни на улазно-излазни однос.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42715517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9575D-F43E-4C04-A585-618B35452E54}"/>
              </a:ext>
            </a:extLst>
          </p:cNvPr>
          <p:cNvSpPr txBox="1">
            <a:spLocks/>
          </p:cNvSpPr>
          <p:nvPr/>
        </p:nvSpPr>
        <p:spPr>
          <a:xfrm>
            <a:off x="1066800" y="1645920"/>
            <a:ext cx="10058400" cy="356616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sr-Cyrl-RS" sz="6600" dirty="0"/>
              <a:t>РЕКОНСТРУКЦИЈА ЦИКЛИЧНЕ ТОКЕН-СЕКВЕНЦЕ ПОМОЋУ ДЕ БРУЈНОВИХ ГРАФОВА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135886839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EB0CEF-1774-473A-9D5A-D5EA7B4899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ДЕФИНИЦИЈА МОДЕЛА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09420E-5025-472C-A2CB-126B3B7EB0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549222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9CC26709-368C-4D72-9060-94E5B3FF3CD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537</TotalTime>
  <Words>1328</Words>
  <Application>Microsoft Office PowerPoint</Application>
  <PresentationFormat>Widescreen</PresentationFormat>
  <Paragraphs>262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Arial</vt:lpstr>
      <vt:lpstr>Calibri</vt:lpstr>
      <vt:lpstr>Calibri Light</vt:lpstr>
      <vt:lpstr>Cambria Math</vt:lpstr>
      <vt:lpstr>Times New Roman</vt:lpstr>
      <vt:lpstr>Retrospect</vt:lpstr>
      <vt:lpstr>МАТЕМАТИЧКО МОДЕЛОВАЊЕ СИСТЕМА ЗА ПСЕУДО-СЛУЧАНО ГЕНЕРИСАЊЕ ТОКЕНА И ЕВАЛУАЦИЈУ КОМБИНАЦИЈА НАД ДИСКРЕТНИМ МАТРИЦАМА</vt:lpstr>
      <vt:lpstr>ГЛАВНЕ КОМПОНЕНТЕ СИСТЕМА</vt:lpstr>
      <vt:lpstr>АЗБУКА ТОКЕНА</vt:lpstr>
      <vt:lpstr>ЦИКЛИЧНА ТОКЕН СЕКВЕНЦА</vt:lpstr>
      <vt:lpstr>ГЕНЕРАТИВНА МАТРИЦА</vt:lpstr>
      <vt:lpstr>ПСЕУДО-СЛУЧАЈНИ ГЕНЕРАТОР</vt:lpstr>
      <vt:lpstr>ИТЕРАЦИЈА СИСТЕМА - Генерисање</vt:lpstr>
      <vt:lpstr>ИТЕРАЦИЈА СИСТЕМА – Видљиви прозор</vt:lpstr>
      <vt:lpstr>ИТЕРАЦИЈА СИСТЕМА – Видљиви прозор</vt:lpstr>
      <vt:lpstr>ИТЕРАЦИЈА СИСТЕМА - Евалуација</vt:lpstr>
      <vt:lpstr>ЕВАЛУАЦИОНА ПУТАЊА</vt:lpstr>
      <vt:lpstr>ЕВАЛУАЦИОНА ПУТАЊА</vt:lpstr>
      <vt:lpstr>УНИВЕРЗАЛНИ ЗАМЕНСКИ ТОКЕН</vt:lpstr>
      <vt:lpstr>ПОЗИЦИОНО ИНВАРИЈАНТНИ ТОКЕН</vt:lpstr>
      <vt:lpstr>ЕВАЛУАЦИОНА ФУНКЦИЈА И ТАБЕЛА ИЗЛАЗНИХ ВРЕДНОСТИ ТОКЕНА</vt:lpstr>
      <vt:lpstr>ЕВАЛУАЦИОНА ФУНКЦИЈА И ТАБЕЛА ИЗЛАЗНИХ ВРЕДНОСТИ ТОКЕНА</vt:lpstr>
      <vt:lpstr>УЛАЗНА ВРЕДНОСТ ИТЕРАЦИЈЕ</vt:lpstr>
      <vt:lpstr>УЛАЗНО-ИЗЛАЗНИ ОДНОС СИСТЕМА</vt:lpstr>
      <vt:lpstr>PowerPoint Presentation</vt:lpstr>
      <vt:lpstr>ВЕРОВАТНОЋА ПОЈАВЉИВАЊА СТАНДАРДНИХ ТОКЕНА</vt:lpstr>
      <vt:lpstr>ОЧЕКИВАНА ИЗЛАЗНА ВРЕДНОСТ СИСТЕМА ЗА СТАНДАРДНЕ ТОКЕНЕ</vt:lpstr>
      <vt:lpstr>ФАЗЕ КОНСТРУКЦИЈЕ ГЕНЕРАТИВНЕ МАТРИЦЕ</vt:lpstr>
      <vt:lpstr>ОПТИМИЗАЦИЈА</vt:lpstr>
      <vt:lpstr>ПРОБЛЕМ ЛОКАЛНОГ МИНИМУМА</vt:lpstr>
      <vt:lpstr>КВАДРАТ ОДСТУПАЊА</vt:lpstr>
      <vt:lpstr>ДИСКРЕТИЗАЦИЈА</vt:lpstr>
      <vt:lpstr>ДИСКРЕТИЗАЦИЈА</vt:lpstr>
      <vt:lpstr>ДИСКРЕТИЗАЦИЈА – ПРИМЕР ЗА L = 10</vt:lpstr>
      <vt:lpstr>УНИВЕРЗАЛНИ ЗАМЕНСКИ ТОКЕН</vt:lpstr>
      <vt:lpstr>ПОЗИЦИОНО-ИНВАРИЈАНТНИ ТОКЕН</vt:lpstr>
      <vt:lpstr>ГЕНЕРИСАЊЕ ЦИКЛИЧНЕ-ТОКЕН СЕКВЕНЦЕ</vt:lpstr>
      <vt:lpstr>PowerPoint Presentation</vt:lpstr>
      <vt:lpstr>ДЕФИНИЦИЈА МОДЕЛА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МАТЕМАТИЧКО МОДЕЛОВАЊЕ СИСТЕМА ЗА ПСЕУДО-СЛУЧАНО ГЕНЕРИСАЊЕ ТОКЕНА И ЕВАЛУАЦИЈУ КОМБИНАЦИЈА НАД ДИСКРЕТНИМ МАТРИЦАМА</dc:title>
  <dc:creator>Jovan Bogdanovic</dc:creator>
  <cp:lastModifiedBy>Jovan Bogdanovic</cp:lastModifiedBy>
  <cp:revision>37</cp:revision>
  <dcterms:created xsi:type="dcterms:W3CDTF">2026-07-19T16:07:18Z</dcterms:created>
  <dcterms:modified xsi:type="dcterms:W3CDTF">2026-07-21T21:27:27Z</dcterms:modified>
</cp:coreProperties>
</file>