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CEF3B-A037-46D0-B02C-1428F07E9383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482DC-2269-4F26-9D2A-7E44B1A4CD8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pPr/>
              <a:t>20. 07. 2026.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20. 07. 2026.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20. 07. 2026.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20. 07. 2026.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EA74-CBFF-4BAD-8267-A2585698F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sr-Cyrl-RS" sz="4400" b="1" dirty="0"/>
              <a:t>МАТЕМАТИЧКО МОДЕЛОВАЊЕ СИСТЕМА ЗА ПСЕУДО-СЛУЧАНО ГЕНЕРИСАЊЕ ТОКЕНА И ЕВАЛУАЦИЈУ КОМБИНАЦИЈА НАД ДИСКРЕТНИМ МАТРИЦАМА</a:t>
            </a:r>
            <a:endParaRPr lang="en-US" sz="44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87EA58-613B-4ED7-934D-4906E4EC24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sr-Cyrl-RS" dirty="0"/>
          </a:p>
          <a:p>
            <a:pPr algn="ctr"/>
            <a:r>
              <a:rPr lang="sr-Cyrl-RS" dirty="0"/>
              <a:t>ЗАВРШНИ РАД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3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DD03B-DD54-48DC-A826-4744AF3E9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ГЛАВНЕ КОМПОНЕНТЕ СИСТЕМА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0FE48-7D65-4142-953B-258044293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84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A258D-A1DF-4E7B-9FAC-2091B42D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35560"/>
            <a:ext cx="10058400" cy="1450757"/>
          </a:xfrm>
        </p:spPr>
        <p:txBody>
          <a:bodyPr/>
          <a:lstStyle/>
          <a:p>
            <a:r>
              <a:rPr lang="sr-Cyrl-RS" dirty="0"/>
              <a:t>ГЛАВНЕ КОМПОНЕНТЕ СИСТЕМА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21254-BD8E-4FEE-8DE8-E6F5E2772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sr-Cyrl-RS" sz="2800" dirty="0"/>
              <a:t>ГЕНЕРАТИВНА</a:t>
            </a:r>
            <a:endParaRPr lang="en-US" sz="28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6DE97-7E16-44A3-A657-42C848E3B2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Унапред припремљена структура података из које се псеудо-случајним генератором генеришу подаци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A2C4A-1320-4503-B1E9-F84537F9E4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sr-Cyrl-RS" sz="3200" dirty="0"/>
              <a:t>ЕВАЛУАЦИОНА</a:t>
            </a:r>
            <a:endParaRPr lang="en-US" sz="32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1732F3-84E0-4444-A797-1DA10A0F926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Анализатор матрица који израчунава одређени нумерички резултат на основу дефинисаних правила</a:t>
            </a:r>
            <a:r>
              <a:rPr lang="sr-Latn-RS" sz="2400" dirty="0"/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80109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384A-4C85-4E55-BF7F-25A8D5D0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АЗБУКА ТОКЕНА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DD1CFB-3365-41FF-8EAD-287337F9E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sr-Cyrl-RS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Токен је основна недељива јединица система</a:t>
            </a:r>
            <a:r>
              <a:rPr lang="sr-Latn-RS" sz="2400" dirty="0"/>
              <a:t>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Азбука </a:t>
            </a:r>
            <a:r>
              <a:rPr lang="sr-Cyrl-RS" sz="2400" dirty="0" err="1"/>
              <a:t>токена</a:t>
            </a:r>
            <a:r>
              <a:rPr lang="sr-Cyrl-RS" sz="2400" dirty="0"/>
              <a:t> је коначни скуп различитих елемената из којих се граде секвенце у систему</a:t>
            </a:r>
            <a:r>
              <a:rPr lang="sr-Latn-RS" sz="2400" dirty="0"/>
              <a:t>.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102082-635D-4C69-9D7B-C77942EA72BA}"/>
              </a:ext>
            </a:extLst>
          </p:cNvPr>
          <p:cNvSpPr txBox="1"/>
          <p:nvPr/>
        </p:nvSpPr>
        <p:spPr>
          <a:xfrm>
            <a:off x="1227022" y="3902749"/>
            <a:ext cx="15435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A</a:t>
            </a:r>
            <a:endParaRPr lang="en-US" sz="6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0E448-1B0F-4BCA-8B2F-E0E23F2EB9E9}"/>
              </a:ext>
            </a:extLst>
          </p:cNvPr>
          <p:cNvSpPr txBox="1"/>
          <p:nvPr/>
        </p:nvSpPr>
        <p:spPr>
          <a:xfrm>
            <a:off x="2827090" y="5004453"/>
            <a:ext cx="4571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6600" dirty="0"/>
              <a:t>W</a:t>
            </a:r>
            <a:endParaRPr lang="en-US" sz="6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6848DD-9C77-4AEE-8512-A1ECBECBE087}"/>
              </a:ext>
            </a:extLst>
          </p:cNvPr>
          <p:cNvSpPr txBox="1"/>
          <p:nvPr/>
        </p:nvSpPr>
        <p:spPr>
          <a:xfrm>
            <a:off x="5819344" y="3739488"/>
            <a:ext cx="6142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5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917588D-14B5-48B0-B3B0-28315D74B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290" y="3739488"/>
            <a:ext cx="1434517" cy="14345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4E507E-45EF-45D0-9840-75ABB4F87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273" y="4882774"/>
            <a:ext cx="1198078" cy="11079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ECDD05-9B24-420B-9E21-B7537E3FE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086" y="3739488"/>
            <a:ext cx="1044839" cy="117988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7F81A9F-D9E5-470B-BC32-8529199525D9}"/>
              </a:ext>
            </a:extLst>
          </p:cNvPr>
          <p:cNvSpPr txBox="1"/>
          <p:nvPr/>
        </p:nvSpPr>
        <p:spPr>
          <a:xfrm>
            <a:off x="10016455" y="4882775"/>
            <a:ext cx="64472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382223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C789-7178-451D-8BA0-A09070BA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ЦИКЛИЧНА ТОКЕН СЕКВЕНЦА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71583-DA61-489F-B971-D1AF544BD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Низ </a:t>
            </a:r>
            <a:r>
              <a:rPr lang="sr-Cyrl-RS" sz="2400" dirty="0" err="1"/>
              <a:t>токена</a:t>
            </a:r>
            <a:r>
              <a:rPr lang="sr-Cyrl-RS" sz="2400" dirty="0"/>
              <a:t> фиксне дужине који се понашају као кружна структура.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5230D9-70C0-46B3-A4CD-6E7EA590B9EF}"/>
              </a:ext>
            </a:extLst>
          </p:cNvPr>
          <p:cNvSpPr txBox="1"/>
          <p:nvPr/>
        </p:nvSpPr>
        <p:spPr>
          <a:xfrm>
            <a:off x="2028458" y="3472693"/>
            <a:ext cx="881850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... A A B G      H E E R R           Z T J 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6B8CC3-4A95-4866-B6FD-C5835D19E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578" y="3472693"/>
            <a:ext cx="772095" cy="772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56942F-6C63-47D6-B73A-D19F7B6A5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286" y="3572188"/>
            <a:ext cx="593853" cy="6706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5025FF-EAAD-438E-A26D-AFF7463C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898" y="3572852"/>
            <a:ext cx="593852" cy="67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372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5E02-A7BA-4E15-BC18-836B96E53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ГЕНЕРАТИВНА МАТРИЦА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1DB9A-1597-441C-BC28-489B8F585B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Састоји се од </a:t>
            </a:r>
            <a:r>
              <a:rPr lang="sr-Latn-RS" sz="2400" i="1" dirty="0"/>
              <a:t>n</a:t>
            </a:r>
            <a:r>
              <a:rPr lang="sr-Cyrl-RS" sz="2400" i="1" dirty="0"/>
              <a:t> </a:t>
            </a:r>
            <a:r>
              <a:rPr lang="sr-Cyrl-RS" sz="2400" dirty="0"/>
              <a:t>цикличних токен секвенци.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Пример за </a:t>
            </a:r>
            <a:r>
              <a:rPr lang="sr-Latn-RS" sz="2400" i="1" dirty="0"/>
              <a:t>n</a:t>
            </a:r>
            <a:r>
              <a:rPr lang="sr-Latn-RS" sz="2400" dirty="0"/>
              <a:t> = 3: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965C1E-A0D8-4248-8C35-D3CA795FB820}"/>
              </a:ext>
            </a:extLst>
          </p:cNvPr>
          <p:cNvSpPr txBox="1"/>
          <p:nvPr/>
        </p:nvSpPr>
        <p:spPr>
          <a:xfrm>
            <a:off x="2156390" y="3230824"/>
            <a:ext cx="899929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r-Latn-RS" sz="4000" dirty="0"/>
              <a:t>... A A B G      H E E R R           Z T J ...</a:t>
            </a:r>
          </a:p>
          <a:p>
            <a:r>
              <a:rPr lang="sr-Latn-RS" sz="4000" dirty="0"/>
              <a:t>... B B H H H H U J K       O O P W ...</a:t>
            </a:r>
          </a:p>
          <a:p>
            <a:r>
              <a:rPr lang="sr-Latn-RS" sz="4000" dirty="0"/>
              <a:t>...                    J K K K W W P A        ...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F9D44D-A0ED-4861-AEF1-313798E06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170" y="3230824"/>
            <a:ext cx="772095" cy="772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31F564-FE65-4805-B804-C268E8233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199" y="3268055"/>
            <a:ext cx="593852" cy="6706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1E0CF31-92FD-4876-B16F-2BBC0253D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051" y="3281566"/>
            <a:ext cx="593852" cy="6706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2199D9-5F67-46F3-84CC-EEA30F1D6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94" y="3938653"/>
            <a:ext cx="565882" cy="523334"/>
          </a:xfrm>
          <a:prstGeom prst="rect">
            <a:avLst/>
          </a:prstGeom>
        </p:spPr>
      </p:pic>
      <p:pic>
        <p:nvPicPr>
          <p:cNvPr id="102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35C217B4-776C-46DC-8F52-BF2536768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325" y="4497182"/>
            <a:ext cx="686144" cy="68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lemon - download free icon Classic Slot Machine Icons on Artage.io">
            <a:extLst>
              <a:ext uri="{FF2B5EF4-FFF2-40B4-BE49-F238E27FC236}">
                <a16:creationId xmlns:a16="http://schemas.microsoft.com/office/drawing/2014/main" id="{3A2569B6-A85F-4E66-BAD9-3F69F9A43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733" y="4497182"/>
            <a:ext cx="686145" cy="686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lemon - download free icon Classic Slot Machine Icons on Artage.io">
            <a:extLst>
              <a:ext uri="{FF2B5EF4-FFF2-40B4-BE49-F238E27FC236}">
                <a16:creationId xmlns:a16="http://schemas.microsoft.com/office/drawing/2014/main" id="{B8DEB674-9FE0-4F59-B2E7-BCBC77BD6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698" y="4470809"/>
            <a:ext cx="705762" cy="70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411F53F-DD9E-4BF4-AB10-4395829206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9402" y="4461987"/>
            <a:ext cx="593853" cy="65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915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6BC9-3DD9-4B7C-A223-FAC94D955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ПСЕУДО-СЛУЧАЈНИ ГЕНЕРАТОР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3E89-6CA4-4F6D-963A-9ECD8394D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 рачунарству не постоји прави „</a:t>
            </a:r>
            <a:r>
              <a:rPr lang="sr-Latn-RS" sz="2400" dirty="0"/>
              <a:t>random“.</a:t>
            </a:r>
            <a:endParaRPr lang="sr-Cyrl-RS" sz="2400" dirty="0"/>
          </a:p>
          <a:p>
            <a:pPr>
              <a:buFont typeface="Arial" panose="020B0604020202020204" pitchFamily="34" charset="0"/>
              <a:buChar char="•"/>
            </a:pPr>
            <a:endParaRPr lang="sr-Latn-R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Подразумевамо у ради савршени псеудо-случајни алгоритам.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00816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3BEEA-4EFB-44AE-A96C-99CE0F3BA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Генерисање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0E017-D711-4ABB-BCB1-FC797E6B9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1350024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За сваку цикличну токен-секвенцу из генеративне матрице се генерише почетни индекс и читају се </a:t>
            </a:r>
            <a:r>
              <a:rPr lang="sr-Latn-RS" i="1" dirty="0"/>
              <a:t>m</a:t>
            </a:r>
            <a:r>
              <a:rPr lang="sr-Latn-RS" dirty="0"/>
              <a:t> </a:t>
            </a:r>
            <a:r>
              <a:rPr lang="sr-Cyrl-RS" dirty="0"/>
              <a:t>узастопних </a:t>
            </a:r>
            <a:r>
              <a:rPr lang="sr-Cyrl-RS" dirty="0" err="1"/>
              <a:t>токена</a:t>
            </a:r>
            <a:r>
              <a:rPr lang="sr-Cyrl-R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r-Cyrl-RS" dirty="0"/>
              <a:t>Пример за </a:t>
            </a:r>
            <a:r>
              <a:rPr lang="sr-Latn-RS" i="1" dirty="0"/>
              <a:t>m </a:t>
            </a:r>
            <a:r>
              <a:rPr lang="sr-Latn-RS" dirty="0"/>
              <a:t>= 3 </a:t>
            </a:r>
            <a:r>
              <a:rPr lang="sr-Cyrl-RS" dirty="0"/>
              <a:t>и дужину сваке цикличне токен-секвенце </a:t>
            </a:r>
            <a:r>
              <a:rPr lang="sr-Latn-RS" i="1" dirty="0"/>
              <a:t>L</a:t>
            </a:r>
            <a:r>
              <a:rPr lang="sr-Latn-RS" dirty="0"/>
              <a:t> = 7</a:t>
            </a:r>
            <a:r>
              <a:rPr lang="sr-Cyrl-RS" dirty="0"/>
              <a:t> и да је ПСГ генерисао почетне индексе 2, 4, 5</a:t>
            </a:r>
            <a:r>
              <a:rPr lang="sr-Latn-RS" dirty="0"/>
              <a:t>: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24CF2D-6241-4525-9765-182F5051AD08}"/>
              </a:ext>
            </a:extLst>
          </p:cNvPr>
          <p:cNvSpPr txBox="1"/>
          <p:nvPr/>
        </p:nvSpPr>
        <p:spPr>
          <a:xfrm>
            <a:off x="3370441" y="3065135"/>
            <a:ext cx="41069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A</a:t>
            </a:r>
          </a:p>
          <a:p>
            <a:r>
              <a:rPr lang="sr-Latn-RS" sz="2800" dirty="0"/>
              <a:t>A</a:t>
            </a:r>
          </a:p>
          <a:p>
            <a:r>
              <a:rPr lang="sr-Latn-RS" sz="2800" dirty="0"/>
              <a:t>B</a:t>
            </a:r>
            <a:br>
              <a:rPr lang="sr-Latn-RS" sz="2800" dirty="0"/>
            </a:br>
            <a:r>
              <a:rPr lang="sr-Latn-RS" sz="2800" dirty="0"/>
              <a:t>G</a:t>
            </a:r>
          </a:p>
          <a:p>
            <a:endParaRPr lang="sr-Latn-RS" sz="2800" dirty="0"/>
          </a:p>
          <a:p>
            <a:r>
              <a:rPr lang="sr-Latn-RS" sz="2800" dirty="0"/>
              <a:t>H</a:t>
            </a:r>
          </a:p>
          <a:p>
            <a:r>
              <a:rPr lang="sr-Latn-RS" sz="2800" dirty="0"/>
              <a:t>E</a:t>
            </a:r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3C0754-9948-4215-BDAB-117073B3D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092" y="4773047"/>
            <a:ext cx="513388" cy="51338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7F0487-ECA2-4C60-93B2-EACEC829C03F}"/>
              </a:ext>
            </a:extLst>
          </p:cNvPr>
          <p:cNvSpPr txBox="1"/>
          <p:nvPr/>
        </p:nvSpPr>
        <p:spPr>
          <a:xfrm>
            <a:off x="5368954" y="3059471"/>
            <a:ext cx="41549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2800" dirty="0"/>
              <a:t>B</a:t>
            </a:r>
          </a:p>
          <a:p>
            <a:r>
              <a:rPr lang="sr-Latn-RS" sz="2800" dirty="0"/>
              <a:t>B</a:t>
            </a:r>
          </a:p>
          <a:p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H</a:t>
            </a:r>
            <a:br>
              <a:rPr lang="sr-Latn-RS" sz="2800" dirty="0"/>
            </a:br>
            <a:r>
              <a:rPr lang="sr-Latn-RS" sz="2800" dirty="0"/>
              <a:t>U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15ABA-0CDD-4728-96E9-7C82E2593526}"/>
              </a:ext>
            </a:extLst>
          </p:cNvPr>
          <p:cNvSpPr txBox="1"/>
          <p:nvPr/>
        </p:nvSpPr>
        <p:spPr>
          <a:xfrm>
            <a:off x="7320926" y="4083001"/>
            <a:ext cx="397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3200" dirty="0"/>
              <a:t>J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  <a:p>
            <a:r>
              <a:rPr lang="sr-Latn-RS" sz="3200" dirty="0"/>
              <a:t>K</a:t>
            </a:r>
          </a:p>
        </p:txBody>
      </p:sp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1036CB7-9293-4051-B74C-D29A5E217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137131"/>
            <a:ext cx="313056" cy="313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A046F437-25E0-4E42-BD28-6E8137542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275" y="3489065"/>
            <a:ext cx="313057" cy="313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583DA0DB-7EF3-4C97-A03F-01A95BF96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3330" y="3845099"/>
            <a:ext cx="313058" cy="313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E4136CC-BE9F-4541-871E-A283A8FC5995}"/>
              </a:ext>
            </a:extLst>
          </p:cNvPr>
          <p:cNvSpPr/>
          <p:nvPr/>
        </p:nvSpPr>
        <p:spPr>
          <a:xfrm>
            <a:off x="3370441" y="3993160"/>
            <a:ext cx="419635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0EBBC7-6CA2-4125-BDE7-7038D44BD9FB}"/>
              </a:ext>
            </a:extLst>
          </p:cNvPr>
          <p:cNvSpPr/>
          <p:nvPr/>
        </p:nvSpPr>
        <p:spPr>
          <a:xfrm>
            <a:off x="5368954" y="4792197"/>
            <a:ext cx="419635" cy="129327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EAAFA6-6FE3-4613-B2EB-71880BBE1BBF}"/>
              </a:ext>
            </a:extLst>
          </p:cNvPr>
          <p:cNvSpPr/>
          <p:nvPr/>
        </p:nvSpPr>
        <p:spPr>
          <a:xfrm>
            <a:off x="7325063" y="5155093"/>
            <a:ext cx="419635" cy="9303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D8C425-B218-45CA-832B-36A12C1C5DE7}"/>
              </a:ext>
            </a:extLst>
          </p:cNvPr>
          <p:cNvSpPr/>
          <p:nvPr/>
        </p:nvSpPr>
        <p:spPr>
          <a:xfrm>
            <a:off x="7320926" y="3034626"/>
            <a:ext cx="419635" cy="44353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E8B1C5-A848-4231-A13D-7FA5E8F3D5C9}"/>
              </a:ext>
            </a:extLst>
          </p:cNvPr>
          <p:cNvSpPr txBox="1"/>
          <p:nvPr/>
        </p:nvSpPr>
        <p:spPr>
          <a:xfrm>
            <a:off x="3933065" y="317771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25F5B6-BE5E-43C3-A0BD-DF3B2A3AED95}"/>
              </a:ext>
            </a:extLst>
          </p:cNvPr>
          <p:cNvSpPr txBox="1"/>
          <p:nvPr/>
        </p:nvSpPr>
        <p:spPr>
          <a:xfrm>
            <a:off x="3933065" y="355680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B3E443-4DFB-4A1B-B282-9361DB728FA6}"/>
              </a:ext>
            </a:extLst>
          </p:cNvPr>
          <p:cNvSpPr txBox="1"/>
          <p:nvPr/>
        </p:nvSpPr>
        <p:spPr>
          <a:xfrm>
            <a:off x="3933065" y="399316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25FE8E-39D2-4610-BEE2-BC6326D7FB4D}"/>
              </a:ext>
            </a:extLst>
          </p:cNvPr>
          <p:cNvSpPr txBox="1"/>
          <p:nvPr/>
        </p:nvSpPr>
        <p:spPr>
          <a:xfrm>
            <a:off x="3933065" y="441418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B630F2-6182-4097-9520-CDD8434D3096}"/>
              </a:ext>
            </a:extLst>
          </p:cNvPr>
          <p:cNvSpPr txBox="1"/>
          <p:nvPr/>
        </p:nvSpPr>
        <p:spPr>
          <a:xfrm>
            <a:off x="3936974" y="484731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53BA9B-D119-41A9-9BD0-DFEDFA029268}"/>
              </a:ext>
            </a:extLst>
          </p:cNvPr>
          <p:cNvSpPr txBox="1"/>
          <p:nvPr/>
        </p:nvSpPr>
        <p:spPr>
          <a:xfrm>
            <a:off x="3933065" y="531250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DE003-5230-43C9-8350-9684FBC215E2}"/>
              </a:ext>
            </a:extLst>
          </p:cNvPr>
          <p:cNvSpPr txBox="1"/>
          <p:nvPr/>
        </p:nvSpPr>
        <p:spPr>
          <a:xfrm>
            <a:off x="3933065" y="573283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3CEC0-E7AD-475C-8DBF-AD8F00FFDC92}"/>
              </a:ext>
            </a:extLst>
          </p:cNvPr>
          <p:cNvSpPr txBox="1"/>
          <p:nvPr/>
        </p:nvSpPr>
        <p:spPr>
          <a:xfrm>
            <a:off x="5967622" y="358824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B4B37D-5B2D-4C35-BBE3-147524DD77F7}"/>
              </a:ext>
            </a:extLst>
          </p:cNvPr>
          <p:cNvSpPr txBox="1"/>
          <p:nvPr/>
        </p:nvSpPr>
        <p:spPr>
          <a:xfrm>
            <a:off x="5967622" y="402309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F20636-700A-400E-93D6-64F32E34FDB3}"/>
              </a:ext>
            </a:extLst>
          </p:cNvPr>
          <p:cNvSpPr txBox="1"/>
          <p:nvPr/>
        </p:nvSpPr>
        <p:spPr>
          <a:xfrm>
            <a:off x="5967622" y="444412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C0340C-9A1C-45F1-883E-7B4889C929C5}"/>
              </a:ext>
            </a:extLst>
          </p:cNvPr>
          <p:cNvSpPr txBox="1"/>
          <p:nvPr/>
        </p:nvSpPr>
        <p:spPr>
          <a:xfrm>
            <a:off x="5971531" y="487725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A9FECF-AF40-4A63-83B2-4D8F2E6E30B8}"/>
              </a:ext>
            </a:extLst>
          </p:cNvPr>
          <p:cNvSpPr txBox="1"/>
          <p:nvPr/>
        </p:nvSpPr>
        <p:spPr>
          <a:xfrm>
            <a:off x="5967622" y="5342443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2A4713-5F60-4B8C-BAB4-906A4CDE030F}"/>
              </a:ext>
            </a:extLst>
          </p:cNvPr>
          <p:cNvSpPr txBox="1"/>
          <p:nvPr/>
        </p:nvSpPr>
        <p:spPr>
          <a:xfrm>
            <a:off x="5967622" y="5762777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1FC8B4-6870-47B0-9C6A-07594819B1F9}"/>
              </a:ext>
            </a:extLst>
          </p:cNvPr>
          <p:cNvSpPr txBox="1"/>
          <p:nvPr/>
        </p:nvSpPr>
        <p:spPr>
          <a:xfrm>
            <a:off x="7923731" y="3609530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1</a:t>
            </a:r>
            <a:endParaRPr 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4B7FBA-2CEA-4BAE-B0E5-D414D386697E}"/>
              </a:ext>
            </a:extLst>
          </p:cNvPr>
          <p:cNvSpPr txBox="1"/>
          <p:nvPr/>
        </p:nvSpPr>
        <p:spPr>
          <a:xfrm>
            <a:off x="7923731" y="4042659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2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DBF1F81-8DC2-4383-A356-8D89991366EB}"/>
              </a:ext>
            </a:extLst>
          </p:cNvPr>
          <p:cNvSpPr txBox="1"/>
          <p:nvPr/>
        </p:nvSpPr>
        <p:spPr>
          <a:xfrm>
            <a:off x="7923731" y="446368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3</a:t>
            </a:r>
            <a:endParaRPr lang="en-US" sz="14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CA4798-93F1-4423-84AF-9BB97A3AFDB3}"/>
              </a:ext>
            </a:extLst>
          </p:cNvPr>
          <p:cNvSpPr txBox="1"/>
          <p:nvPr/>
        </p:nvSpPr>
        <p:spPr>
          <a:xfrm>
            <a:off x="7927640" y="4896815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4</a:t>
            </a:r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11BEEF-C33A-4826-9D85-F1F6B10FA500}"/>
              </a:ext>
            </a:extLst>
          </p:cNvPr>
          <p:cNvSpPr txBox="1"/>
          <p:nvPr/>
        </p:nvSpPr>
        <p:spPr>
          <a:xfrm>
            <a:off x="7923731" y="5362004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5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E0348B9-B087-4368-8B50-3807CE0674CD}"/>
              </a:ext>
            </a:extLst>
          </p:cNvPr>
          <p:cNvSpPr txBox="1"/>
          <p:nvPr/>
        </p:nvSpPr>
        <p:spPr>
          <a:xfrm>
            <a:off x="7923731" y="5782338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6</a:t>
            </a:r>
            <a:endParaRPr 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B4E72E-6F63-4FC6-9DB6-2AAB919ACF77}"/>
              </a:ext>
            </a:extLst>
          </p:cNvPr>
          <p:cNvSpPr txBox="1"/>
          <p:nvPr/>
        </p:nvSpPr>
        <p:spPr>
          <a:xfrm>
            <a:off x="5967622" y="3186736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AA75D1-B0AE-4598-B3F1-AD174B7BEFDB}"/>
              </a:ext>
            </a:extLst>
          </p:cNvPr>
          <p:cNvSpPr txBox="1"/>
          <p:nvPr/>
        </p:nvSpPr>
        <p:spPr>
          <a:xfrm>
            <a:off x="7924508" y="3137131"/>
            <a:ext cx="2760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1400" dirty="0"/>
              <a:t>0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39559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1AC74-003F-45A3-835F-192D4F3D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284EEB-A1CC-4183-99A4-7A65D90412D2}"/>
              </a:ext>
            </a:extLst>
          </p:cNvPr>
          <p:cNvSpPr txBox="1"/>
          <p:nvPr/>
        </p:nvSpPr>
        <p:spPr>
          <a:xfrm>
            <a:off x="4042457" y="2290194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24CE98-60A9-490F-A7A7-AC750202F48C}"/>
              </a:ext>
            </a:extLst>
          </p:cNvPr>
          <p:cNvSpPr txBox="1"/>
          <p:nvPr/>
        </p:nvSpPr>
        <p:spPr>
          <a:xfrm>
            <a:off x="5367916" y="2300101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F3658B-DCCC-4E13-8275-806CF37681E8}"/>
              </a:ext>
            </a:extLst>
          </p:cNvPr>
          <p:cNvSpPr txBox="1"/>
          <p:nvPr/>
        </p:nvSpPr>
        <p:spPr>
          <a:xfrm>
            <a:off x="6702993" y="2300101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0BE78B-7A23-497A-BC5B-58BA058A9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868" y="4281779"/>
            <a:ext cx="1157643" cy="1157643"/>
          </a:xfrm>
          <a:prstGeom prst="rect">
            <a:avLst/>
          </a:prstGeom>
        </p:spPr>
      </p:pic>
      <p:pic>
        <p:nvPicPr>
          <p:cNvPr id="8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4436CD71-96ED-4DE1-A0CF-4E9A08181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993" y="4511633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1713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4D75F-DC89-497D-B63A-9B8F174BB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– Видљиви прозор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DF400-2B6D-4C37-89F9-75F300E5E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049673-C671-4CC7-B17D-199EB4844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57" y="1845734"/>
            <a:ext cx="7563906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08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5149-B56F-4E04-95BE-F208D4C92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ИТЕРАЦИЈА СИСТЕМА - Евалуација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83A8D4-8DBE-48EC-A2AE-ED10A572A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81" y="4089800"/>
            <a:ext cx="1157643" cy="1157643"/>
          </a:xfrm>
          <a:prstGeom prst="rect">
            <a:avLst/>
          </a:prstGeom>
        </p:spPr>
      </p:pic>
      <p:pic>
        <p:nvPicPr>
          <p:cNvPr id="5" name="Picture 4" descr="lemon - download free icon Classic Slot Machine Icons on Artage.io">
            <a:extLst>
              <a:ext uri="{FF2B5EF4-FFF2-40B4-BE49-F238E27FC236}">
                <a16:creationId xmlns:a16="http://schemas.microsoft.com/office/drawing/2014/main" id="{7A7E183C-2294-4398-8107-78D0FF8E0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4103" y="4319654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9B01B4-49C0-4992-A958-7CFD55DC8D34}"/>
              </a:ext>
            </a:extLst>
          </p:cNvPr>
          <p:cNvSpPr txBox="1"/>
          <p:nvPr/>
        </p:nvSpPr>
        <p:spPr>
          <a:xfrm>
            <a:off x="1349170" y="212635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B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A385E5-7FF7-4B75-8475-4CF8EAF7315F}"/>
              </a:ext>
            </a:extLst>
          </p:cNvPr>
          <p:cNvSpPr txBox="1"/>
          <p:nvPr/>
        </p:nvSpPr>
        <p:spPr>
          <a:xfrm>
            <a:off x="2583850" y="2126353"/>
            <a:ext cx="7280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dirty="0"/>
              <a:t>U</a:t>
            </a:r>
            <a:endParaRPr lang="en-US" sz="6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299FEF-36E3-4A8A-8D88-F72FD5009FC6}"/>
              </a:ext>
            </a:extLst>
          </p:cNvPr>
          <p:cNvSpPr txBox="1"/>
          <p:nvPr/>
        </p:nvSpPr>
        <p:spPr>
          <a:xfrm>
            <a:off x="3828148" y="2126353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dirty="0"/>
              <a:t>K</a:t>
            </a:r>
            <a:endParaRPr lang="en-US" sz="6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5F8EAB-2990-4D9B-A460-5372F5F5AE04}"/>
              </a:ext>
            </a:extLst>
          </p:cNvPr>
          <p:cNvSpPr txBox="1"/>
          <p:nvPr/>
        </p:nvSpPr>
        <p:spPr>
          <a:xfrm>
            <a:off x="5986763" y="3095849"/>
            <a:ext cx="11464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i="1" dirty="0"/>
              <a:t>f(e)</a:t>
            </a:r>
            <a:endParaRPr lang="en-US" sz="540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1C1F2-4F17-4181-8EF8-EB0C2FAD3F92}"/>
              </a:ext>
            </a:extLst>
          </p:cNvPr>
          <p:cNvSpPr txBox="1"/>
          <p:nvPr/>
        </p:nvSpPr>
        <p:spPr>
          <a:xfrm>
            <a:off x="8385425" y="2588018"/>
            <a:ext cx="24454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sz="4000" dirty="0"/>
              <a:t>излазна вредност итерације</a:t>
            </a:r>
            <a:endParaRPr lang="en-US" sz="4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5B19B73-1E74-428F-8A7A-90DA99020103}"/>
              </a:ext>
            </a:extLst>
          </p:cNvPr>
          <p:cNvCxnSpPr>
            <a:cxnSpLocks/>
          </p:cNvCxnSpPr>
          <p:nvPr/>
        </p:nvCxnSpPr>
        <p:spPr>
          <a:xfrm>
            <a:off x="4754316" y="3557514"/>
            <a:ext cx="111797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C2B0F94-6BCF-4AEE-AF81-3297F25E5E78}"/>
              </a:ext>
            </a:extLst>
          </p:cNvPr>
          <p:cNvCxnSpPr>
            <a:cxnSpLocks/>
          </p:cNvCxnSpPr>
          <p:nvPr/>
        </p:nvCxnSpPr>
        <p:spPr>
          <a:xfrm>
            <a:off x="7271673" y="3557514"/>
            <a:ext cx="111797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8833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732FA-D4BF-4606-9EAD-A9B1548B9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ПУТАЊА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0476C-EFAB-4CF8-8DFC-92571FC0A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72299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Дефинише које позиције у видљивом прозору се посматрају заједно приликом провере валидног обрасца.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62800E-1FFF-4799-9926-F4E49E1AB209}"/>
              </a:ext>
            </a:extLst>
          </p:cNvPr>
          <p:cNvSpPr txBox="1"/>
          <p:nvPr/>
        </p:nvSpPr>
        <p:spPr>
          <a:xfrm>
            <a:off x="748478" y="3113393"/>
            <a:ext cx="390088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4400" dirty="0"/>
              <a:t>[x]	 [  ]	  [  ]</a:t>
            </a:r>
          </a:p>
          <a:p>
            <a:r>
              <a:rPr lang="sr-Latn-RS" sz="4400" dirty="0"/>
              <a:t>[  ]	 [x]	  [  ]</a:t>
            </a:r>
          </a:p>
          <a:p>
            <a:r>
              <a:rPr lang="sr-Latn-RS" sz="4400" dirty="0"/>
              <a:t>[  ]	 [  ]	  [x]</a:t>
            </a:r>
            <a:endParaRPr lang="en-US" sz="4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FD4A0-B7A2-4F92-A25A-816AA7222BD3}"/>
              </a:ext>
            </a:extLst>
          </p:cNvPr>
          <p:cNvSpPr txBox="1"/>
          <p:nvPr/>
        </p:nvSpPr>
        <p:spPr>
          <a:xfrm>
            <a:off x="4946762" y="2944536"/>
            <a:ext cx="7184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5400" dirty="0"/>
              <a:t>B</a:t>
            </a:r>
          </a:p>
          <a:p>
            <a:r>
              <a:rPr lang="sr-Latn-RS" sz="5400" dirty="0"/>
              <a:t>G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ED3E0A-4CB7-41CE-ACBF-60D5498D1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5324" y="4618761"/>
            <a:ext cx="858116" cy="8581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8DAF1B-CFBF-427F-A712-43674FB89467}"/>
              </a:ext>
            </a:extLst>
          </p:cNvPr>
          <p:cNvSpPr txBox="1"/>
          <p:nvPr/>
        </p:nvSpPr>
        <p:spPr>
          <a:xfrm>
            <a:off x="5781651" y="2944536"/>
            <a:ext cx="62869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H</a:t>
            </a:r>
          </a:p>
          <a:p>
            <a:r>
              <a:rPr lang="sr-Latn-RS" sz="5400" dirty="0"/>
              <a:t>H</a:t>
            </a:r>
          </a:p>
          <a:p>
            <a:r>
              <a:rPr lang="sr-Latn-RS" sz="5400" dirty="0"/>
              <a:t>U</a:t>
            </a:r>
            <a:endParaRPr lang="en-US" sz="5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C59417-9599-49E7-B57B-C6F32ED94D53}"/>
              </a:ext>
            </a:extLst>
          </p:cNvPr>
          <p:cNvSpPr txBox="1"/>
          <p:nvPr/>
        </p:nvSpPr>
        <p:spPr>
          <a:xfrm>
            <a:off x="6626314" y="2944536"/>
            <a:ext cx="543739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K</a:t>
            </a:r>
          </a:p>
          <a:p>
            <a:r>
              <a:rPr lang="sr-Latn-RS" sz="5400" dirty="0"/>
              <a:t>K</a:t>
            </a:r>
            <a:endParaRPr lang="en-US" sz="5400" dirty="0"/>
          </a:p>
        </p:txBody>
      </p:sp>
      <p:pic>
        <p:nvPicPr>
          <p:cNvPr id="10" name="Picture 9" descr="lemon - download free icon Classic Slot Machine Icons on Artage.io">
            <a:extLst>
              <a:ext uri="{FF2B5EF4-FFF2-40B4-BE49-F238E27FC236}">
                <a16:creationId xmlns:a16="http://schemas.microsoft.com/office/drawing/2014/main" id="{44E2A907-4B6D-4D97-98DB-EEC35569F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314" y="4698862"/>
            <a:ext cx="620837" cy="62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7C168D7-E53A-43E6-9243-1F3812AB470B}"/>
              </a:ext>
            </a:extLst>
          </p:cNvPr>
          <p:cNvSpPr/>
          <p:nvPr/>
        </p:nvSpPr>
        <p:spPr>
          <a:xfrm>
            <a:off x="4944674" y="3113393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1C23E5-0DC3-472D-9DBC-AC308A968E2E}"/>
              </a:ext>
            </a:extLst>
          </p:cNvPr>
          <p:cNvSpPr/>
          <p:nvPr/>
        </p:nvSpPr>
        <p:spPr>
          <a:xfrm>
            <a:off x="5785494" y="3911613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6016AF-4C27-4A1D-9FAE-61A427DA468E}"/>
              </a:ext>
            </a:extLst>
          </p:cNvPr>
          <p:cNvSpPr/>
          <p:nvPr/>
        </p:nvSpPr>
        <p:spPr>
          <a:xfrm>
            <a:off x="6635353" y="4683696"/>
            <a:ext cx="621012" cy="6511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606BEA-2617-4CF8-94C6-659B4A080E8B}"/>
              </a:ext>
            </a:extLst>
          </p:cNvPr>
          <p:cNvCxnSpPr>
            <a:cxnSpLocks/>
          </p:cNvCxnSpPr>
          <p:nvPr/>
        </p:nvCxnSpPr>
        <p:spPr>
          <a:xfrm>
            <a:off x="3869503" y="4172726"/>
            <a:ext cx="86129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467193-7675-4084-883C-DA685EB4B715}"/>
              </a:ext>
            </a:extLst>
          </p:cNvPr>
          <p:cNvCxnSpPr>
            <a:cxnSpLocks/>
          </p:cNvCxnSpPr>
          <p:nvPr/>
        </p:nvCxnSpPr>
        <p:spPr>
          <a:xfrm>
            <a:off x="7581406" y="4184513"/>
            <a:ext cx="86630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73FCD2-0010-4998-B3EB-389EB367242A}"/>
              </a:ext>
            </a:extLst>
          </p:cNvPr>
          <p:cNvSpPr txBox="1"/>
          <p:nvPr/>
        </p:nvSpPr>
        <p:spPr>
          <a:xfrm>
            <a:off x="9102055" y="3695431"/>
            <a:ext cx="1306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dirty="0"/>
              <a:t>B H </a:t>
            </a:r>
            <a:endParaRPr lang="en-US" sz="5400" dirty="0"/>
          </a:p>
        </p:txBody>
      </p:sp>
      <p:pic>
        <p:nvPicPr>
          <p:cNvPr id="20" name="Picture 19" descr="lemon - download free icon Classic Slot Machine Icons on Artage.io">
            <a:extLst>
              <a:ext uri="{FF2B5EF4-FFF2-40B4-BE49-F238E27FC236}">
                <a16:creationId xmlns:a16="http://schemas.microsoft.com/office/drawing/2014/main" id="{D253F9A0-F975-4C0A-94E8-21ADAAA3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6589" y="3871656"/>
            <a:ext cx="620837" cy="62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F055770-0A84-499A-B67C-B6DD6688E0FB}"/>
              </a:ext>
            </a:extLst>
          </p:cNvPr>
          <p:cNvSpPr txBox="1"/>
          <p:nvPr/>
        </p:nvSpPr>
        <p:spPr>
          <a:xfrm>
            <a:off x="9297377" y="4724653"/>
            <a:ext cx="1508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Cyrl-RS" dirty="0"/>
              <a:t>евалуациона секвенца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7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B0FBB-5A4C-4BAE-B12A-5F7343E4B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ЕВАЛУАЦИОНА ПУТАЊА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13D87-2B29-451C-BEE1-D391D2D3A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892B82-5F46-455A-A7B0-78D2EE6D1A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1947168"/>
            <a:ext cx="8745170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98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CB5EE-E7D3-4CE0-8B47-573AF831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УНИВЕРЗАЛНИ ЗАМЕНСКИ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97CE9-F238-4314-AC24-13983547B3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1357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Специјални токен азбуке који при евалуацији може „глумити“ било који други токен.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359CA4-DD44-4932-B6D2-6E82DFA19A32}"/>
              </a:ext>
            </a:extLst>
          </p:cNvPr>
          <p:cNvSpPr txBox="1"/>
          <p:nvPr/>
        </p:nvSpPr>
        <p:spPr>
          <a:xfrm>
            <a:off x="1627465" y="3605169"/>
            <a:ext cx="31422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5400" dirty="0"/>
              <a:t>А </a:t>
            </a:r>
            <a:r>
              <a:rPr lang="sr-Latn-RS" sz="5400" i="1" dirty="0">
                <a:solidFill>
                  <a:srgbClr val="FF0000"/>
                </a:solidFill>
              </a:rPr>
              <a:t>W</a:t>
            </a:r>
            <a:r>
              <a:rPr lang="sr-Latn-RS" sz="5400" i="1" dirty="0"/>
              <a:t> </a:t>
            </a:r>
            <a:r>
              <a:rPr lang="sr-Latn-RS" sz="5400" dirty="0"/>
              <a:t>A B B</a:t>
            </a:r>
            <a:r>
              <a:rPr lang="sr-Latn-RS" sz="5400" i="1" dirty="0"/>
              <a:t> </a:t>
            </a:r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5CB5D-A82C-421E-A738-7AD852D044B1}"/>
              </a:ext>
            </a:extLst>
          </p:cNvPr>
          <p:cNvSpPr txBox="1"/>
          <p:nvPr/>
        </p:nvSpPr>
        <p:spPr>
          <a:xfrm>
            <a:off x="10702674" y="868217"/>
            <a:ext cx="906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5400" i="1" dirty="0">
                <a:solidFill>
                  <a:srgbClr val="FF0000"/>
                </a:solidFill>
              </a:rPr>
              <a:t>W</a:t>
            </a:r>
            <a:endParaRPr lang="en-US" sz="5400" i="1" dirty="0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AD7334A-BB60-4A17-A877-0561C603F5B2}"/>
              </a:ext>
            </a:extLst>
          </p:cNvPr>
          <p:cNvCxnSpPr>
            <a:cxnSpLocks/>
          </p:cNvCxnSpPr>
          <p:nvPr/>
        </p:nvCxnSpPr>
        <p:spPr>
          <a:xfrm>
            <a:off x="5335399" y="4066834"/>
            <a:ext cx="1568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4A74F80-E9BE-4B07-A67F-4784E2F5A6D9}"/>
              </a:ext>
            </a:extLst>
          </p:cNvPr>
          <p:cNvSpPr txBox="1"/>
          <p:nvPr/>
        </p:nvSpPr>
        <p:spPr>
          <a:xfrm>
            <a:off x="7469867" y="3605169"/>
            <a:ext cx="29258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sz="5400" dirty="0"/>
              <a:t>А </a:t>
            </a:r>
            <a:r>
              <a:rPr lang="sr-Latn-RS" sz="5400" dirty="0">
                <a:solidFill>
                  <a:srgbClr val="FF0000"/>
                </a:solidFill>
              </a:rPr>
              <a:t>A</a:t>
            </a:r>
            <a:r>
              <a:rPr lang="sr-Latn-RS" sz="5400" i="1" dirty="0"/>
              <a:t> </a:t>
            </a:r>
            <a:r>
              <a:rPr lang="sr-Latn-RS" sz="5400" dirty="0"/>
              <a:t>A B B</a:t>
            </a:r>
            <a:r>
              <a:rPr lang="sr-Latn-RS" sz="5400" i="1" dirty="0"/>
              <a:t> </a:t>
            </a:r>
            <a:endParaRPr lang="en-US" sz="5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1B65E2-4004-4E19-9F0E-8C81F56BB2F9}"/>
              </a:ext>
            </a:extLst>
          </p:cNvPr>
          <p:cNvSpPr txBox="1"/>
          <p:nvPr/>
        </p:nvSpPr>
        <p:spPr>
          <a:xfrm>
            <a:off x="7826928" y="4672668"/>
            <a:ext cx="1990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dirty="0"/>
              <a:t>префикс дужине 3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E50B4-0753-4B38-9C8C-BC827A9CB907}"/>
              </a:ext>
            </a:extLst>
          </p:cNvPr>
          <p:cNvSpPr txBox="1"/>
          <p:nvPr/>
        </p:nvSpPr>
        <p:spPr>
          <a:xfrm>
            <a:off x="2097248" y="4672668"/>
            <a:ext cx="1990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Cyrl-RS" dirty="0"/>
              <a:t>префикс дужине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904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28F1B-5282-416B-ADC5-89B724D5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 dirty="0"/>
              <a:t>ПОЗИЦИОНО ИНВАРИЈАНТНИ ТОКЕН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E2759-B224-4F25-ACE1-F37FEA19C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866" y="1807003"/>
            <a:ext cx="10058400" cy="81439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r-Cyrl-RS" sz="2400" dirty="0"/>
              <a:t>Уместо да се посматра дуж </a:t>
            </a:r>
            <a:r>
              <a:rPr lang="sr-Cyrl-RS" sz="2400" dirty="0" err="1"/>
              <a:t>евалуационих</a:t>
            </a:r>
            <a:r>
              <a:rPr lang="sr-Cyrl-RS" sz="2400" dirty="0"/>
              <a:t> путања, евалуација зависи од укупног броја појављивања у целом видљивом прозору.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E17691-3B47-4C2B-ADCA-1389C74DD0B2}"/>
              </a:ext>
            </a:extLst>
          </p:cNvPr>
          <p:cNvSpPr txBox="1"/>
          <p:nvPr/>
        </p:nvSpPr>
        <p:spPr>
          <a:xfrm>
            <a:off x="11224470" y="814030"/>
            <a:ext cx="4972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5400" i="1" dirty="0">
                <a:solidFill>
                  <a:srgbClr val="FF0000"/>
                </a:solidFill>
              </a:rPr>
              <a:t>S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892ED-59D8-4D7F-89C9-8385BBEB46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810" y="4861000"/>
            <a:ext cx="1157643" cy="1157643"/>
          </a:xfrm>
          <a:prstGeom prst="rect">
            <a:avLst/>
          </a:prstGeom>
        </p:spPr>
      </p:pic>
      <p:pic>
        <p:nvPicPr>
          <p:cNvPr id="6" name="Picture 5" descr="lemon - download free icon Classic Slot Machine Icons on Artage.io">
            <a:extLst>
              <a:ext uri="{FF2B5EF4-FFF2-40B4-BE49-F238E27FC236}">
                <a16:creationId xmlns:a16="http://schemas.microsoft.com/office/drawing/2014/main" id="{37BD358D-B472-4B02-AF00-AA528BE0A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1332" y="5090854"/>
            <a:ext cx="697934" cy="697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54E36C-8FCA-4FEA-9954-22DC558F19F4}"/>
              </a:ext>
            </a:extLst>
          </p:cNvPr>
          <p:cNvSpPr txBox="1"/>
          <p:nvPr/>
        </p:nvSpPr>
        <p:spPr>
          <a:xfrm>
            <a:off x="1936399" y="2897553"/>
            <a:ext cx="718466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</a:p>
          <a:p>
            <a:r>
              <a:rPr lang="sr-Latn-RS" sz="6600" dirty="0"/>
              <a:t>G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BB9CD6-6E81-4B27-9804-2830BA1D3BAB}"/>
              </a:ext>
            </a:extLst>
          </p:cNvPr>
          <p:cNvSpPr txBox="1"/>
          <p:nvPr/>
        </p:nvSpPr>
        <p:spPr>
          <a:xfrm>
            <a:off x="3171079" y="2897553"/>
            <a:ext cx="71205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H</a:t>
            </a:r>
          </a:p>
          <a:p>
            <a:r>
              <a:rPr lang="sr-Latn-RS" sz="6600" dirty="0"/>
              <a:t>H</a:t>
            </a:r>
          </a:p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1F31B-DDE5-4E19-92B5-7151B8F5BA25}"/>
              </a:ext>
            </a:extLst>
          </p:cNvPr>
          <p:cNvSpPr txBox="1"/>
          <p:nvPr/>
        </p:nvSpPr>
        <p:spPr>
          <a:xfrm>
            <a:off x="4415377" y="2897553"/>
            <a:ext cx="62388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K</a:t>
            </a:r>
          </a:p>
          <a:p>
            <a:r>
              <a:rPr lang="sr-Latn-RS" sz="6600" i="1" dirty="0">
                <a:solidFill>
                  <a:srgbClr val="FF0000"/>
                </a:solidFill>
              </a:rPr>
              <a:t>S</a:t>
            </a:r>
            <a:endParaRPr lang="en-US" sz="6600" i="1" dirty="0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3D1309-4521-475A-A480-C168D5A94AA4}"/>
              </a:ext>
            </a:extLst>
          </p:cNvPr>
          <p:cNvCxnSpPr>
            <a:cxnSpLocks/>
          </p:cNvCxnSpPr>
          <p:nvPr/>
        </p:nvCxnSpPr>
        <p:spPr>
          <a:xfrm>
            <a:off x="5738070" y="4310114"/>
            <a:ext cx="156874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7868770-5B76-400B-A012-424914E74E95}"/>
              </a:ext>
            </a:extLst>
          </p:cNvPr>
          <p:cNvSpPr txBox="1"/>
          <p:nvPr/>
        </p:nvSpPr>
        <p:spPr>
          <a:xfrm>
            <a:off x="8128932" y="3682604"/>
            <a:ext cx="17459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6600" dirty="0"/>
              <a:t>3 x </a:t>
            </a:r>
            <a:r>
              <a:rPr lang="sr-Latn-RS" sz="6600" i="1" dirty="0">
                <a:solidFill>
                  <a:srgbClr val="FF0000"/>
                </a:solidFill>
              </a:rPr>
              <a:t>S</a:t>
            </a:r>
            <a:endParaRPr lang="en-US" sz="6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23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96F1-A9AE-4B8A-99A5-345E02082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r-Cyrl-RS"/>
              <a:t>ЕВАЛУАЦИОНА ФУНКЦИЈА И ТАБЕЛА ИЗЛАЗНИХ ВРЕДНОСТИ ТОКЕНА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CD496-33AE-49E8-AC7A-F2AE84BDF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66952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226</TotalTime>
  <Words>438</Words>
  <Application>Microsoft Office PowerPoint</Application>
  <PresentationFormat>Widescreen</PresentationFormat>
  <Paragraphs>123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Retrospect</vt:lpstr>
      <vt:lpstr>МАТЕМАТИЧКО МОДЕЛОВАЊЕ СИСТЕМА ЗА ПСЕУДО-СЛУЧАНО ГЕНЕРИСАЊЕ ТОКЕНА И ЕВАЛУАЦИЈУ КОМБИНАЦИЈА НАД ДИСКРЕТНИМ МАТРИЦАМА</vt:lpstr>
      <vt:lpstr>ГЛАВНЕ КОМПОНЕНТЕ СИСТЕМА</vt:lpstr>
      <vt:lpstr>ГЛАВНЕ КОМПОНЕНТЕ СИСТЕМА</vt:lpstr>
      <vt:lpstr>АЗБУКА ТОКЕНА</vt:lpstr>
      <vt:lpstr>ЦИКЛИЧНА ТОКЕН СЕКВЕНЦА</vt:lpstr>
      <vt:lpstr>ГЕНЕРАТИВНА МАТРИЦА</vt:lpstr>
      <vt:lpstr>ПСЕУДО-СЛУЧАЈНИ ГЕНЕРАТОР</vt:lpstr>
      <vt:lpstr>ИТЕРАЦИЈА СИСТЕМА - Генерисање</vt:lpstr>
      <vt:lpstr>ИТЕРАЦИЈА СИСТЕМА – Видљиви прозор</vt:lpstr>
      <vt:lpstr>ИТЕРАЦИЈА СИСТЕМА – Видљиви прозор</vt:lpstr>
      <vt:lpstr>ИТЕРАЦИЈА СИСТЕМА - Евалуација</vt:lpstr>
      <vt:lpstr>ЕВАЛУАЦИОНА ПУТАЊА</vt:lpstr>
      <vt:lpstr>ЕВАЛУАЦИОНА ПУТАЊА</vt:lpstr>
      <vt:lpstr>УНИВЕРЗАЛНИ ЗАМЕНСКИ ТОКЕН</vt:lpstr>
      <vt:lpstr>ПОЗИЦИОНО ИНВАРИЈАНТНИ ТОКЕН</vt:lpstr>
      <vt:lpstr>ЕВАЛУАЦИОНА ФУНКЦИЈА И ТАБЕЛА ИЗЛАЗНИХ ВРЕДНОСТИ ТОКЕНА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МАТЕМАТИЧКО МОДЕЛОВАЊЕ СИСТЕМА ЗА ПСЕУДО-СЛУЧАНО ГЕНЕРИСАЊЕ ТОКЕНА И ЕВАЛУАЦИЈУ КОМБИНАЦИЈА НАД ДИСКРЕТНИМ МАТРИЦАМА</dc:title>
  <dc:creator>Jovan Bogdanovic</dc:creator>
  <cp:lastModifiedBy>Jovan Bogdanovic</cp:lastModifiedBy>
  <cp:revision>16</cp:revision>
  <dcterms:created xsi:type="dcterms:W3CDTF">2026-07-19T16:07:18Z</dcterms:created>
  <dcterms:modified xsi:type="dcterms:W3CDTF">2026-07-20T21:16:58Z</dcterms:modified>
</cp:coreProperties>
</file>