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2CEF3B-A037-46D0-B02C-1428F07E9383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482DC-2269-4F26-9D2A-7E44B1A4CD8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pPr/>
              <a:t>19. 07. 2026.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19. 07. 2026.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19. 07. 2026.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19. 07. 2026.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EA74-CBFF-4BAD-8267-A2585698F3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sr-Cyrl-RS" sz="4400" b="1" dirty="0"/>
              <a:t>МАТЕМАТИЧКО МОДЕЛОВАЊЕ СИСТЕМА ЗА ПСЕУДО-СЛУЧАНО ГЕНЕРИСАЊЕ ТОКЕНА И ЕВАЛУАЦИЈУ КОМБИНАЦИЈА НАД ДИСКРЕТНИМ МАТРИЦАМА</a:t>
            </a:r>
            <a:endParaRPr lang="en-US" sz="44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87EA58-613B-4ED7-934D-4906E4EC2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sr-Cyrl-RS" dirty="0"/>
          </a:p>
          <a:p>
            <a:pPr algn="ctr"/>
            <a:r>
              <a:rPr lang="sr-Cyrl-RS" dirty="0"/>
              <a:t>ЗАВРШНИ РАД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3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D03B-DD54-48DC-A826-4744AF3E9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ГЛАВНЕ КОМПОНЕНТЕ СИСТЕМА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0FE48-7D65-4142-953B-258044293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84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A258D-A1DF-4E7B-9FAC-2091B42D5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35560"/>
            <a:ext cx="10058400" cy="1450757"/>
          </a:xfrm>
        </p:spPr>
        <p:txBody>
          <a:bodyPr/>
          <a:lstStyle/>
          <a:p>
            <a:r>
              <a:rPr lang="sr-Cyrl-RS" dirty="0"/>
              <a:t>ГЛАВНЕ КОМПОНЕНТЕ СИСТЕМА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21254-BD8E-4FEE-8DE8-E6F5E2772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sr-Cyrl-RS" sz="2800" dirty="0"/>
              <a:t>ГЕНЕРАТИВНА</a:t>
            </a:r>
            <a:endParaRPr lang="en-US" sz="2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E6DE97-7E16-44A3-A657-42C848E3B2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Унапред припремљена структура података из које се псеудо-случајним генератором генеришу подаци</a:t>
            </a:r>
            <a:r>
              <a:rPr lang="sr-Latn-RS" sz="2400" dirty="0"/>
              <a:t>.</a:t>
            </a:r>
            <a:endParaRPr lang="en-US" sz="2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A2C4A-1320-4503-B1E9-F84537F9E4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sr-Cyrl-RS" sz="3200" dirty="0"/>
              <a:t>ЕВАЛУАЦИОНА</a:t>
            </a:r>
            <a:endParaRPr lang="en-US" sz="3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1732F3-84E0-4444-A797-1DA10A0F926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Анализатор матрица који израчунава одређени нумерички резултат на основу дефинисаних правила</a:t>
            </a:r>
            <a:r>
              <a:rPr lang="sr-Latn-RS" sz="2400" dirty="0"/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80109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384A-4C85-4E55-BF7F-25A8D5D0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АЗБУКА ТОКЕНА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DD1CFB-3365-41FF-8EAD-287337F9E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Токен је основна недељива јединица система</a:t>
            </a:r>
            <a:r>
              <a:rPr lang="sr-Latn-RS" sz="2400" dirty="0"/>
              <a:t>.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Азбука </a:t>
            </a:r>
            <a:r>
              <a:rPr lang="sr-Cyrl-RS" sz="2400" dirty="0" err="1"/>
              <a:t>токена</a:t>
            </a:r>
            <a:r>
              <a:rPr lang="sr-Cyrl-RS" sz="2400" dirty="0"/>
              <a:t> је коначни скуп различитих елемената из којих се граде секвенце у систему</a:t>
            </a:r>
            <a:r>
              <a:rPr lang="sr-Latn-RS" sz="2400" dirty="0"/>
              <a:t>.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102082-635D-4C69-9D7B-C77942EA72BA}"/>
              </a:ext>
            </a:extLst>
          </p:cNvPr>
          <p:cNvSpPr txBox="1"/>
          <p:nvPr/>
        </p:nvSpPr>
        <p:spPr>
          <a:xfrm>
            <a:off x="1227022" y="3902749"/>
            <a:ext cx="154357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A</a:t>
            </a:r>
            <a:endParaRPr lang="en-US" sz="6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0E448-1B0F-4BCA-8B2F-E0E23F2EB9E9}"/>
              </a:ext>
            </a:extLst>
          </p:cNvPr>
          <p:cNvSpPr txBox="1"/>
          <p:nvPr/>
        </p:nvSpPr>
        <p:spPr>
          <a:xfrm>
            <a:off x="2827090" y="5004453"/>
            <a:ext cx="4571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W</a:t>
            </a:r>
            <a:endParaRPr lang="en-US" sz="6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848DD-9C77-4AEE-8512-A1ECBECBE087}"/>
              </a:ext>
            </a:extLst>
          </p:cNvPr>
          <p:cNvSpPr txBox="1"/>
          <p:nvPr/>
        </p:nvSpPr>
        <p:spPr>
          <a:xfrm>
            <a:off x="5819344" y="3739488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5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917588D-14B5-48B0-B3B0-28315D74B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290" y="3739488"/>
            <a:ext cx="1434517" cy="14345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4E507E-45EF-45D0-9840-75ABB4F87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273" y="4882774"/>
            <a:ext cx="1198078" cy="11079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ECDD05-9B24-420B-9E21-B7537E3FE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086" y="3739488"/>
            <a:ext cx="1044839" cy="117988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7F81A9F-D9E5-470B-BC32-8529199525D9}"/>
              </a:ext>
            </a:extLst>
          </p:cNvPr>
          <p:cNvSpPr txBox="1"/>
          <p:nvPr/>
        </p:nvSpPr>
        <p:spPr>
          <a:xfrm>
            <a:off x="10016455" y="4882775"/>
            <a:ext cx="64472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382223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C789-7178-451D-8BA0-A09070BA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ЦИКЛИЧНА ТОКЕН СЕКВЕНЦА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71583-DA61-489F-B971-D1AF544BD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Низ </a:t>
            </a:r>
            <a:r>
              <a:rPr lang="sr-Cyrl-RS" sz="2400" dirty="0" err="1"/>
              <a:t>токена</a:t>
            </a:r>
            <a:r>
              <a:rPr lang="sr-Cyrl-RS" sz="2400" dirty="0"/>
              <a:t> фиксне дужине који се понашају као кружна структура.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5230D9-70C0-46B3-A4CD-6E7EA590B9EF}"/>
              </a:ext>
            </a:extLst>
          </p:cNvPr>
          <p:cNvSpPr txBox="1"/>
          <p:nvPr/>
        </p:nvSpPr>
        <p:spPr>
          <a:xfrm>
            <a:off x="2028458" y="3472693"/>
            <a:ext cx="88185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400" dirty="0"/>
              <a:t>... A A B G      H E E R R           Z T J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B8CC3-4A95-4866-B6FD-C5835D19E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578" y="3472693"/>
            <a:ext cx="772095" cy="772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56942F-6C63-47D6-B73A-D19F7B6A5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286" y="3572188"/>
            <a:ext cx="593853" cy="6706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5025FF-EAAD-438E-A26D-AFF7463C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898" y="3572852"/>
            <a:ext cx="593852" cy="67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72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5E02-A7BA-4E15-BC18-836B96E53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ГЕНЕРАТИВНА МАТРИЦА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DB9A-1597-441C-BC28-489B8F585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Састоји се од </a:t>
            </a:r>
            <a:r>
              <a:rPr lang="sr-Latn-RS" sz="2400" i="1" dirty="0"/>
              <a:t>n</a:t>
            </a:r>
            <a:r>
              <a:rPr lang="sr-Cyrl-RS" sz="2400" i="1" dirty="0"/>
              <a:t> </a:t>
            </a:r>
            <a:r>
              <a:rPr lang="sr-Cyrl-RS" sz="2400" dirty="0"/>
              <a:t>цикличних токен секвенци.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Пример за </a:t>
            </a:r>
            <a:r>
              <a:rPr lang="sr-Latn-RS" sz="2400" i="1" dirty="0"/>
              <a:t>n</a:t>
            </a:r>
            <a:r>
              <a:rPr lang="sr-Latn-RS" sz="2400" dirty="0"/>
              <a:t> = 3: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965C1E-A0D8-4248-8C35-D3CA795FB820}"/>
              </a:ext>
            </a:extLst>
          </p:cNvPr>
          <p:cNvSpPr txBox="1"/>
          <p:nvPr/>
        </p:nvSpPr>
        <p:spPr>
          <a:xfrm>
            <a:off x="2156390" y="3230824"/>
            <a:ext cx="89992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r-Latn-RS" sz="4000" dirty="0"/>
              <a:t>... A A B G      H E E R R           Z T J ...</a:t>
            </a:r>
          </a:p>
          <a:p>
            <a:r>
              <a:rPr lang="sr-Latn-RS" sz="4000" dirty="0"/>
              <a:t>... B B H H H H U J K       O O P W ...</a:t>
            </a:r>
          </a:p>
          <a:p>
            <a:r>
              <a:rPr lang="sr-Latn-RS" sz="4000" dirty="0"/>
              <a:t>...                    J K K K W W P A        ...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F9D44D-A0ED-4861-AEF1-313798E06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170" y="3230824"/>
            <a:ext cx="772095" cy="772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31F564-FE65-4805-B804-C268E8233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199" y="3268055"/>
            <a:ext cx="593852" cy="6706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E0CF31-92FD-4876-B16F-2BBC0253D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051" y="3281566"/>
            <a:ext cx="593852" cy="6706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2199D9-5F67-46F3-84CC-EEA30F1D6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94" y="3938653"/>
            <a:ext cx="565882" cy="523334"/>
          </a:xfrm>
          <a:prstGeom prst="rect">
            <a:avLst/>
          </a:prstGeom>
        </p:spPr>
      </p:pic>
      <p:pic>
        <p:nvPicPr>
          <p:cNvPr id="102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35C217B4-776C-46DC-8F52-BF2536768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325" y="4497182"/>
            <a:ext cx="686144" cy="686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lemon - download free icon Classic Slot Machine Icons on Artage.io">
            <a:extLst>
              <a:ext uri="{FF2B5EF4-FFF2-40B4-BE49-F238E27FC236}">
                <a16:creationId xmlns:a16="http://schemas.microsoft.com/office/drawing/2014/main" id="{3A2569B6-A85F-4E66-BAD9-3F69F9A43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733" y="4497182"/>
            <a:ext cx="686145" cy="686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lemon - download free icon Classic Slot Machine Icons on Artage.io">
            <a:extLst>
              <a:ext uri="{FF2B5EF4-FFF2-40B4-BE49-F238E27FC236}">
                <a16:creationId xmlns:a16="http://schemas.microsoft.com/office/drawing/2014/main" id="{B8DEB674-9FE0-4F59-B2E7-BCBC77BD6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698" y="4470809"/>
            <a:ext cx="705762" cy="70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11F53F-DD9E-4BF4-AB10-4395829206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9402" y="4461987"/>
            <a:ext cx="593853" cy="6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915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6BC9-3DD9-4B7C-A223-FAC94D95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ПСЕУДО-СЛУЧАЈНИ ГЕНЕРАТОР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E3E89-6CA4-4F6D-963A-9ECD8394D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 рачунарству не постоји прави „</a:t>
            </a:r>
            <a:r>
              <a:rPr lang="sr-Latn-RS" sz="2400" dirty="0"/>
              <a:t>random“.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sr-Latn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Подразумевамо у ради савршени псеудо-случајни алгоритам.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00816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3BEEA-4EFB-44AE-A96C-99CE0F3BA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- Генерисање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0E017-D711-4ABB-BCB1-FC797E6B9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350024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За сваку цикличну токен-секвенцу из генеративне матрице се генерише почетни индекс и читају се </a:t>
            </a:r>
            <a:r>
              <a:rPr lang="sr-Latn-RS" i="1" dirty="0"/>
              <a:t>m</a:t>
            </a:r>
            <a:r>
              <a:rPr lang="sr-Latn-RS" dirty="0"/>
              <a:t> </a:t>
            </a:r>
            <a:r>
              <a:rPr lang="sr-Cyrl-RS" dirty="0"/>
              <a:t>узастопних </a:t>
            </a:r>
            <a:r>
              <a:rPr lang="sr-Cyrl-RS" dirty="0" err="1"/>
              <a:t>токена</a:t>
            </a:r>
            <a:r>
              <a:rPr lang="sr-Cyrl-R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Пример за </a:t>
            </a:r>
            <a:r>
              <a:rPr lang="sr-Latn-RS" i="1" dirty="0"/>
              <a:t>m </a:t>
            </a:r>
            <a:r>
              <a:rPr lang="sr-Latn-RS" dirty="0"/>
              <a:t>= 3 </a:t>
            </a:r>
            <a:r>
              <a:rPr lang="sr-Cyrl-RS" dirty="0"/>
              <a:t>и дужину сваке цикличне токен-секвенце </a:t>
            </a:r>
            <a:r>
              <a:rPr lang="sr-Latn-RS" i="1" dirty="0"/>
              <a:t>L</a:t>
            </a:r>
            <a:r>
              <a:rPr lang="sr-Latn-RS" dirty="0"/>
              <a:t> = 7</a:t>
            </a:r>
            <a:r>
              <a:rPr lang="sr-Cyrl-RS" dirty="0"/>
              <a:t> и да је ПСГ генерисао почетне индексе 2, 4, 5</a:t>
            </a:r>
            <a:r>
              <a:rPr lang="sr-Latn-RS" dirty="0"/>
              <a:t>: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24CF2D-6241-4525-9765-182F5051AD08}"/>
              </a:ext>
            </a:extLst>
          </p:cNvPr>
          <p:cNvSpPr txBox="1"/>
          <p:nvPr/>
        </p:nvSpPr>
        <p:spPr>
          <a:xfrm>
            <a:off x="3370441" y="3065135"/>
            <a:ext cx="41069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A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dirty="0"/>
              <a:t>B</a:t>
            </a:r>
            <a:br>
              <a:rPr lang="sr-Latn-RS" sz="2800" dirty="0"/>
            </a:br>
            <a:r>
              <a:rPr lang="sr-Latn-RS" sz="2800" dirty="0"/>
              <a:t>G</a:t>
            </a:r>
          </a:p>
          <a:p>
            <a:endParaRPr lang="sr-Latn-RS" sz="2800" dirty="0"/>
          </a:p>
          <a:p>
            <a:r>
              <a:rPr lang="sr-Latn-RS" sz="2800" dirty="0"/>
              <a:t>H</a:t>
            </a:r>
          </a:p>
          <a:p>
            <a:r>
              <a:rPr lang="sr-Latn-RS" sz="2800" dirty="0"/>
              <a:t>E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3C0754-9948-4215-BDAB-117073B3D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092" y="4773047"/>
            <a:ext cx="513388" cy="5133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7F0487-ECA2-4C60-93B2-EACEC829C03F}"/>
              </a:ext>
            </a:extLst>
          </p:cNvPr>
          <p:cNvSpPr txBox="1"/>
          <p:nvPr/>
        </p:nvSpPr>
        <p:spPr>
          <a:xfrm>
            <a:off x="5368954" y="3059471"/>
            <a:ext cx="41549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B</a:t>
            </a:r>
          </a:p>
          <a:p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U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15ABA-0CDD-4728-96E9-7C82E2593526}"/>
              </a:ext>
            </a:extLst>
          </p:cNvPr>
          <p:cNvSpPr txBox="1"/>
          <p:nvPr/>
        </p:nvSpPr>
        <p:spPr>
          <a:xfrm>
            <a:off x="7320926" y="4083001"/>
            <a:ext cx="397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3200" dirty="0"/>
              <a:t>J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</p:txBody>
      </p:sp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1036CB7-9293-4051-B74C-D29A5E217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137131"/>
            <a:ext cx="313056" cy="313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A046F437-25E0-4E42-BD28-6E8137542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489065"/>
            <a:ext cx="313057" cy="313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583DA0DB-7EF3-4C97-A03F-01A95BF969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3330" y="3845099"/>
            <a:ext cx="313058" cy="313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E4136CC-BE9F-4541-871E-A283A8FC5995}"/>
              </a:ext>
            </a:extLst>
          </p:cNvPr>
          <p:cNvSpPr/>
          <p:nvPr/>
        </p:nvSpPr>
        <p:spPr>
          <a:xfrm>
            <a:off x="3370441" y="3993160"/>
            <a:ext cx="419635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EBBC7-6CA2-4125-BDE7-7038D44BD9FB}"/>
              </a:ext>
            </a:extLst>
          </p:cNvPr>
          <p:cNvSpPr/>
          <p:nvPr/>
        </p:nvSpPr>
        <p:spPr>
          <a:xfrm>
            <a:off x="5368954" y="4792197"/>
            <a:ext cx="419635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EAAFA6-6FE3-4613-B2EB-71880BBE1BBF}"/>
              </a:ext>
            </a:extLst>
          </p:cNvPr>
          <p:cNvSpPr/>
          <p:nvPr/>
        </p:nvSpPr>
        <p:spPr>
          <a:xfrm>
            <a:off x="7325063" y="5155093"/>
            <a:ext cx="419635" cy="9303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D8C425-B218-45CA-832B-36A12C1C5DE7}"/>
              </a:ext>
            </a:extLst>
          </p:cNvPr>
          <p:cNvSpPr/>
          <p:nvPr/>
        </p:nvSpPr>
        <p:spPr>
          <a:xfrm>
            <a:off x="7320926" y="3034626"/>
            <a:ext cx="419635" cy="44353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8B1C5-A848-4231-A13D-7FA5E8F3D5C9}"/>
              </a:ext>
            </a:extLst>
          </p:cNvPr>
          <p:cNvSpPr txBox="1"/>
          <p:nvPr/>
        </p:nvSpPr>
        <p:spPr>
          <a:xfrm>
            <a:off x="3933065" y="31777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25F5B6-BE5E-43C3-A0BD-DF3B2A3AED95}"/>
              </a:ext>
            </a:extLst>
          </p:cNvPr>
          <p:cNvSpPr txBox="1"/>
          <p:nvPr/>
        </p:nvSpPr>
        <p:spPr>
          <a:xfrm>
            <a:off x="3933065" y="355680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B3E443-4DFB-4A1B-B282-9361DB728FA6}"/>
              </a:ext>
            </a:extLst>
          </p:cNvPr>
          <p:cNvSpPr txBox="1"/>
          <p:nvPr/>
        </p:nvSpPr>
        <p:spPr>
          <a:xfrm>
            <a:off x="3933065" y="399316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25FE8E-39D2-4610-BEE2-BC6326D7FB4D}"/>
              </a:ext>
            </a:extLst>
          </p:cNvPr>
          <p:cNvSpPr txBox="1"/>
          <p:nvPr/>
        </p:nvSpPr>
        <p:spPr>
          <a:xfrm>
            <a:off x="3933065" y="441418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B630F2-6182-4097-9520-CDD8434D3096}"/>
              </a:ext>
            </a:extLst>
          </p:cNvPr>
          <p:cNvSpPr txBox="1"/>
          <p:nvPr/>
        </p:nvSpPr>
        <p:spPr>
          <a:xfrm>
            <a:off x="3936974" y="484731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53BA9B-D119-41A9-9BD0-DFEDFA029268}"/>
              </a:ext>
            </a:extLst>
          </p:cNvPr>
          <p:cNvSpPr txBox="1"/>
          <p:nvPr/>
        </p:nvSpPr>
        <p:spPr>
          <a:xfrm>
            <a:off x="3933065" y="53125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7DE003-5230-43C9-8350-9684FBC215E2}"/>
              </a:ext>
            </a:extLst>
          </p:cNvPr>
          <p:cNvSpPr txBox="1"/>
          <p:nvPr/>
        </p:nvSpPr>
        <p:spPr>
          <a:xfrm>
            <a:off x="3933065" y="57328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3CEC0-E7AD-475C-8DBF-AD8F00FFDC92}"/>
              </a:ext>
            </a:extLst>
          </p:cNvPr>
          <p:cNvSpPr txBox="1"/>
          <p:nvPr/>
        </p:nvSpPr>
        <p:spPr>
          <a:xfrm>
            <a:off x="5967622" y="358824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B4B37D-5B2D-4C35-BBE3-147524DD77F7}"/>
              </a:ext>
            </a:extLst>
          </p:cNvPr>
          <p:cNvSpPr txBox="1"/>
          <p:nvPr/>
        </p:nvSpPr>
        <p:spPr>
          <a:xfrm>
            <a:off x="5967622" y="402309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F20636-700A-400E-93D6-64F32E34FDB3}"/>
              </a:ext>
            </a:extLst>
          </p:cNvPr>
          <p:cNvSpPr txBox="1"/>
          <p:nvPr/>
        </p:nvSpPr>
        <p:spPr>
          <a:xfrm>
            <a:off x="5967622" y="444412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0340C-9A1C-45F1-883E-7B4889C929C5}"/>
              </a:ext>
            </a:extLst>
          </p:cNvPr>
          <p:cNvSpPr txBox="1"/>
          <p:nvPr/>
        </p:nvSpPr>
        <p:spPr>
          <a:xfrm>
            <a:off x="5971531" y="487725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A9FECF-AF40-4A63-83B2-4D8F2E6E30B8}"/>
              </a:ext>
            </a:extLst>
          </p:cNvPr>
          <p:cNvSpPr txBox="1"/>
          <p:nvPr/>
        </p:nvSpPr>
        <p:spPr>
          <a:xfrm>
            <a:off x="5967622" y="53424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2A4713-5F60-4B8C-BAB4-906A4CDE030F}"/>
              </a:ext>
            </a:extLst>
          </p:cNvPr>
          <p:cNvSpPr txBox="1"/>
          <p:nvPr/>
        </p:nvSpPr>
        <p:spPr>
          <a:xfrm>
            <a:off x="5967622" y="576277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1FC8B4-6870-47B0-9C6A-07594819B1F9}"/>
              </a:ext>
            </a:extLst>
          </p:cNvPr>
          <p:cNvSpPr txBox="1"/>
          <p:nvPr/>
        </p:nvSpPr>
        <p:spPr>
          <a:xfrm>
            <a:off x="7923731" y="360953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4B7FBA-2CEA-4BAE-B0E5-D414D386697E}"/>
              </a:ext>
            </a:extLst>
          </p:cNvPr>
          <p:cNvSpPr txBox="1"/>
          <p:nvPr/>
        </p:nvSpPr>
        <p:spPr>
          <a:xfrm>
            <a:off x="7923731" y="404265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BF1F81-8DC2-4383-A356-8D89991366EB}"/>
              </a:ext>
            </a:extLst>
          </p:cNvPr>
          <p:cNvSpPr txBox="1"/>
          <p:nvPr/>
        </p:nvSpPr>
        <p:spPr>
          <a:xfrm>
            <a:off x="7923731" y="446368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CA4798-93F1-4423-84AF-9BB97A3AFDB3}"/>
              </a:ext>
            </a:extLst>
          </p:cNvPr>
          <p:cNvSpPr txBox="1"/>
          <p:nvPr/>
        </p:nvSpPr>
        <p:spPr>
          <a:xfrm>
            <a:off x="7927640" y="489681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11BEEF-C33A-4826-9D85-F1F6B10FA500}"/>
              </a:ext>
            </a:extLst>
          </p:cNvPr>
          <p:cNvSpPr txBox="1"/>
          <p:nvPr/>
        </p:nvSpPr>
        <p:spPr>
          <a:xfrm>
            <a:off x="7923731" y="536200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0348B9-B087-4368-8B50-3807CE0674CD}"/>
              </a:ext>
            </a:extLst>
          </p:cNvPr>
          <p:cNvSpPr txBox="1"/>
          <p:nvPr/>
        </p:nvSpPr>
        <p:spPr>
          <a:xfrm>
            <a:off x="7923731" y="578233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B4E72E-6F63-4FC6-9DB6-2AAB919ACF77}"/>
              </a:ext>
            </a:extLst>
          </p:cNvPr>
          <p:cNvSpPr txBox="1"/>
          <p:nvPr/>
        </p:nvSpPr>
        <p:spPr>
          <a:xfrm>
            <a:off x="5967622" y="318673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A75D1-B0AE-4598-B3F1-AD174B7BEFDB}"/>
              </a:ext>
            </a:extLst>
          </p:cNvPr>
          <p:cNvSpPr txBox="1"/>
          <p:nvPr/>
        </p:nvSpPr>
        <p:spPr>
          <a:xfrm>
            <a:off x="7924508" y="313713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39559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AC74-003F-45A3-835F-192D4F3D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284EEB-A1CC-4183-99A4-7A65D90412D2}"/>
              </a:ext>
            </a:extLst>
          </p:cNvPr>
          <p:cNvSpPr txBox="1"/>
          <p:nvPr/>
        </p:nvSpPr>
        <p:spPr>
          <a:xfrm>
            <a:off x="3758269" y="1971413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24CE98-60A9-490F-A7A7-AC750202F48C}"/>
              </a:ext>
            </a:extLst>
          </p:cNvPr>
          <p:cNvSpPr txBox="1"/>
          <p:nvPr/>
        </p:nvSpPr>
        <p:spPr>
          <a:xfrm>
            <a:off x="5083728" y="1981320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F3658B-DCCC-4E13-8275-806CF37681E8}"/>
              </a:ext>
            </a:extLst>
          </p:cNvPr>
          <p:cNvSpPr txBox="1"/>
          <p:nvPr/>
        </p:nvSpPr>
        <p:spPr>
          <a:xfrm>
            <a:off x="6418805" y="1981320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0BE78B-7A23-497A-BC5B-58BA058A9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680" y="3962998"/>
            <a:ext cx="1157643" cy="1157643"/>
          </a:xfrm>
          <a:prstGeom prst="rect">
            <a:avLst/>
          </a:prstGeom>
        </p:spPr>
      </p:pic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436CD71-96ED-4DE1-A0CF-4E9A08181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805" y="4192852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713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4D75F-DC89-497D-B63A-9B8F174BB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DF400-2B6D-4C37-89F9-75F300E5E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049673-C671-4CC7-B17D-199EB4844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57" y="1845734"/>
            <a:ext cx="7563906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08671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72</TotalTime>
  <Words>283</Words>
  <Application>Microsoft Office PowerPoint</Application>
  <PresentationFormat>Widescreen</PresentationFormat>
  <Paragraphs>79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Retrospect</vt:lpstr>
      <vt:lpstr>МАТЕМАТИЧКО МОДЕЛОВАЊЕ СИСТЕМА ЗА ПСЕУДО-СЛУЧАНО ГЕНЕРИСАЊЕ ТОКЕНА И ЕВАЛУАЦИЈУ КОМБИНАЦИЈА НАД ДИСКРЕТНИМ МАТРИЦАМА</vt:lpstr>
      <vt:lpstr>ГЛАВНЕ КОМПОНЕНТЕ СИСТЕМА</vt:lpstr>
      <vt:lpstr>ГЛАВНЕ КОМПОНЕНТЕ СИСТЕМА</vt:lpstr>
      <vt:lpstr>АЗБУКА ТОКЕНА</vt:lpstr>
      <vt:lpstr>ЦИКЛИЧНА ТОКЕН СЕКВЕНЦА</vt:lpstr>
      <vt:lpstr>ГЕНЕРАТИВНА МАТРИЦА</vt:lpstr>
      <vt:lpstr>ПСЕУДО-СЛУЧАЈНИ ГЕНЕРАТОР</vt:lpstr>
      <vt:lpstr>ИТЕРАЦИЈА СИСТЕМА - Генерисање</vt:lpstr>
      <vt:lpstr>ИТЕРАЦИЈА СИСТЕМА – Видљиви прозор</vt:lpstr>
      <vt:lpstr>ИТЕРАЦИЈА СИСТЕМА – Видљиви прозор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МАТЕМАТИЧКО МОДЕЛОВАЊЕ СИСТЕМА ЗА ПСЕУДО-СЛУЧАНО ГЕНЕРИСАЊЕ ТОКЕНА И ЕВАЛУАЦИЈУ КОМБИНАЦИЈА НАД ДИСКРЕТНИМ МАТРИЦАМА</dc:title>
  <dc:creator>Jovan Bogdanovic</dc:creator>
  <cp:lastModifiedBy>Jovan Bogdanovic</cp:lastModifiedBy>
  <cp:revision>8</cp:revision>
  <dcterms:created xsi:type="dcterms:W3CDTF">2026-07-19T16:07:18Z</dcterms:created>
  <dcterms:modified xsi:type="dcterms:W3CDTF">2026-07-19T17:19:53Z</dcterms:modified>
</cp:coreProperties>
</file>